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handoutMasterIdLst>
    <p:handoutMasterId r:id="rId16"/>
  </p:handoutMasterIdLst>
  <p:sldIdLst>
    <p:sldId id="256" r:id="rId2"/>
    <p:sldId id="295" r:id="rId3"/>
    <p:sldId id="303" r:id="rId4"/>
    <p:sldId id="292" r:id="rId5"/>
    <p:sldId id="305" r:id="rId6"/>
    <p:sldId id="297" r:id="rId7"/>
    <p:sldId id="304" r:id="rId8"/>
    <p:sldId id="293" r:id="rId9"/>
    <p:sldId id="300" r:id="rId10"/>
    <p:sldId id="301" r:id="rId11"/>
    <p:sldId id="302" r:id="rId12"/>
    <p:sldId id="306" r:id="rId13"/>
    <p:sldId id="288" r:id="rId1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3A380-F68D-4B97-8CF0-04FACEB71A64}" v="8" dt="2026-02-16T10:00:04.3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82" d="100"/>
          <a:sy n="82" d="100"/>
        </p:scale>
        <p:origin x="115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E6287060-0277-4BCC-9556-78F4A9113EC4}"/>
    <pc:docChg chg="custSel addSld delSld modSld">
      <pc:chgData name="Christian Camilo Cano Vasquez" userId="8c73a2a4-758b-4e34-81ed-39462e48bd92" providerId="ADAL" clId="{E6287060-0277-4BCC-9556-78F4A9113EC4}" dt="2026-02-16T10:00:04.333" v="112"/>
      <pc:docMkLst>
        <pc:docMk/>
      </pc:docMkLst>
      <pc:sldChg chg="addSp delSp modSp mod">
        <pc:chgData name="Christian Camilo Cano Vasquez" userId="8c73a2a4-758b-4e34-81ed-39462e48bd92" providerId="ADAL" clId="{E6287060-0277-4BCC-9556-78F4A9113EC4}" dt="2026-02-16T09:54:36.314" v="109" actId="20577"/>
        <pc:sldMkLst>
          <pc:docMk/>
          <pc:sldMk cId="730501311" sldId="290"/>
        </pc:sldMkLst>
        <pc:spChg chg="add mod">
          <ac:chgData name="Christian Camilo Cano Vasquez" userId="8c73a2a4-758b-4e34-81ed-39462e48bd92" providerId="ADAL" clId="{E6287060-0277-4BCC-9556-78F4A9113EC4}" dt="2026-02-16T09:48:48.742" v="10" actId="1076"/>
          <ac:spMkLst>
            <pc:docMk/>
            <pc:sldMk cId="730501311" sldId="290"/>
            <ac:spMk id="2" creationId="{029F2FF9-FEB4-7AA3-B3B4-EFA9CFA0E230}"/>
          </ac:spMkLst>
        </pc:spChg>
        <pc:spChg chg="add mod">
          <ac:chgData name="Christian Camilo Cano Vasquez" userId="8c73a2a4-758b-4e34-81ed-39462e48bd92" providerId="ADAL" clId="{E6287060-0277-4BCC-9556-78F4A9113EC4}" dt="2026-02-16T09:49:37.395" v="33" actId="20577"/>
          <ac:spMkLst>
            <pc:docMk/>
            <pc:sldMk cId="730501311" sldId="290"/>
            <ac:spMk id="4" creationId="{C2C94B57-6111-4070-F6BA-8C3B9C305618}"/>
          </ac:spMkLst>
        </pc:spChg>
        <pc:spChg chg="del">
          <ac:chgData name="Christian Camilo Cano Vasquez" userId="8c73a2a4-758b-4e34-81ed-39462e48bd92" providerId="ADAL" clId="{E6287060-0277-4BCC-9556-78F4A9113EC4}" dt="2026-02-16T09:48:32.837" v="5" actId="478"/>
          <ac:spMkLst>
            <pc:docMk/>
            <pc:sldMk cId="730501311" sldId="290"/>
            <ac:spMk id="7" creationId="{F917B3AA-589C-A90A-EE95-EE60C6D04663}"/>
          </ac:spMkLst>
        </pc:spChg>
        <pc:spChg chg="del">
          <ac:chgData name="Christian Camilo Cano Vasquez" userId="8c73a2a4-758b-4e34-81ed-39462e48bd92" providerId="ADAL" clId="{E6287060-0277-4BCC-9556-78F4A9113EC4}" dt="2026-02-16T09:48:32.837" v="5" actId="478"/>
          <ac:spMkLst>
            <pc:docMk/>
            <pc:sldMk cId="730501311" sldId="290"/>
            <ac:spMk id="9" creationId="{793F5757-34AB-6F24-0981-9F1F15A0ADF8}"/>
          </ac:spMkLst>
        </pc:spChg>
        <pc:spChg chg="del">
          <ac:chgData name="Christian Camilo Cano Vasquez" userId="8c73a2a4-758b-4e34-81ed-39462e48bd92" providerId="ADAL" clId="{E6287060-0277-4BCC-9556-78F4A9113EC4}" dt="2026-02-16T09:48:35.096" v="6" actId="478"/>
          <ac:spMkLst>
            <pc:docMk/>
            <pc:sldMk cId="730501311" sldId="290"/>
            <ac:spMk id="11" creationId="{8BD4C233-B5D9-B6AA-93A8-CF2F130CFF9C}"/>
          </ac:spMkLst>
        </pc:spChg>
        <pc:spChg chg="mod">
          <ac:chgData name="Christian Camilo Cano Vasquez" userId="8c73a2a4-758b-4e34-81ed-39462e48bd92" providerId="ADAL" clId="{E6287060-0277-4BCC-9556-78F4A9113EC4}" dt="2026-02-16T09:54:36.314" v="109" actId="20577"/>
          <ac:spMkLst>
            <pc:docMk/>
            <pc:sldMk cId="730501311" sldId="290"/>
            <ac:spMk id="16" creationId="{471E1424-6C4B-2D9A-1352-30AFB987AD41}"/>
          </ac:spMkLst>
        </pc:spChg>
      </pc:sldChg>
      <pc:sldChg chg="modSp add del mod">
        <pc:chgData name="Christian Camilo Cano Vasquez" userId="8c73a2a4-758b-4e34-81ed-39462e48bd92" providerId="ADAL" clId="{E6287060-0277-4BCC-9556-78F4A9113EC4}" dt="2026-02-16T09:54:44.707" v="111" actId="20577"/>
        <pc:sldMkLst>
          <pc:docMk/>
          <pc:sldMk cId="2900117438" sldId="292"/>
        </pc:sldMkLst>
        <pc:spChg chg="mod">
          <ac:chgData name="Christian Camilo Cano Vasquez" userId="8c73a2a4-758b-4e34-81ed-39462e48bd92" providerId="ADAL" clId="{E6287060-0277-4BCC-9556-78F4A9113EC4}" dt="2026-02-16T09:51:39.768" v="80" actId="313"/>
          <ac:spMkLst>
            <pc:docMk/>
            <pc:sldMk cId="2900117438" sldId="292"/>
            <ac:spMk id="2" creationId="{82A62DD6-5488-72A1-9926-0CAEE59089A9}"/>
          </ac:spMkLst>
        </pc:spChg>
        <pc:spChg chg="mod">
          <ac:chgData name="Christian Camilo Cano Vasquez" userId="8c73a2a4-758b-4e34-81ed-39462e48bd92" providerId="ADAL" clId="{E6287060-0277-4BCC-9556-78F4A9113EC4}" dt="2026-02-16T09:54:44.707" v="111" actId="20577"/>
          <ac:spMkLst>
            <pc:docMk/>
            <pc:sldMk cId="2900117438" sldId="292"/>
            <ac:spMk id="16" creationId="{6AA2E789-F7AE-F068-274C-E0F13A22DBCA}"/>
          </ac:spMkLst>
        </pc:spChg>
      </pc:sldChg>
      <pc:sldChg chg="modSp add del mod">
        <pc:chgData name="Christian Camilo Cano Vasquez" userId="8c73a2a4-758b-4e34-81ed-39462e48bd92" providerId="ADAL" clId="{E6287060-0277-4BCC-9556-78F4A9113EC4}" dt="2026-02-16T09:50:51.822" v="37" actId="20577"/>
        <pc:sldMkLst>
          <pc:docMk/>
          <pc:sldMk cId="3660438245" sldId="293"/>
        </pc:sldMkLst>
        <pc:spChg chg="mod">
          <ac:chgData name="Christian Camilo Cano Vasquez" userId="8c73a2a4-758b-4e34-81ed-39462e48bd92" providerId="ADAL" clId="{E6287060-0277-4BCC-9556-78F4A9113EC4}" dt="2026-02-16T09:45:25.127" v="4" actId="115"/>
          <ac:spMkLst>
            <pc:docMk/>
            <pc:sldMk cId="3660438245" sldId="293"/>
            <ac:spMk id="2" creationId="{FDE3A197-9508-F9F1-1FEB-FF883D78C151}"/>
          </ac:spMkLst>
        </pc:spChg>
        <pc:spChg chg="mod">
          <ac:chgData name="Christian Camilo Cano Vasquez" userId="8c73a2a4-758b-4e34-81ed-39462e48bd92" providerId="ADAL" clId="{E6287060-0277-4BCC-9556-78F4A9113EC4}" dt="2026-02-16T09:50:51.822" v="37" actId="20577"/>
          <ac:spMkLst>
            <pc:docMk/>
            <pc:sldMk cId="3660438245" sldId="293"/>
            <ac:spMk id="16" creationId="{742C31CE-19F0-B995-0997-9A2D6A879BF7}"/>
          </ac:spMkLst>
        </pc:spChg>
      </pc:sldChg>
      <pc:sldChg chg="modSp mod">
        <pc:chgData name="Christian Camilo Cano Vasquez" userId="8c73a2a4-758b-4e34-81ed-39462e48bd92" providerId="ADAL" clId="{E6287060-0277-4BCC-9556-78F4A9113EC4}" dt="2026-02-16T10:00:04.333" v="112"/>
        <pc:sldMkLst>
          <pc:docMk/>
          <pc:sldMk cId="473922805" sldId="295"/>
        </pc:sldMkLst>
        <pc:spChg chg="mod">
          <ac:chgData name="Christian Camilo Cano Vasquez" userId="8c73a2a4-758b-4e34-81ed-39462e48bd92" providerId="ADAL" clId="{E6287060-0277-4BCC-9556-78F4A9113EC4}" dt="2026-02-16T10:00:04.333" v="112"/>
          <ac:spMkLst>
            <pc:docMk/>
            <pc:sldMk cId="473922805" sldId="295"/>
            <ac:spMk id="4" creationId="{9F7BC140-B3D8-C3CB-55AD-9064C7CDE9CA}"/>
          </ac:spMkLst>
        </pc:spChg>
      </pc:sldChg>
      <pc:sldChg chg="del">
        <pc:chgData name="Christian Camilo Cano Vasquez" userId="8c73a2a4-758b-4e34-81ed-39462e48bd92" providerId="ADAL" clId="{E6287060-0277-4BCC-9556-78F4A9113EC4}" dt="2026-02-16T09:50:39.931" v="34" actId="47"/>
        <pc:sldMkLst>
          <pc:docMk/>
          <pc:sldMk cId="1245186850" sldId="296"/>
        </pc:sldMkLst>
      </pc:sldChg>
      <pc:sldChg chg="modSp add del">
        <pc:chgData name="Christian Camilo Cano Vasquez" userId="8c73a2a4-758b-4e34-81ed-39462e48bd92" providerId="ADAL" clId="{E6287060-0277-4BCC-9556-78F4A9113EC4}" dt="2026-02-16T09:50:57.288" v="39" actId="20577"/>
        <pc:sldMkLst>
          <pc:docMk/>
          <pc:sldMk cId="236054401" sldId="297"/>
        </pc:sldMkLst>
        <pc:spChg chg="mod">
          <ac:chgData name="Christian Camilo Cano Vasquez" userId="8c73a2a4-758b-4e34-81ed-39462e48bd92" providerId="ADAL" clId="{E6287060-0277-4BCC-9556-78F4A9113EC4}" dt="2026-02-16T09:50:57.288" v="39" actId="20577"/>
          <ac:spMkLst>
            <pc:docMk/>
            <pc:sldMk cId="236054401" sldId="297"/>
            <ac:spMk id="16" creationId="{394400B4-EE16-8E85-AB54-E82FE3B293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08/03/2026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08/03/2026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11CD6-01C8-141A-355C-D9D37FF2601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96AB1D-C5B5-F145-EEAE-736125BB7A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4E47A9-D86D-9C64-3D52-AC2A2116604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3BFF99E-312F-446C-5537-5C786FBE44A6}"/>
              </a:ext>
            </a:extLst>
          </p:cNvPr>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1067873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19223-2C93-5541-EB44-AB3A51762D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919821-F968-F138-FC3E-B31C11F49B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2758D11-FD03-FBE9-1FA9-8BCF0B141AF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C28B94-F730-3510-17A7-BD919142456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96607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D2C71-CD59-3BD8-333E-7EA96AB9A2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615D25-B039-1DA8-80F2-FC6D122E4C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C41004-3186-1F4B-2E4B-250101368A9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782D47A-62A3-8EEC-1456-3D0F9B0BC50C}"/>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082822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A54F4-C02B-7220-2D64-3A2AE385BF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456676-6849-3EC2-5B4F-FB09CD7F41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F146ED-6C4C-C8D0-1483-2CCD722AA58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A10541F-C9EE-11AB-1624-C3CCA9F77474}"/>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318116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D7477-A31A-12AF-5704-A25FDE618E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893BBD-A876-AD91-E2FF-4EAABE3D8A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A7857F-CEDD-0E01-C7EA-77EC3D1A089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F09EE65-34B4-2788-BEEF-2A3DBF2B1B7D}"/>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585211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cccanvas-upv/pic-upv-lab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1.pn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0.png"/><Relationship Id="rId4" Type="http://schemas.openxmlformats.org/officeDocument/2006/relationships/image" Target="../media/image22.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0.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s-ES" dirty="0" err="1">
                <a:hlinkClick r:id="rId4"/>
              </a:rPr>
              <a:t>cccanvas-upv</a:t>
            </a:r>
            <a:r>
              <a:rPr lang="es-ES">
                <a:hlinkClick r:id="rId4"/>
              </a:rPr>
              <a:t>/pic-upv-lab1</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F63A-5025-7AC2-6AC5-BC528C871FF3}"/>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B159F2F-CE1B-F6DE-30C4-E89CCE62C4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9349" y="963638"/>
            <a:ext cx="5349251" cy="4023368"/>
          </a:xfrm>
          <a:prstGeom prst="rect">
            <a:avLst/>
          </a:prstGeom>
        </p:spPr>
      </p:pic>
      <p:pic>
        <p:nvPicPr>
          <p:cNvPr id="5" name="Picture 4">
            <a:extLst>
              <a:ext uri="{FF2B5EF4-FFF2-40B4-BE49-F238E27FC236}">
                <a16:creationId xmlns:a16="http://schemas.microsoft.com/office/drawing/2014/main" id="{08D88ABA-24EF-67E5-C111-90843BF840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966" y="949916"/>
            <a:ext cx="5349251" cy="4023368"/>
          </a:xfrm>
          <a:prstGeom prst="rect">
            <a:avLst/>
          </a:prstGeom>
        </p:spPr>
      </p:pic>
      <p:sp>
        <p:nvSpPr>
          <p:cNvPr id="16" name="object 16">
            <a:extLst>
              <a:ext uri="{FF2B5EF4-FFF2-40B4-BE49-F238E27FC236}">
                <a16:creationId xmlns:a16="http://schemas.microsoft.com/office/drawing/2014/main" id="{2CEE214A-E652-D965-9CA2-25F2FC9AB727}"/>
              </a:ext>
            </a:extLst>
          </p:cNvPr>
          <p:cNvSpPr txBox="1">
            <a:spLocks noGrp="1"/>
          </p:cNvSpPr>
          <p:nvPr>
            <p:ph type="title"/>
          </p:nvPr>
        </p:nvSpPr>
        <p:spPr>
          <a:xfrm>
            <a:off x="685800" y="228600"/>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Convergence tests</a:t>
            </a:r>
            <a:br>
              <a:rPr lang="en-US" sz="2500" dirty="0"/>
            </a:br>
            <a:r>
              <a:rPr lang="nl-NL" b="0" dirty="0"/>
              <a:t>DE waveguide, w = 1.2 µm, neff_TE0, wvl 1.55 µm. </a:t>
            </a:r>
            <a:endParaRPr sz="2500" b="0" dirty="0">
              <a:latin typeface="+mj-lt"/>
              <a:cs typeface="Lucida Sans"/>
            </a:endParaRPr>
          </a:p>
        </p:txBody>
      </p:sp>
      <p:pic>
        <p:nvPicPr>
          <p:cNvPr id="83" name="Gráfico 82">
            <a:extLst>
              <a:ext uri="{FF2B5EF4-FFF2-40B4-BE49-F238E27FC236}">
                <a16:creationId xmlns:a16="http://schemas.microsoft.com/office/drawing/2014/main" id="{641B9F49-232E-2F92-4E7D-9819ECC7102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4393A10-BB8F-0FCD-60D4-09A69ECF3266}"/>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F234BD2B-3A3E-7574-615E-1BF4376BB05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0" name="CuadroTexto 9">
            <a:extLst>
              <a:ext uri="{FF2B5EF4-FFF2-40B4-BE49-F238E27FC236}">
                <a16:creationId xmlns:a16="http://schemas.microsoft.com/office/drawing/2014/main" id="{7ED40CBC-8196-E77D-9A4A-0548F52C83C3}"/>
              </a:ext>
            </a:extLst>
          </p:cNvPr>
          <p:cNvSpPr txBox="1"/>
          <p:nvPr/>
        </p:nvSpPr>
        <p:spPr>
          <a:xfrm>
            <a:off x="601313" y="4993620"/>
            <a:ext cx="11199971" cy="1200329"/>
          </a:xfrm>
          <a:prstGeom prst="rect">
            <a:avLst/>
          </a:prstGeom>
          <a:solidFill>
            <a:schemeClr val="bg1">
              <a:lumMod val="95000"/>
            </a:schemeClr>
          </a:solidFill>
          <a:ln w="28575">
            <a:solidFill>
              <a:srgbClr val="E0700D"/>
            </a:solidFill>
          </a:ln>
        </p:spPr>
        <p:txBody>
          <a:bodyPr wrap="square" rtlCol="0">
            <a:spAutoFit/>
          </a:bodyPr>
          <a:lstStyle/>
          <a:p>
            <a:r>
              <a:rPr lang="en-US" sz="1200" dirty="0"/>
              <a:t>The simulated waveguide is based on </a:t>
            </a:r>
            <a:r>
              <a:rPr lang="en-US" sz="1200" dirty="0" err="1"/>
              <a:t>Si₃N</a:t>
            </a:r>
            <a:r>
              <a:rPr lang="en-US" sz="1200" dirty="0"/>
              <a:t>₄ (Silicon Nitride) technology, with dimensions of 300 nm height and 1.2 um width. By performing simulations with different grid resolutions, it is observed that the effective refractive index stabilizes around an average value of </a:t>
            </a:r>
            <a:r>
              <a:rPr lang="en-US" sz="1200" dirty="0" err="1"/>
              <a:t>n_"eff</a:t>
            </a:r>
            <a:r>
              <a:rPr lang="en-US" sz="1200" dirty="0"/>
              <a:t>" ≈1.605.</a:t>
            </a:r>
          </a:p>
          <a:p>
            <a:r>
              <a:rPr lang="en-US" sz="1200" dirty="0"/>
              <a:t>For the grid resolution parameter, a larger value subdivides the computational cell into smaller elements, which increases numerical accuracy but also raises the computational cost. Since the objective is to reduce the simulation time a grid resolution of 20 points per micron is selected.</a:t>
            </a:r>
          </a:p>
          <a:p>
            <a:r>
              <a:rPr lang="en-US" sz="1200" dirty="0"/>
              <a:t>For the variation of </a:t>
            </a:r>
            <a:r>
              <a:rPr lang="en-US" sz="1200" dirty="0" err="1"/>
              <a:t>max_</a:t>
            </a:r>
            <a:r>
              <a:rPr lang="en-US" sz="1200" i="1" dirty="0" err="1"/>
              <a:t>grid_scaling</a:t>
            </a:r>
            <a:r>
              <a:rPr lang="en-US" sz="1200" i="1" dirty="0"/>
              <a:t>, the grid resolution was fixed at 20, an average effective index of </a:t>
            </a:r>
            <a:r>
              <a:rPr lang="en-US" sz="1200" i="1" dirty="0" err="1"/>
              <a:t>n</a:t>
            </a:r>
            <a:r>
              <a:rPr lang="en-US" sz="1200" dirty="0" err="1"/>
              <a:t>"eff</a:t>
            </a:r>
            <a:r>
              <a:rPr lang="en-US" sz="1200" dirty="0"/>
              <a:t>" ≈1.605 is obtained. In this case, a smaller value of </a:t>
            </a:r>
            <a:r>
              <a:rPr lang="en-US" sz="1200" dirty="0" err="1"/>
              <a:t>max_grid_scaling</a:t>
            </a:r>
            <a:r>
              <a:rPr lang="en-US" sz="1200" dirty="0"/>
              <a:t> results in a finer mesh near material interfaces, improving accuracy but increasing the simulation time. To reduce the computational cost a value of 1.6 was selected.</a:t>
            </a:r>
          </a:p>
        </p:txBody>
      </p:sp>
      <p:sp>
        <p:nvSpPr>
          <p:cNvPr id="6" name="Rectángulo 5">
            <a:extLst>
              <a:ext uri="{FF2B5EF4-FFF2-40B4-BE49-F238E27FC236}">
                <a16:creationId xmlns:a16="http://schemas.microsoft.com/office/drawing/2014/main" id="{48E4A6A3-3CE6-3E98-3ED8-993A3F7A72B8}"/>
              </a:ext>
            </a:extLst>
          </p:cNvPr>
          <p:cNvSpPr/>
          <p:nvPr/>
        </p:nvSpPr>
        <p:spPr>
          <a:xfrm>
            <a:off x="601313" y="914400"/>
            <a:ext cx="5486559" cy="40370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ángulo 5">
            <a:extLst>
              <a:ext uri="{FF2B5EF4-FFF2-40B4-BE49-F238E27FC236}">
                <a16:creationId xmlns:a16="http://schemas.microsoft.com/office/drawing/2014/main" id="{77714C99-3808-A9BB-46F2-AAA528372A5D}"/>
              </a:ext>
            </a:extLst>
          </p:cNvPr>
          <p:cNvSpPr/>
          <p:nvPr/>
        </p:nvSpPr>
        <p:spPr>
          <a:xfrm>
            <a:off x="6324441" y="915910"/>
            <a:ext cx="5486559" cy="40370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278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636D0E0-60AE-1AEF-199A-E8B0C6B535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92" y="777231"/>
            <a:ext cx="10789941" cy="4480569"/>
          </a:xfrm>
          <a:prstGeom prst="rect">
            <a:avLst/>
          </a:prstGeom>
        </p:spPr>
      </p:pic>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152400" y="137160"/>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dirty="0"/>
              <a:t>LAB 0.1. MODESOLVER</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7886" y="5263583"/>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As the waveguide width increases, the optical mode becomes more confined within the core, reducing the field penetration into the cladding. Consequently, the effective refractive index increases and approaches the refractive index of the silicon nitride core.</a:t>
            </a:r>
          </a:p>
          <a:p>
            <a:pPr algn="just"/>
            <a:r>
              <a:rPr lang="en-US" sz="1200" dirty="0">
                <a:latin typeface="Arial" panose="020B0604020202020204" pitchFamily="34" charset="0"/>
                <a:cs typeface="Arial" panose="020B0604020202020204" pitchFamily="34" charset="0"/>
              </a:rPr>
              <a:t>In addition, the polarization of the modes is also affected by the waveguide width. TE and TM modes experience different levels of confinement due to their field distributions, which leads to changes in their TE and TM proportions however this phenomenon is better appreciated on Si core waveguides.</a:t>
            </a: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7886" y="846874"/>
            <a:ext cx="11199971" cy="4334725"/>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0117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9354D1F9-7CAA-F960-BDE4-6051891B75F6}"/>
                  </a:ext>
                </a:extLst>
              </p:cNvPr>
              <p:cNvSpPr/>
              <p:nvPr/>
            </p:nvSpPr>
            <p:spPr>
              <a:xfrm>
                <a:off x="754380" y="1402224"/>
                <a:ext cx="5181600" cy="4800600"/>
              </a:xfrm>
              <a:prstGeom prst="rect">
                <a:avLst/>
              </a:prstGeom>
              <a:solidFill>
                <a:srgbClr val="F2F2F2"/>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US" dirty="0">
                    <a:solidFill>
                      <a:schemeClr val="accent6">
                        <a:lumMod val="75000"/>
                      </a:schemeClr>
                    </a:solidFill>
                  </a:rPr>
                  <a:t>Group index of the guided mode</a:t>
                </a:r>
              </a:p>
              <a:p>
                <a:pPr algn="just"/>
                <a:r>
                  <a:rPr lang="en-US" dirty="0"/>
                  <a:t>Considering the first derivative of </a:t>
                </a:r>
                <a14:m>
                  <m:oMath xmlns:m="http://schemas.openxmlformats.org/officeDocument/2006/math">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a:latin typeface="Cambria Math" panose="02040503050406030204" pitchFamily="18" charset="0"/>
                          </a:rPr>
                          <m:t>eff</m:t>
                        </m:r>
                      </m:sub>
                    </m:sSub>
                    <m:d>
                      <m:dPr>
                        <m:ctrlPr>
                          <a:rPr lang="es-CO" i="1">
                            <a:latin typeface="Cambria Math" panose="02040503050406030204" pitchFamily="18" charset="0"/>
                          </a:rPr>
                        </m:ctrlPr>
                      </m:dPr>
                      <m:e>
                        <m:r>
                          <a:rPr lang="es-CO" i="1">
                            <a:latin typeface="Cambria Math" panose="02040503050406030204" pitchFamily="18" charset="0"/>
                          </a:rPr>
                          <m:t>𝜆</m:t>
                        </m:r>
                      </m:e>
                    </m:d>
                  </m:oMath>
                </a14:m>
                <a:r>
                  <a:rPr lang="en-US" dirty="0"/>
                  <a:t> with respect to </a:t>
                </a:r>
                <a14:m>
                  <m:oMath xmlns:m="http://schemas.openxmlformats.org/officeDocument/2006/math">
                    <m:r>
                      <a:rPr lang="es-CO" i="1">
                        <a:latin typeface="Cambria Math" panose="02040503050406030204" pitchFamily="18" charset="0"/>
                      </a:rPr>
                      <m:t>𝜆</m:t>
                    </m:r>
                  </m:oMath>
                </a14:m>
                <a:endParaRPr lang="en-US" dirty="0"/>
              </a:p>
              <a:p>
                <a:pPr algn="just"/>
                <a:endParaRPr lang="en-US" dirty="0"/>
              </a:p>
              <a:p>
                <a:pPr algn="just"/>
                <a:endParaRPr lang="en-US" dirty="0"/>
              </a:p>
              <a:p>
                <a:pPr algn="just"/>
                <a:r>
                  <a:rPr lang="en-US" dirty="0"/>
                  <a:t>If evaluated at the central wavelength </a:t>
                </a:r>
                <a14:m>
                  <m:oMath xmlns:m="http://schemas.openxmlformats.org/officeDocument/2006/math">
                    <m:sSub>
                      <m:sSubPr>
                        <m:ctrlPr>
                          <a:rPr lang="es-CO" i="1">
                            <a:latin typeface="Cambria Math" panose="02040503050406030204" pitchFamily="18" charset="0"/>
                          </a:rPr>
                        </m:ctrlPr>
                      </m:sSubPr>
                      <m:e>
                        <m:r>
                          <a:rPr lang="es-CO" i="1">
                            <a:latin typeface="Cambria Math" panose="02040503050406030204" pitchFamily="18" charset="0"/>
                          </a:rPr>
                          <m:t>𝜆</m:t>
                        </m:r>
                        <m:r>
                          <a:rPr lang="es-MX" i="1">
                            <a:latin typeface="Cambria Math" panose="02040503050406030204" pitchFamily="18" charset="0"/>
                          </a:rPr>
                          <m:t>=</m:t>
                        </m:r>
                        <m:r>
                          <a:rPr lang="es-CO" i="1">
                            <a:latin typeface="Cambria Math" panose="02040503050406030204" pitchFamily="18" charset="0"/>
                          </a:rPr>
                          <m:t>𝜆</m:t>
                        </m:r>
                      </m:e>
                      <m:sub>
                        <m:r>
                          <a:rPr lang="es-CO">
                            <a:latin typeface="Cambria Math" panose="02040503050406030204" pitchFamily="18" charset="0"/>
                          </a:rPr>
                          <m:t>0</m:t>
                        </m:r>
                      </m:sub>
                    </m:sSub>
                  </m:oMath>
                </a14:m>
                <a:endParaRPr lang="en-US" dirty="0"/>
              </a:p>
            </p:txBody>
          </p:sp>
        </mc:Choice>
        <mc:Fallback xmlns="">
          <p:sp>
            <p:nvSpPr>
              <p:cNvPr id="24" name="Rectangle 23">
                <a:extLst>
                  <a:ext uri="{FF2B5EF4-FFF2-40B4-BE49-F238E27FC236}">
                    <a16:creationId xmlns:a16="http://schemas.microsoft.com/office/drawing/2014/main" id="{9354D1F9-7CAA-F960-BDE4-6051891B75F6}"/>
                  </a:ext>
                </a:extLst>
              </p:cNvPr>
              <p:cNvSpPr>
                <a:spLocks noRot="1" noChangeAspect="1" noMove="1" noResize="1" noEditPoints="1" noAdjustHandles="1" noChangeArrowheads="1" noChangeShapeType="1" noTextEdit="1"/>
              </p:cNvSpPr>
              <p:nvPr/>
            </p:nvSpPr>
            <p:spPr>
              <a:xfrm>
                <a:off x="754380" y="1402224"/>
                <a:ext cx="5181600" cy="4800600"/>
              </a:xfrm>
              <a:prstGeom prst="rect">
                <a:avLst/>
              </a:prstGeom>
              <a:blipFill>
                <a:blip r:embed="rId2"/>
                <a:stretch>
                  <a:fillRect l="-820" t="-379" r="-703"/>
                </a:stretch>
              </a:blipFill>
            </p:spPr>
            <p:txBody>
              <a:bodyPr/>
              <a:lstStyle/>
              <a:p>
                <a:r>
                  <a:rPr lang="es-CO">
                    <a:noFill/>
                  </a:rPr>
                  <a:t> </a:t>
                </a:r>
              </a:p>
            </p:txBody>
          </p:sp>
        </mc:Fallback>
      </mc:AlternateContent>
      <p:sp>
        <p:nvSpPr>
          <p:cNvPr id="4" name="Footer Placeholder 3">
            <a:extLst>
              <a:ext uri="{FF2B5EF4-FFF2-40B4-BE49-F238E27FC236}">
                <a16:creationId xmlns:a16="http://schemas.microsoft.com/office/drawing/2014/main" id="{D46F2A7F-4C55-5710-3ED2-B7DC1FAE0BC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Slide Number Placeholder 4">
            <a:extLst>
              <a:ext uri="{FF2B5EF4-FFF2-40B4-BE49-F238E27FC236}">
                <a16:creationId xmlns:a16="http://schemas.microsoft.com/office/drawing/2014/main" id="{D40DE6D9-5E39-1814-A401-471233B9DD17}"/>
              </a:ext>
            </a:extLst>
          </p:cNvPr>
          <p:cNvSpPr>
            <a:spLocks noGrp="1"/>
          </p:cNvSpPr>
          <p:nvPr>
            <p:ph type="sldNum" sz="quarter" idx="7"/>
          </p:nvPr>
        </p:nvSpPr>
        <p:spPr>
          <a:xfrm>
            <a:off x="9311640" y="6362700"/>
            <a:ext cx="2804160" cy="342900"/>
          </a:xfrm>
        </p:spPr>
        <p:txBody>
          <a:bodyPr/>
          <a:lstStyle/>
          <a:p>
            <a:fld id="{B6F15528-21DE-4FAA-801E-634DDDAF4B2B}" type="slidenum">
              <a:rPr lang="es-CO" smtClean="0"/>
              <a:t>5</a:t>
            </a:fld>
            <a:endParaRPr lang="es-CO"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F52424B-6A2D-C225-171F-318174D3582B}"/>
                  </a:ext>
                </a:extLst>
              </p:cNvPr>
              <p:cNvSpPr txBox="1"/>
              <p:nvPr/>
            </p:nvSpPr>
            <p:spPr>
              <a:xfrm>
                <a:off x="1295400" y="2164420"/>
                <a:ext cx="4099560" cy="61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f>
                              <m:fPr>
                                <m:ctrlPr>
                                  <a:rPr lang="es-CO" i="1">
                                    <a:latin typeface="Cambria Math" panose="02040503050406030204" pitchFamily="18" charset="0"/>
                                  </a:rPr>
                                </m:ctrlPr>
                              </m:fPr>
                              <m:num>
                                <m:r>
                                  <a:rPr lang="es-CO" i="1">
                                    <a:latin typeface="Cambria Math" panose="02040503050406030204" pitchFamily="18" charset="0"/>
                                  </a:rPr>
                                  <m:t>𝑑</m:t>
                                </m:r>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i="0">
                                        <a:latin typeface="Cambria Math" panose="02040503050406030204" pitchFamily="18" charset="0"/>
                                      </a:rPr>
                                      <m:t>eff</m:t>
                                    </m:r>
                                  </m:sub>
                                </m:sSub>
                              </m:num>
                              <m:den>
                                <m:r>
                                  <a:rPr lang="es-CO" i="1">
                                    <a:latin typeface="Cambria Math" panose="02040503050406030204" pitchFamily="18" charset="0"/>
                                  </a:rPr>
                                  <m:t>𝑑</m:t>
                                </m:r>
                                <m:r>
                                  <a:rPr lang="es-CO" i="1">
                                    <a:latin typeface="Cambria Math" panose="02040503050406030204" pitchFamily="18" charset="0"/>
                                  </a:rPr>
                                  <m:t>𝜆</m:t>
                                </m:r>
                              </m:den>
                            </m:f>
                            <m:r>
                              <a:rPr lang="es-CO" i="0">
                                <a:latin typeface="Cambria Math" panose="02040503050406030204" pitchFamily="18" charset="0"/>
                              </a:rPr>
                              <m:t>=</m:t>
                            </m:r>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0">
                                    <a:latin typeface="Cambria Math" panose="02040503050406030204" pitchFamily="18" charset="0"/>
                                  </a:rPr>
                                  <m:t>2</m:t>
                                </m:r>
                              </m:sub>
                            </m:sSub>
                            <m:r>
                              <a:rPr lang="es-CO" i="0">
                                <a:latin typeface="Cambria Math" panose="02040503050406030204" pitchFamily="18" charset="0"/>
                              </a:rPr>
                              <m:t>+</m:t>
                            </m:r>
                            <m:r>
                              <a:rPr lang="es-CO" i="0">
                                <a:latin typeface="Cambria Math" panose="02040503050406030204" pitchFamily="18" charset="0"/>
                              </a:rPr>
                              <m:t>2</m:t>
                            </m:r>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0">
                                    <a:latin typeface="Cambria Math" panose="02040503050406030204" pitchFamily="18" charset="0"/>
                                  </a:rPr>
                                  <m:t>3</m:t>
                                </m:r>
                              </m:sub>
                            </m:sSub>
                            <m:d>
                              <m:dPr>
                                <m:ctrlPr>
                                  <a:rPr lang="es-CO" i="1">
                                    <a:latin typeface="Cambria Math" panose="02040503050406030204" pitchFamily="18" charset="0"/>
                                  </a:rPr>
                                </m:ctrlPr>
                              </m:dPr>
                              <m:e>
                                <m:r>
                                  <a:rPr lang="es-CO" i="1">
                                    <a:latin typeface="Cambria Math" panose="02040503050406030204" pitchFamily="18" charset="0"/>
                                  </a:rPr>
                                  <m:t>𝜆</m:t>
                                </m:r>
                                <m:r>
                                  <a:rPr lang="es-CO" i="0">
                                    <a:latin typeface="Cambria Math" panose="02040503050406030204" pitchFamily="18" charset="0"/>
                                  </a:rPr>
                                  <m:t>−</m:t>
                                </m:r>
                                <m:sSub>
                                  <m:sSubPr>
                                    <m:ctrlPr>
                                      <a:rPr lang="es-CO" i="1">
                                        <a:latin typeface="Cambria Math" panose="02040503050406030204" pitchFamily="18" charset="0"/>
                                      </a:rPr>
                                    </m:ctrlPr>
                                  </m:sSubPr>
                                  <m:e>
                                    <m:r>
                                      <a:rPr lang="es-CO" i="1">
                                        <a:latin typeface="Cambria Math" panose="02040503050406030204" pitchFamily="18" charset="0"/>
                                      </a:rPr>
                                      <m:t>𝜆</m:t>
                                    </m:r>
                                  </m:e>
                                  <m:sub>
                                    <m:r>
                                      <a:rPr lang="es-CO" i="0">
                                        <a:latin typeface="Cambria Math" panose="02040503050406030204" pitchFamily="18" charset="0"/>
                                      </a:rPr>
                                      <m:t>0</m:t>
                                    </m:r>
                                  </m:sub>
                                </m:sSub>
                              </m:e>
                            </m:d>
                          </m:e>
                        </m:mr>
                      </m:m>
                    </m:oMath>
                  </m:oMathPara>
                </a14:m>
                <a:endParaRPr lang="es-CO" dirty="0"/>
              </a:p>
            </p:txBody>
          </p:sp>
        </mc:Choice>
        <mc:Fallback xmlns="">
          <p:sp>
            <p:nvSpPr>
              <p:cNvPr id="13" name="TextBox 12">
                <a:extLst>
                  <a:ext uri="{FF2B5EF4-FFF2-40B4-BE49-F238E27FC236}">
                    <a16:creationId xmlns:a16="http://schemas.microsoft.com/office/drawing/2014/main" id="{9F52424B-6A2D-C225-171F-318174D3582B}"/>
                  </a:ext>
                </a:extLst>
              </p:cNvPr>
              <p:cNvSpPr txBox="1">
                <a:spLocks noRot="1" noChangeAspect="1" noMove="1" noResize="1" noEditPoints="1" noAdjustHandles="1" noChangeArrowheads="1" noChangeShapeType="1" noTextEdit="1"/>
              </p:cNvSpPr>
              <p:nvPr/>
            </p:nvSpPr>
            <p:spPr>
              <a:xfrm>
                <a:off x="1295400" y="2164420"/>
                <a:ext cx="4099560" cy="618311"/>
              </a:xfrm>
              <a:prstGeom prst="rect">
                <a:avLst/>
              </a:prstGeom>
              <a:blipFill>
                <a:blip r:embed="rId3"/>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327856F-C7E8-CAA1-A763-87593E7863D6}"/>
                  </a:ext>
                </a:extLst>
              </p:cNvPr>
              <p:cNvSpPr txBox="1"/>
              <p:nvPr/>
            </p:nvSpPr>
            <p:spPr>
              <a:xfrm>
                <a:off x="1943100" y="4388254"/>
                <a:ext cx="2804160" cy="61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1">
                                    <a:latin typeface="Cambria Math" panose="02040503050406030204" pitchFamily="18" charset="0"/>
                                  </a:rPr>
                                  <m:t>𝑔</m:t>
                                </m:r>
                              </m:sub>
                            </m:sSub>
                            <m:r>
                              <a:rPr lang="es-CO" i="0">
                                <a:latin typeface="Cambria Math" panose="02040503050406030204" pitchFamily="18" charset="0"/>
                              </a:rPr>
                              <m:t>=</m:t>
                            </m:r>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i="0">
                                    <a:latin typeface="Cambria Math" panose="02040503050406030204" pitchFamily="18" charset="0"/>
                                  </a:rPr>
                                  <m:t>eff</m:t>
                                </m:r>
                              </m:sub>
                            </m:sSub>
                            <m:r>
                              <a:rPr lang="es-CO" i="0">
                                <a:latin typeface="Cambria Math" panose="02040503050406030204" pitchFamily="18" charset="0"/>
                              </a:rPr>
                              <m:t>−</m:t>
                            </m:r>
                            <m:r>
                              <a:rPr lang="es-CO" i="1">
                                <a:latin typeface="Cambria Math" panose="02040503050406030204" pitchFamily="18" charset="0"/>
                              </a:rPr>
                              <m:t>𝜆</m:t>
                            </m:r>
                            <m:f>
                              <m:fPr>
                                <m:ctrlPr>
                                  <a:rPr lang="es-CO" i="1">
                                    <a:latin typeface="Cambria Math" panose="02040503050406030204" pitchFamily="18" charset="0"/>
                                  </a:rPr>
                                </m:ctrlPr>
                              </m:fPr>
                              <m:num>
                                <m:r>
                                  <a:rPr lang="es-CO" i="1">
                                    <a:latin typeface="Cambria Math" panose="02040503050406030204" pitchFamily="18" charset="0"/>
                                  </a:rPr>
                                  <m:t>𝑑</m:t>
                                </m:r>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i="0">
                                        <a:latin typeface="Cambria Math" panose="02040503050406030204" pitchFamily="18" charset="0"/>
                                      </a:rPr>
                                      <m:t>eff</m:t>
                                    </m:r>
                                  </m:sub>
                                </m:sSub>
                              </m:num>
                              <m:den>
                                <m:r>
                                  <a:rPr lang="es-CO" i="1">
                                    <a:latin typeface="Cambria Math" panose="02040503050406030204" pitchFamily="18" charset="0"/>
                                  </a:rPr>
                                  <m:t>𝑑</m:t>
                                </m:r>
                                <m:r>
                                  <a:rPr lang="es-CO" i="1">
                                    <a:latin typeface="Cambria Math" panose="02040503050406030204" pitchFamily="18" charset="0"/>
                                  </a:rPr>
                                  <m:t>𝜆</m:t>
                                </m:r>
                              </m:den>
                            </m:f>
                          </m:e>
                        </m:mr>
                      </m:m>
                    </m:oMath>
                  </m:oMathPara>
                </a14:m>
                <a:endParaRPr lang="es-CO" dirty="0"/>
              </a:p>
            </p:txBody>
          </p:sp>
        </mc:Choice>
        <mc:Fallback xmlns="">
          <p:sp>
            <p:nvSpPr>
              <p:cNvPr id="17" name="TextBox 16">
                <a:extLst>
                  <a:ext uri="{FF2B5EF4-FFF2-40B4-BE49-F238E27FC236}">
                    <a16:creationId xmlns:a16="http://schemas.microsoft.com/office/drawing/2014/main" id="{2327856F-C7E8-CAA1-A763-87593E7863D6}"/>
                  </a:ext>
                </a:extLst>
              </p:cNvPr>
              <p:cNvSpPr txBox="1">
                <a:spLocks noRot="1" noChangeAspect="1" noMove="1" noResize="1" noEditPoints="1" noAdjustHandles="1" noChangeArrowheads="1" noChangeShapeType="1" noTextEdit="1"/>
              </p:cNvSpPr>
              <p:nvPr/>
            </p:nvSpPr>
            <p:spPr>
              <a:xfrm>
                <a:off x="1943100" y="4388254"/>
                <a:ext cx="2804160" cy="618311"/>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55A0DB2-70EE-CA7D-04ED-A075067803F3}"/>
                  </a:ext>
                </a:extLst>
              </p:cNvPr>
              <p:cNvSpPr txBox="1"/>
              <p:nvPr/>
            </p:nvSpPr>
            <p:spPr>
              <a:xfrm>
                <a:off x="487680" y="3987671"/>
                <a:ext cx="5257800" cy="391902"/>
              </a:xfrm>
              <a:prstGeom prst="rect">
                <a:avLst/>
              </a:prstGeom>
              <a:noFill/>
            </p:spPr>
            <p:txBody>
              <a:bodyPr wrap="square">
                <a:spAutoFit/>
              </a:bodyPr>
              <a:lstStyle/>
              <a:p>
                <a:pPr algn="ctr"/>
                <a:r>
                  <a:rPr lang="es-MX" dirty="0" err="1"/>
                  <a:t>Considering</a:t>
                </a:r>
                <a:r>
                  <a:rPr lang="es-MX" dirty="0"/>
                  <a:t> </a:t>
                </a:r>
                <a:r>
                  <a:rPr lang="es-MX" dirty="0" err="1"/>
                  <a:t>the</a:t>
                </a:r>
                <a:r>
                  <a:rPr lang="es-MX" dirty="0"/>
                  <a:t> </a:t>
                </a:r>
                <a:r>
                  <a:rPr lang="es-MX" dirty="0" err="1"/>
                  <a:t>equation</a:t>
                </a:r>
                <a:r>
                  <a:rPr lang="es-MX" dirty="0"/>
                  <a:t> </a:t>
                </a:r>
                <a:r>
                  <a:rPr lang="es-MX" dirty="0" err="1"/>
                  <a:t>for</a:t>
                </a:r>
                <a:r>
                  <a:rPr lang="es-MX" dirty="0"/>
                  <a:t> </a:t>
                </a:r>
                <a:r>
                  <a:rPr lang="es-MX" dirty="0" err="1"/>
                  <a:t>the</a:t>
                </a:r>
                <a:r>
                  <a:rPr lang="es-MX" dirty="0"/>
                  <a:t> </a:t>
                </a:r>
                <a:r>
                  <a:rPr lang="es-MX" dirty="0" err="1"/>
                  <a:t>group</a:t>
                </a:r>
                <a:r>
                  <a:rPr lang="es-MX" dirty="0"/>
                  <a:t> </a:t>
                </a:r>
                <a:r>
                  <a:rPr lang="es-MX" dirty="0" err="1"/>
                  <a:t>index</a:t>
                </a:r>
                <a:r>
                  <a:rPr lang="es-MX" dirty="0"/>
                  <a:t> </a:t>
                </a:r>
                <a14:m>
                  <m:oMath xmlns:m="http://schemas.openxmlformats.org/officeDocument/2006/math">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1">
                            <a:latin typeface="Cambria Math" panose="02040503050406030204" pitchFamily="18" charset="0"/>
                          </a:rPr>
                          <m:t>𝑔</m:t>
                        </m:r>
                      </m:sub>
                    </m:sSub>
                  </m:oMath>
                </a14:m>
                <a:endParaRPr lang="en-US" dirty="0"/>
              </a:p>
            </p:txBody>
          </p:sp>
        </mc:Choice>
        <mc:Fallback xmlns="">
          <p:sp>
            <p:nvSpPr>
              <p:cNvPr id="20" name="TextBox 19">
                <a:extLst>
                  <a:ext uri="{FF2B5EF4-FFF2-40B4-BE49-F238E27FC236}">
                    <a16:creationId xmlns:a16="http://schemas.microsoft.com/office/drawing/2014/main" id="{955A0DB2-70EE-CA7D-04ED-A075067803F3}"/>
                  </a:ext>
                </a:extLst>
              </p:cNvPr>
              <p:cNvSpPr txBox="1">
                <a:spLocks noRot="1" noChangeAspect="1" noMove="1" noResize="1" noEditPoints="1" noAdjustHandles="1" noChangeArrowheads="1" noChangeShapeType="1" noTextEdit="1"/>
              </p:cNvSpPr>
              <p:nvPr/>
            </p:nvSpPr>
            <p:spPr>
              <a:xfrm>
                <a:off x="487680" y="3987671"/>
                <a:ext cx="5257800" cy="391902"/>
              </a:xfrm>
              <a:prstGeom prst="rect">
                <a:avLst/>
              </a:prstGeom>
              <a:blipFill>
                <a:blip r:embed="rId5"/>
                <a:stretch>
                  <a:fillRect t="-6250" b="-2031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5F8FB5F-5A35-223B-69D0-9B4C123B173E}"/>
                  </a:ext>
                </a:extLst>
              </p:cNvPr>
              <p:cNvSpPr txBox="1"/>
              <p:nvPr/>
            </p:nvSpPr>
            <p:spPr>
              <a:xfrm>
                <a:off x="1066800" y="3184213"/>
                <a:ext cx="4099560" cy="618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f>
                              <m:fPr>
                                <m:ctrlPr>
                                  <a:rPr lang="es-CO" i="1">
                                    <a:latin typeface="Cambria Math" panose="02040503050406030204" pitchFamily="18" charset="0"/>
                                  </a:rPr>
                                </m:ctrlPr>
                              </m:fPr>
                              <m:num>
                                <m:r>
                                  <a:rPr lang="es-CO" i="1">
                                    <a:latin typeface="Cambria Math" panose="02040503050406030204" pitchFamily="18" charset="0"/>
                                  </a:rPr>
                                  <m:t>𝑑</m:t>
                                </m:r>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i="0">
                                        <a:latin typeface="Cambria Math" panose="02040503050406030204" pitchFamily="18" charset="0"/>
                                      </a:rPr>
                                      <m:t>eff</m:t>
                                    </m:r>
                                  </m:sub>
                                </m:sSub>
                              </m:num>
                              <m:den>
                                <m:r>
                                  <a:rPr lang="es-CO" i="1">
                                    <a:latin typeface="Cambria Math" panose="02040503050406030204" pitchFamily="18" charset="0"/>
                                  </a:rPr>
                                  <m:t>𝑑</m:t>
                                </m:r>
                                <m:r>
                                  <a:rPr lang="es-CO" i="1">
                                    <a:latin typeface="Cambria Math" panose="02040503050406030204" pitchFamily="18" charset="0"/>
                                  </a:rPr>
                                  <m:t>𝜆</m:t>
                                </m:r>
                              </m:den>
                            </m:f>
                            <m:r>
                              <a:rPr lang="es-CO" i="0">
                                <a:latin typeface="Cambria Math" panose="02040503050406030204" pitchFamily="18" charset="0"/>
                              </a:rPr>
                              <m:t>=</m:t>
                            </m:r>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0">
                                    <a:latin typeface="Cambria Math" panose="02040503050406030204" pitchFamily="18" charset="0"/>
                                  </a:rPr>
                                  <m:t>2</m:t>
                                </m:r>
                              </m:sub>
                            </m:sSub>
                          </m:e>
                        </m:mr>
                      </m:m>
                    </m:oMath>
                  </m:oMathPara>
                </a14:m>
                <a:endParaRPr lang="es-CO" dirty="0"/>
              </a:p>
            </p:txBody>
          </p:sp>
        </mc:Choice>
        <mc:Fallback xmlns="">
          <p:sp>
            <p:nvSpPr>
              <p:cNvPr id="21" name="TextBox 20">
                <a:extLst>
                  <a:ext uri="{FF2B5EF4-FFF2-40B4-BE49-F238E27FC236}">
                    <a16:creationId xmlns:a16="http://schemas.microsoft.com/office/drawing/2014/main" id="{75F8FB5F-5A35-223B-69D0-9B4C123B173E}"/>
                  </a:ext>
                </a:extLst>
              </p:cNvPr>
              <p:cNvSpPr txBox="1">
                <a:spLocks noRot="1" noChangeAspect="1" noMove="1" noResize="1" noEditPoints="1" noAdjustHandles="1" noChangeArrowheads="1" noChangeShapeType="1" noTextEdit="1"/>
              </p:cNvSpPr>
              <p:nvPr/>
            </p:nvSpPr>
            <p:spPr>
              <a:xfrm>
                <a:off x="1066800" y="3184213"/>
                <a:ext cx="4099560" cy="618311"/>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01C3D3A-D016-40F3-7319-F1FB3AFCA839}"/>
                  </a:ext>
                </a:extLst>
              </p:cNvPr>
              <p:cNvSpPr txBox="1"/>
              <p:nvPr/>
            </p:nvSpPr>
            <p:spPr>
              <a:xfrm>
                <a:off x="1714500" y="5021822"/>
                <a:ext cx="28041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1">
                                    <a:latin typeface="Cambria Math" panose="02040503050406030204" pitchFamily="18" charset="0"/>
                                  </a:rPr>
                                  <m:t>𝑔</m:t>
                                </m:r>
                              </m:sub>
                            </m:sSub>
                            <m:r>
                              <a:rPr lang="es-CO" i="0">
                                <a:latin typeface="Cambria Math" panose="02040503050406030204" pitchFamily="18" charset="0"/>
                              </a:rPr>
                              <m:t>=</m:t>
                            </m:r>
                            <m:sSub>
                              <m:sSubPr>
                                <m:ctrlPr>
                                  <a:rPr lang="es-CO" i="1">
                                    <a:latin typeface="Cambria Math" panose="02040503050406030204" pitchFamily="18" charset="0"/>
                                  </a:rPr>
                                </m:ctrlPr>
                              </m:sSubPr>
                              <m:e>
                                <m:r>
                                  <a:rPr lang="es-CO" i="1">
                                    <a:latin typeface="Cambria Math" panose="02040503050406030204" pitchFamily="18" charset="0"/>
                                  </a:rPr>
                                  <m:t>𝑛</m:t>
                                </m:r>
                              </m:e>
                              <m:sub>
                                <m:r>
                                  <a:rPr lang="es-MX" b="0" i="0" smtClean="0">
                                    <a:latin typeface="Cambria Math" panose="02040503050406030204" pitchFamily="18" charset="0"/>
                                  </a:rPr>
                                  <m:t>1</m:t>
                                </m:r>
                              </m:sub>
                            </m:sSub>
                            <m:r>
                              <a:rPr lang="es-CO" i="0">
                                <a:latin typeface="Cambria Math" panose="02040503050406030204" pitchFamily="18" charset="0"/>
                              </a:rPr>
                              <m:t>−</m:t>
                            </m:r>
                            <m:r>
                              <a:rPr lang="es-CO" i="1">
                                <a:latin typeface="Cambria Math" panose="02040503050406030204" pitchFamily="18" charset="0"/>
                              </a:rPr>
                              <m:t>𝜆</m:t>
                            </m:r>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a:latin typeface="Cambria Math" panose="02040503050406030204" pitchFamily="18" charset="0"/>
                                  </a:rPr>
                                  <m:t>2</m:t>
                                </m:r>
                              </m:sub>
                            </m:sSub>
                          </m:e>
                        </m:mr>
                      </m:m>
                    </m:oMath>
                  </m:oMathPara>
                </a14:m>
                <a:endParaRPr lang="es-CO" dirty="0"/>
              </a:p>
            </p:txBody>
          </p:sp>
        </mc:Choice>
        <mc:Fallback xmlns="">
          <p:sp>
            <p:nvSpPr>
              <p:cNvPr id="22" name="TextBox 21">
                <a:extLst>
                  <a:ext uri="{FF2B5EF4-FFF2-40B4-BE49-F238E27FC236}">
                    <a16:creationId xmlns:a16="http://schemas.microsoft.com/office/drawing/2014/main" id="{C01C3D3A-D016-40F3-7319-F1FB3AFCA839}"/>
                  </a:ext>
                </a:extLst>
              </p:cNvPr>
              <p:cNvSpPr txBox="1">
                <a:spLocks noRot="1" noChangeAspect="1" noMove="1" noResize="1" noEditPoints="1" noAdjustHandles="1" noChangeArrowheads="1" noChangeShapeType="1" noTextEdit="1"/>
              </p:cNvSpPr>
              <p:nvPr/>
            </p:nvSpPr>
            <p:spPr>
              <a:xfrm>
                <a:off x="1714500" y="5021822"/>
                <a:ext cx="2804160" cy="369332"/>
              </a:xfrm>
              <a:prstGeom prst="rect">
                <a:avLst/>
              </a:prstGeom>
              <a:blipFill>
                <a:blip r:embed="rId7"/>
                <a:stretch>
                  <a:fillRect b="-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9D380BB5-3327-B335-02BF-56BF2A822980}"/>
                  </a:ext>
                </a:extLst>
              </p:cNvPr>
              <p:cNvSpPr/>
              <p:nvPr/>
            </p:nvSpPr>
            <p:spPr>
              <a:xfrm>
                <a:off x="6477000" y="1371600"/>
                <a:ext cx="5181600" cy="4800600"/>
              </a:xfrm>
              <a:prstGeom prst="rect">
                <a:avLst/>
              </a:prstGeom>
              <a:solidFill>
                <a:srgbClr val="F2F2F2"/>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US" dirty="0">
                    <a:solidFill>
                      <a:schemeClr val="accent6">
                        <a:lumMod val="75000"/>
                      </a:schemeClr>
                    </a:solidFill>
                  </a:rPr>
                  <a:t>Group index of the guided mode</a:t>
                </a:r>
              </a:p>
              <a:p>
                <a:pPr algn="just"/>
                <a:r>
                  <a:rPr lang="en-US" dirty="0"/>
                  <a:t>Considering the second derivative of </a:t>
                </a:r>
                <a14:m>
                  <m:oMath xmlns:m="http://schemas.openxmlformats.org/officeDocument/2006/math">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a:latin typeface="Cambria Math" panose="02040503050406030204" pitchFamily="18" charset="0"/>
                          </a:rPr>
                          <m:t>eff</m:t>
                        </m:r>
                      </m:sub>
                    </m:sSub>
                    <m:d>
                      <m:dPr>
                        <m:ctrlPr>
                          <a:rPr lang="es-CO" i="1">
                            <a:latin typeface="Cambria Math" panose="02040503050406030204" pitchFamily="18" charset="0"/>
                          </a:rPr>
                        </m:ctrlPr>
                      </m:dPr>
                      <m:e>
                        <m:r>
                          <a:rPr lang="es-CO" i="1">
                            <a:latin typeface="Cambria Math" panose="02040503050406030204" pitchFamily="18" charset="0"/>
                          </a:rPr>
                          <m:t>𝜆</m:t>
                        </m:r>
                      </m:e>
                    </m:d>
                  </m:oMath>
                </a14:m>
                <a:r>
                  <a:rPr lang="en-US" dirty="0"/>
                  <a:t> with respect to </a:t>
                </a:r>
                <a14:m>
                  <m:oMath xmlns:m="http://schemas.openxmlformats.org/officeDocument/2006/math">
                    <m:r>
                      <a:rPr lang="es-CO" i="1">
                        <a:latin typeface="Cambria Math" panose="02040503050406030204" pitchFamily="18" charset="0"/>
                      </a:rPr>
                      <m:t>𝜆</m:t>
                    </m:r>
                  </m:oMath>
                </a14:m>
                <a:endParaRPr lang="en-US" dirty="0"/>
              </a:p>
              <a:p>
                <a:pPr algn="just"/>
                <a:endParaRPr lang="en-US" dirty="0"/>
              </a:p>
              <a:p>
                <a:pPr algn="just"/>
                <a:endParaRPr lang="en-US" dirty="0"/>
              </a:p>
              <a:p>
                <a:pPr algn="just"/>
                <a:r>
                  <a:rPr lang="es-MX" dirty="0" err="1"/>
                  <a:t>Considering</a:t>
                </a:r>
                <a:r>
                  <a:rPr lang="es-MX" dirty="0"/>
                  <a:t> </a:t>
                </a:r>
                <a:r>
                  <a:rPr lang="es-MX" dirty="0" err="1"/>
                  <a:t>the</a:t>
                </a:r>
                <a:r>
                  <a:rPr lang="es-MX" dirty="0"/>
                  <a:t> </a:t>
                </a:r>
                <a:r>
                  <a:rPr lang="es-MX" dirty="0" err="1"/>
                  <a:t>equation</a:t>
                </a:r>
                <a:r>
                  <a:rPr lang="es-MX" dirty="0"/>
                  <a:t> </a:t>
                </a:r>
                <a:r>
                  <a:rPr lang="es-MX" dirty="0" err="1"/>
                  <a:t>for</a:t>
                </a:r>
                <a:r>
                  <a:rPr lang="es-MX" dirty="0"/>
                  <a:t> </a:t>
                </a:r>
                <a:r>
                  <a:rPr lang="es-MX" dirty="0" err="1"/>
                  <a:t>the</a:t>
                </a:r>
                <a:r>
                  <a:rPr lang="es-MX" dirty="0"/>
                  <a:t> dispersión </a:t>
                </a:r>
                <a:r>
                  <a:rPr lang="es-MX" dirty="0" err="1"/>
                  <a:t>parameter</a:t>
                </a:r>
                <a:r>
                  <a:rPr lang="es-MX" dirty="0"/>
                  <a:t> </a:t>
                </a:r>
                <a14:m>
                  <m:oMath xmlns:m="http://schemas.openxmlformats.org/officeDocument/2006/math">
                    <m:r>
                      <a:rPr lang="es-CO" i="1">
                        <a:latin typeface="Cambria Math" panose="02040503050406030204" pitchFamily="18" charset="0"/>
                      </a:rPr>
                      <m:t>𝐷</m:t>
                    </m:r>
                    <m:r>
                      <a:rPr lang="es-MX" b="0" i="0" smtClean="0">
                        <a:latin typeface="Cambria Math" panose="02040503050406030204" pitchFamily="18" charset="0"/>
                      </a:rPr>
                      <m:t>.</m:t>
                    </m:r>
                  </m:oMath>
                </a14:m>
                <a:endParaRPr lang="en-US" dirty="0"/>
              </a:p>
            </p:txBody>
          </p:sp>
        </mc:Choice>
        <mc:Fallback xmlns="">
          <p:sp>
            <p:nvSpPr>
              <p:cNvPr id="25" name="Rectangle 24">
                <a:extLst>
                  <a:ext uri="{FF2B5EF4-FFF2-40B4-BE49-F238E27FC236}">
                    <a16:creationId xmlns:a16="http://schemas.microsoft.com/office/drawing/2014/main" id="{9D380BB5-3327-B335-02BF-56BF2A822980}"/>
                  </a:ext>
                </a:extLst>
              </p:cNvPr>
              <p:cNvSpPr>
                <a:spLocks noRot="1" noChangeAspect="1" noMove="1" noResize="1" noEditPoints="1" noAdjustHandles="1" noChangeArrowheads="1" noChangeShapeType="1" noTextEdit="1"/>
              </p:cNvSpPr>
              <p:nvPr/>
            </p:nvSpPr>
            <p:spPr>
              <a:xfrm>
                <a:off x="6477000" y="1371600"/>
                <a:ext cx="5181600" cy="4800600"/>
              </a:xfrm>
              <a:prstGeom prst="rect">
                <a:avLst/>
              </a:prstGeom>
              <a:blipFill>
                <a:blip r:embed="rId8"/>
                <a:stretch>
                  <a:fillRect l="-820" t="-379" r="-70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435CD63-BDEA-D0B8-5ECF-A34A071C0159}"/>
                  </a:ext>
                </a:extLst>
              </p:cNvPr>
              <p:cNvSpPr txBox="1"/>
              <p:nvPr/>
            </p:nvSpPr>
            <p:spPr>
              <a:xfrm>
                <a:off x="7627620" y="2079737"/>
                <a:ext cx="2880360" cy="6481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f>
                              <m:fPr>
                                <m:ctrlPr>
                                  <a:rPr lang="es-CO" i="1">
                                    <a:latin typeface="Cambria Math" panose="02040503050406030204" pitchFamily="18" charset="0"/>
                                  </a:rPr>
                                </m:ctrlPr>
                              </m:fPr>
                              <m:num>
                                <m:sSup>
                                  <m:sSupPr>
                                    <m:ctrlPr>
                                      <a:rPr lang="es-CO" i="1">
                                        <a:latin typeface="Cambria Math" panose="02040503050406030204" pitchFamily="18" charset="0"/>
                                      </a:rPr>
                                    </m:ctrlPr>
                                  </m:sSupPr>
                                  <m:e>
                                    <m:r>
                                      <a:rPr lang="es-CO" i="1">
                                        <a:latin typeface="Cambria Math" panose="02040503050406030204" pitchFamily="18" charset="0"/>
                                      </a:rPr>
                                      <m:t>𝑑</m:t>
                                    </m:r>
                                  </m:e>
                                  <m:sup>
                                    <m:r>
                                      <a:rPr lang="es-CO" i="0">
                                        <a:latin typeface="Cambria Math" panose="02040503050406030204" pitchFamily="18" charset="0"/>
                                      </a:rPr>
                                      <m:t>2</m:t>
                                    </m:r>
                                  </m:sup>
                                </m:sSup>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i="0">
                                        <a:latin typeface="Cambria Math" panose="02040503050406030204" pitchFamily="18" charset="0"/>
                                      </a:rPr>
                                      <m:t>eff</m:t>
                                    </m:r>
                                  </m:sub>
                                </m:sSub>
                              </m:num>
                              <m:den>
                                <m:r>
                                  <a:rPr lang="es-CO" i="1">
                                    <a:latin typeface="Cambria Math" panose="02040503050406030204" pitchFamily="18" charset="0"/>
                                  </a:rPr>
                                  <m:t>𝑑</m:t>
                                </m:r>
                                <m:sSup>
                                  <m:sSupPr>
                                    <m:ctrlPr>
                                      <a:rPr lang="es-CO" i="1">
                                        <a:latin typeface="Cambria Math" panose="02040503050406030204" pitchFamily="18" charset="0"/>
                                      </a:rPr>
                                    </m:ctrlPr>
                                  </m:sSupPr>
                                  <m:e>
                                    <m:r>
                                      <a:rPr lang="es-CO" i="1">
                                        <a:latin typeface="Cambria Math" panose="02040503050406030204" pitchFamily="18" charset="0"/>
                                      </a:rPr>
                                      <m:t>𝜆</m:t>
                                    </m:r>
                                  </m:e>
                                  <m:sup>
                                    <m:r>
                                      <a:rPr lang="es-CO" i="0">
                                        <a:latin typeface="Cambria Math" panose="02040503050406030204" pitchFamily="18" charset="0"/>
                                      </a:rPr>
                                      <m:t>2</m:t>
                                    </m:r>
                                  </m:sup>
                                </m:sSup>
                              </m:den>
                            </m:f>
                            <m:r>
                              <a:rPr lang="es-CO" i="0">
                                <a:latin typeface="Cambria Math" panose="02040503050406030204" pitchFamily="18" charset="0"/>
                              </a:rPr>
                              <m:t>=</m:t>
                            </m:r>
                            <m:r>
                              <a:rPr lang="es-CO" i="0">
                                <a:latin typeface="Cambria Math" panose="02040503050406030204" pitchFamily="18" charset="0"/>
                              </a:rPr>
                              <m:t>2</m:t>
                            </m:r>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i="0">
                                    <a:latin typeface="Cambria Math" panose="02040503050406030204" pitchFamily="18" charset="0"/>
                                  </a:rPr>
                                  <m:t>3</m:t>
                                </m:r>
                              </m:sub>
                            </m:sSub>
                          </m:e>
                        </m:mr>
                      </m:m>
                    </m:oMath>
                  </m:oMathPara>
                </a14:m>
                <a:endParaRPr lang="es-CO" dirty="0"/>
              </a:p>
            </p:txBody>
          </p:sp>
        </mc:Choice>
        <mc:Fallback xmlns="">
          <p:sp>
            <p:nvSpPr>
              <p:cNvPr id="15" name="TextBox 14">
                <a:extLst>
                  <a:ext uri="{FF2B5EF4-FFF2-40B4-BE49-F238E27FC236}">
                    <a16:creationId xmlns:a16="http://schemas.microsoft.com/office/drawing/2014/main" id="{7435CD63-BDEA-D0B8-5ECF-A34A071C0159}"/>
                  </a:ext>
                </a:extLst>
              </p:cNvPr>
              <p:cNvSpPr txBox="1">
                <a:spLocks noRot="1" noChangeAspect="1" noMove="1" noResize="1" noEditPoints="1" noAdjustHandles="1" noChangeArrowheads="1" noChangeShapeType="1" noTextEdit="1"/>
              </p:cNvSpPr>
              <p:nvPr/>
            </p:nvSpPr>
            <p:spPr>
              <a:xfrm>
                <a:off x="7627620" y="2079737"/>
                <a:ext cx="2880360" cy="648191"/>
              </a:xfrm>
              <a:prstGeom prst="rect">
                <a:avLst/>
              </a:prstGeom>
              <a:blipFill>
                <a:blip r:embed="rId9"/>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AD19F35-16CA-66E6-9A60-D1BB63DD645F}"/>
                  </a:ext>
                </a:extLst>
              </p:cNvPr>
              <p:cNvSpPr txBox="1"/>
              <p:nvPr/>
            </p:nvSpPr>
            <p:spPr>
              <a:xfrm>
                <a:off x="7741920" y="3477777"/>
                <a:ext cx="2453640" cy="6481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r>
                              <a:rPr lang="es-CO" i="1">
                                <a:latin typeface="Cambria Math" panose="02040503050406030204" pitchFamily="18" charset="0"/>
                              </a:rPr>
                              <m:t>𝐷</m:t>
                            </m:r>
                            <m:r>
                              <a:rPr lang="es-CO" i="0">
                                <a:latin typeface="Cambria Math" panose="02040503050406030204" pitchFamily="18" charset="0"/>
                              </a:rPr>
                              <m:t>=−</m:t>
                            </m:r>
                            <m:f>
                              <m:fPr>
                                <m:ctrlPr>
                                  <a:rPr lang="es-CO" i="1">
                                    <a:latin typeface="Cambria Math" panose="02040503050406030204" pitchFamily="18" charset="0"/>
                                  </a:rPr>
                                </m:ctrlPr>
                              </m:fPr>
                              <m:num>
                                <m:r>
                                  <a:rPr lang="es-CO" i="1">
                                    <a:latin typeface="Cambria Math" panose="02040503050406030204" pitchFamily="18" charset="0"/>
                                  </a:rPr>
                                  <m:t>𝜆</m:t>
                                </m:r>
                              </m:num>
                              <m:den>
                                <m:r>
                                  <a:rPr lang="es-CO" i="1">
                                    <a:latin typeface="Cambria Math" panose="02040503050406030204" pitchFamily="18" charset="0"/>
                                  </a:rPr>
                                  <m:t>𝑐</m:t>
                                </m:r>
                              </m:den>
                            </m:f>
                            <m:f>
                              <m:fPr>
                                <m:ctrlPr>
                                  <a:rPr lang="es-CO" i="1">
                                    <a:latin typeface="Cambria Math" panose="02040503050406030204" pitchFamily="18" charset="0"/>
                                  </a:rPr>
                                </m:ctrlPr>
                              </m:fPr>
                              <m:num>
                                <m:sSup>
                                  <m:sSupPr>
                                    <m:ctrlPr>
                                      <a:rPr lang="es-CO" i="1">
                                        <a:latin typeface="Cambria Math" panose="02040503050406030204" pitchFamily="18" charset="0"/>
                                      </a:rPr>
                                    </m:ctrlPr>
                                  </m:sSupPr>
                                  <m:e>
                                    <m:r>
                                      <a:rPr lang="es-CO" i="1">
                                        <a:latin typeface="Cambria Math" panose="02040503050406030204" pitchFamily="18" charset="0"/>
                                      </a:rPr>
                                      <m:t>𝑑</m:t>
                                    </m:r>
                                  </m:e>
                                  <m:sup>
                                    <m:r>
                                      <a:rPr lang="es-CO" i="0">
                                        <a:latin typeface="Cambria Math" panose="02040503050406030204" pitchFamily="18" charset="0"/>
                                      </a:rPr>
                                      <m:t>2</m:t>
                                    </m:r>
                                  </m:sup>
                                </m:sSup>
                                <m:sSub>
                                  <m:sSubPr>
                                    <m:ctrlPr>
                                      <a:rPr lang="es-CO" i="1">
                                        <a:latin typeface="Cambria Math" panose="02040503050406030204" pitchFamily="18" charset="0"/>
                                      </a:rPr>
                                    </m:ctrlPr>
                                  </m:sSubPr>
                                  <m:e>
                                    <m:r>
                                      <a:rPr lang="es-CO" i="1">
                                        <a:latin typeface="Cambria Math" panose="02040503050406030204" pitchFamily="18" charset="0"/>
                                      </a:rPr>
                                      <m:t>𝑛</m:t>
                                    </m:r>
                                  </m:e>
                                  <m:sub>
                                    <m:r>
                                      <m:rPr>
                                        <m:sty m:val="p"/>
                                      </m:rPr>
                                      <a:rPr lang="es-CO" i="0">
                                        <a:latin typeface="Cambria Math" panose="02040503050406030204" pitchFamily="18" charset="0"/>
                                      </a:rPr>
                                      <m:t>eff</m:t>
                                    </m:r>
                                  </m:sub>
                                </m:sSub>
                              </m:num>
                              <m:den>
                                <m:r>
                                  <a:rPr lang="es-CO" i="1">
                                    <a:latin typeface="Cambria Math" panose="02040503050406030204" pitchFamily="18" charset="0"/>
                                  </a:rPr>
                                  <m:t>𝑑</m:t>
                                </m:r>
                                <m:sSup>
                                  <m:sSupPr>
                                    <m:ctrlPr>
                                      <a:rPr lang="es-CO" i="1">
                                        <a:latin typeface="Cambria Math" panose="02040503050406030204" pitchFamily="18" charset="0"/>
                                      </a:rPr>
                                    </m:ctrlPr>
                                  </m:sSupPr>
                                  <m:e>
                                    <m:r>
                                      <a:rPr lang="es-CO" i="1">
                                        <a:latin typeface="Cambria Math" panose="02040503050406030204" pitchFamily="18" charset="0"/>
                                      </a:rPr>
                                      <m:t>𝜆</m:t>
                                    </m:r>
                                  </m:e>
                                  <m:sup>
                                    <m:r>
                                      <a:rPr lang="es-CO" i="0">
                                        <a:latin typeface="Cambria Math" panose="02040503050406030204" pitchFamily="18" charset="0"/>
                                      </a:rPr>
                                      <m:t>2</m:t>
                                    </m:r>
                                  </m:sup>
                                </m:sSup>
                              </m:den>
                            </m:f>
                          </m:e>
                        </m:mr>
                      </m:m>
                    </m:oMath>
                  </m:oMathPara>
                </a14:m>
                <a:endParaRPr lang="es-CO" dirty="0"/>
              </a:p>
            </p:txBody>
          </p:sp>
        </mc:Choice>
        <mc:Fallback xmlns="">
          <p:sp>
            <p:nvSpPr>
              <p:cNvPr id="27" name="TextBox 26">
                <a:extLst>
                  <a:ext uri="{FF2B5EF4-FFF2-40B4-BE49-F238E27FC236}">
                    <a16:creationId xmlns:a16="http://schemas.microsoft.com/office/drawing/2014/main" id="{7AD19F35-16CA-66E6-9A60-D1BB63DD645F}"/>
                  </a:ext>
                </a:extLst>
              </p:cNvPr>
              <p:cNvSpPr txBox="1">
                <a:spLocks noRot="1" noChangeAspect="1" noMove="1" noResize="1" noEditPoints="1" noAdjustHandles="1" noChangeArrowheads="1" noChangeShapeType="1" noTextEdit="1"/>
              </p:cNvSpPr>
              <p:nvPr/>
            </p:nvSpPr>
            <p:spPr>
              <a:xfrm>
                <a:off x="7741920" y="3477777"/>
                <a:ext cx="2453640" cy="648191"/>
              </a:xfrm>
              <a:prstGeom prst="rect">
                <a:avLst/>
              </a:prstGeom>
              <a:blipFill>
                <a:blip r:embed="rId10"/>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3CFECAE-56C3-9992-5A18-B8573B9750DE}"/>
                  </a:ext>
                </a:extLst>
              </p:cNvPr>
              <p:cNvSpPr txBox="1"/>
              <p:nvPr/>
            </p:nvSpPr>
            <p:spPr>
              <a:xfrm>
                <a:off x="7726680" y="4333451"/>
                <a:ext cx="2453640"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i="1" smtClean="0">
                              <a:latin typeface="Cambria Math" panose="02040503050406030204" pitchFamily="18" charset="0"/>
                            </a:rPr>
                          </m:ctrlPr>
                        </m:mPr>
                        <m:mr>
                          <m:e>
                            <m:r>
                              <a:rPr lang="es-CO" i="1">
                                <a:latin typeface="Cambria Math" panose="02040503050406030204" pitchFamily="18" charset="0"/>
                              </a:rPr>
                              <m:t>𝐷</m:t>
                            </m:r>
                            <m:r>
                              <a:rPr lang="es-CO" i="0">
                                <a:latin typeface="Cambria Math" panose="02040503050406030204" pitchFamily="18" charset="0"/>
                              </a:rPr>
                              <m:t>=−</m:t>
                            </m:r>
                            <m:f>
                              <m:fPr>
                                <m:ctrlPr>
                                  <a:rPr lang="es-CO" i="1">
                                    <a:latin typeface="Cambria Math" panose="02040503050406030204" pitchFamily="18" charset="0"/>
                                  </a:rPr>
                                </m:ctrlPr>
                              </m:fPr>
                              <m:num>
                                <m:r>
                                  <a:rPr lang="es-MX" b="0" i="1" smtClean="0">
                                    <a:latin typeface="Cambria Math" panose="02040503050406030204" pitchFamily="18" charset="0"/>
                                  </a:rPr>
                                  <m:t>2</m:t>
                                </m:r>
                                <m:r>
                                  <a:rPr lang="es-CO" i="1">
                                    <a:latin typeface="Cambria Math" panose="02040503050406030204" pitchFamily="18" charset="0"/>
                                  </a:rPr>
                                  <m:t>𝜆</m:t>
                                </m:r>
                              </m:num>
                              <m:den>
                                <m:r>
                                  <a:rPr lang="es-CO" i="1">
                                    <a:latin typeface="Cambria Math" panose="02040503050406030204" pitchFamily="18" charset="0"/>
                                  </a:rPr>
                                  <m:t>𝑐</m:t>
                                </m:r>
                              </m:den>
                            </m:f>
                            <m:sSub>
                              <m:sSubPr>
                                <m:ctrlPr>
                                  <a:rPr lang="es-CO" i="1">
                                    <a:latin typeface="Cambria Math" panose="02040503050406030204" pitchFamily="18" charset="0"/>
                                  </a:rPr>
                                </m:ctrlPr>
                              </m:sSubPr>
                              <m:e>
                                <m:r>
                                  <a:rPr lang="es-CO" i="1">
                                    <a:latin typeface="Cambria Math" panose="02040503050406030204" pitchFamily="18" charset="0"/>
                                  </a:rPr>
                                  <m:t>𝑛</m:t>
                                </m:r>
                              </m:e>
                              <m:sub>
                                <m:r>
                                  <a:rPr lang="es-CO">
                                    <a:latin typeface="Cambria Math" panose="02040503050406030204" pitchFamily="18" charset="0"/>
                                  </a:rPr>
                                  <m:t>3</m:t>
                                </m:r>
                              </m:sub>
                            </m:sSub>
                          </m:e>
                        </m:mr>
                      </m:m>
                    </m:oMath>
                  </m:oMathPara>
                </a14:m>
                <a:endParaRPr lang="es-CO" dirty="0"/>
              </a:p>
            </p:txBody>
          </p:sp>
        </mc:Choice>
        <mc:Fallback xmlns="">
          <p:sp>
            <p:nvSpPr>
              <p:cNvPr id="28" name="TextBox 27">
                <a:extLst>
                  <a:ext uri="{FF2B5EF4-FFF2-40B4-BE49-F238E27FC236}">
                    <a16:creationId xmlns:a16="http://schemas.microsoft.com/office/drawing/2014/main" id="{73CFECAE-56C3-9992-5A18-B8573B9750DE}"/>
                  </a:ext>
                </a:extLst>
              </p:cNvPr>
              <p:cNvSpPr txBox="1">
                <a:spLocks noRot="1" noChangeAspect="1" noMove="1" noResize="1" noEditPoints="1" noAdjustHandles="1" noChangeArrowheads="1" noChangeShapeType="1" noTextEdit="1"/>
              </p:cNvSpPr>
              <p:nvPr/>
            </p:nvSpPr>
            <p:spPr>
              <a:xfrm>
                <a:off x="7726680" y="4333451"/>
                <a:ext cx="2453640" cy="618374"/>
              </a:xfrm>
              <a:prstGeom prst="rect">
                <a:avLst/>
              </a:prstGeom>
              <a:blipFill>
                <a:blip r:embed="rId11"/>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object 16">
                <a:extLst>
                  <a:ext uri="{FF2B5EF4-FFF2-40B4-BE49-F238E27FC236}">
                    <a16:creationId xmlns:a16="http://schemas.microsoft.com/office/drawing/2014/main" id="{6BCE33EE-58DE-364F-FD8F-5EA4175B887B}"/>
                  </a:ext>
                </a:extLst>
              </p:cNvPr>
              <p:cNvSpPr txBox="1">
                <a:spLocks noGrp="1"/>
              </p:cNvSpPr>
              <p:nvPr>
                <p:ph type="title"/>
              </p:nvPr>
            </p:nvSpPr>
            <p:spPr>
              <a:xfrm>
                <a:off x="560695" y="149274"/>
                <a:ext cx="10994410" cy="107125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Waveguide compact model</a:t>
                </a:r>
                <a:br>
                  <a:rPr lang="en-US" sz="2500" spc="-5" dirty="0">
                    <a:latin typeface="+mj-lt"/>
                    <a:cs typeface="Lucida Sans"/>
                  </a:rPr>
                </a:br>
                <a:r>
                  <a:rPr lang="en-US" b="0" dirty="0"/>
                  <a:t>Let’s model the waveguide using a second order polynomial: </a:t>
                </a:r>
                <a:br>
                  <a:rPr lang="en-US" b="0" dirty="0"/>
                </a:b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𝑒𝑓𝑓</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3</m:t>
                          </m:r>
                        </m:sub>
                      </m:sSub>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e>
                        <m:sup>
                          <m:r>
                            <a:rPr lang="es-ES" b="0" i="1" smtClean="0">
                              <a:latin typeface="Cambria Math" panose="02040503050406030204" pitchFamily="18" charset="0"/>
                            </a:rPr>
                            <m:t>2</m:t>
                          </m:r>
                        </m:sup>
                      </m:sSup>
                    </m:oMath>
                  </m:oMathPara>
                </a14:m>
                <a:br>
                  <a:rPr lang="en-US" b="0" dirty="0"/>
                </a:br>
                <a:endParaRPr lang="en-US" sz="2500" b="0" dirty="0">
                  <a:latin typeface="+mj-lt"/>
                  <a:cs typeface="Lucida Sans"/>
                </a:endParaRPr>
              </a:p>
            </p:txBody>
          </p:sp>
        </mc:Choice>
        <mc:Fallback xmlns="">
          <p:sp>
            <p:nvSpPr>
              <p:cNvPr id="29" name="object 16">
                <a:extLst>
                  <a:ext uri="{FF2B5EF4-FFF2-40B4-BE49-F238E27FC236}">
                    <a16:creationId xmlns:a16="http://schemas.microsoft.com/office/drawing/2014/main" id="{6BCE33EE-58DE-364F-FD8F-5EA4175B887B}"/>
                  </a:ext>
                </a:extLst>
              </p:cNvPr>
              <p:cNvSpPr txBox="1">
                <a:spLocks noGrp="1" noRot="1" noChangeAspect="1" noMove="1" noResize="1" noEditPoints="1" noAdjustHandles="1" noChangeArrowheads="1" noChangeShapeType="1" noTextEdit="1"/>
              </p:cNvSpPr>
              <p:nvPr>
                <p:ph type="title"/>
              </p:nvPr>
            </p:nvSpPr>
            <p:spPr>
              <a:xfrm>
                <a:off x="560695" y="149274"/>
                <a:ext cx="10994410" cy="1071255"/>
              </a:xfrm>
              <a:prstGeom prst="rect">
                <a:avLst/>
              </a:prstGeom>
              <a:blipFill>
                <a:blip r:embed="rId12"/>
                <a:stretch>
                  <a:fillRect l="-1663" t="-6818" b="-4545"/>
                </a:stretch>
              </a:blipFill>
            </p:spPr>
            <p:txBody>
              <a:bodyPr/>
              <a:lstStyle/>
              <a:p>
                <a:r>
                  <a:rPr lang="es-CO">
                    <a:noFill/>
                  </a:rPr>
                  <a:t> </a:t>
                </a:r>
              </a:p>
            </p:txBody>
          </p:sp>
        </mc:Fallback>
      </mc:AlternateContent>
    </p:spTree>
    <p:extLst>
      <p:ext uri="{BB962C8B-B14F-4D97-AF65-F5344CB8AC3E}">
        <p14:creationId xmlns:p14="http://schemas.microsoft.com/office/powerpoint/2010/main" val="3313194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71014351-C0C5-D62A-F7B5-A414E9C93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254" y="1379216"/>
            <a:ext cx="5340107" cy="4023368"/>
          </a:xfrm>
          <a:prstGeom prst="rect">
            <a:avLst/>
          </a:prstGeom>
        </p:spPr>
      </p:pic>
      <p:pic>
        <p:nvPicPr>
          <p:cNvPr id="17" name="Picture 16">
            <a:extLst>
              <a:ext uri="{FF2B5EF4-FFF2-40B4-BE49-F238E27FC236}">
                <a16:creationId xmlns:a16="http://schemas.microsoft.com/office/drawing/2014/main" id="{8E3262C1-CC6C-E16C-8DCD-60563B936A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4649" y="1379216"/>
            <a:ext cx="5340107" cy="4023368"/>
          </a:xfrm>
          <a:prstGeom prst="rect">
            <a:avLst/>
          </a:prstGeom>
        </p:spPr>
      </p:pic>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07125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Waveguide compact model</a:t>
                </a:r>
                <a:br>
                  <a:rPr lang="en-US" sz="2500" spc="-5" dirty="0">
                    <a:latin typeface="+mj-lt"/>
                    <a:cs typeface="Lucida Sans"/>
                  </a:rPr>
                </a:br>
                <a:r>
                  <a:rPr lang="en-US" b="0" dirty="0"/>
                  <a:t>Let’s model the waveguide using a second order polynomial: </a:t>
                </a:r>
                <a:br>
                  <a:rPr lang="en-US" b="0" dirty="0"/>
                </a:b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𝑒𝑓𝑓</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3</m:t>
                          </m:r>
                        </m:sub>
                      </m:sSub>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e>
                        <m:sup>
                          <m:r>
                            <a:rPr lang="es-ES" b="0" i="1" smtClean="0">
                              <a:latin typeface="Cambria Math" panose="02040503050406030204" pitchFamily="18" charset="0"/>
                            </a:rPr>
                            <m:t>2</m:t>
                          </m:r>
                        </m:sup>
                      </m:sSup>
                    </m:oMath>
                  </m:oMathPara>
                </a14:m>
                <a:br>
                  <a:rPr lang="en-US" b="0" dirty="0"/>
                </a:br>
                <a:endParaRPr lang="en-US" sz="2500" b="0" dirty="0">
                  <a:latin typeface="+mj-lt"/>
                  <a:cs typeface="Lucida Sans"/>
                </a:endParaRPr>
              </a:p>
            </p:txBody>
          </p:sp>
        </mc:Choice>
        <mc:Fallback xmlns="">
          <p:sp>
            <p:nvSpPr>
              <p:cNvPr id="16" name="object 16">
                <a:extLst>
                  <a:ext uri="{FF2B5EF4-FFF2-40B4-BE49-F238E27FC236}">
                    <a16:creationId xmlns:a16="http://schemas.microsoft.com/office/drawing/2014/main" id="{394400B4-EE16-8E85-AB54-E82FE3B29345}"/>
                  </a:ext>
                </a:extLst>
              </p:cNvPr>
              <p:cNvSpPr txBox="1">
                <a:spLocks noGrp="1" noRot="1" noChangeAspect="1" noMove="1" noResize="1" noEditPoints="1" noAdjustHandles="1" noChangeArrowheads="1" noChangeShapeType="1" noTextEdit="1"/>
              </p:cNvSpPr>
              <p:nvPr>
                <p:ph type="title"/>
              </p:nvPr>
            </p:nvSpPr>
            <p:spPr>
              <a:xfrm>
                <a:off x="685800" y="408883"/>
                <a:ext cx="10994410" cy="1071255"/>
              </a:xfrm>
              <a:prstGeom prst="rect">
                <a:avLst/>
              </a:prstGeom>
              <a:blipFill>
                <a:blip r:embed="rId5"/>
                <a:stretch>
                  <a:fillRect l="-1664" t="-7386" b="-4545"/>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886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886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CuadroTexto 9">
                <a:extLst>
                  <a:ext uri="{FF2B5EF4-FFF2-40B4-BE49-F238E27FC236}">
                    <a16:creationId xmlns:a16="http://schemas.microsoft.com/office/drawing/2014/main" id="{9BFD227C-0C00-4526-20C1-AF41442D36AE}"/>
                  </a:ext>
                </a:extLst>
              </p:cNvPr>
              <p:cNvSpPr txBox="1"/>
              <p:nvPr/>
            </p:nvSpPr>
            <p:spPr>
              <a:xfrm>
                <a:off x="608013" y="5419470"/>
                <a:ext cx="5486560" cy="679930"/>
              </a:xfrm>
              <a:prstGeom prst="rect">
                <a:avLst/>
              </a:prstGeom>
              <a:solidFill>
                <a:schemeClr val="bg1">
                  <a:lumMod val="95000"/>
                </a:schemeClr>
              </a:solidFill>
              <a:ln w="28575">
                <a:solidFill>
                  <a:srgbClr val="E0700D"/>
                </a:solidFill>
              </a:ln>
            </p:spPr>
            <p:txBody>
              <a:bodyPr wrap="square" rtlCol="0">
                <a:spAutoFit/>
              </a:bodyPr>
              <a:lstStyle/>
              <a:p>
                <a:pPr algn="ctr"/>
                <a14:m>
                  <m:oMath xmlns:m="http://schemas.openxmlformats.org/officeDocument/2006/math">
                    <m:sSub>
                      <m:sSubPr>
                        <m:ctrlPr>
                          <a:rPr lang="es-ES" sz="1200" i="1" smtClean="0">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𝑒𝑓𝑓</m:t>
                        </m:r>
                      </m:sub>
                    </m:sSub>
                    <m:d>
                      <m:dPr>
                        <m:ctrlPr>
                          <a:rPr lang="es-ES" sz="1200" i="1">
                            <a:latin typeface="Cambria Math" panose="02040503050406030204" pitchFamily="18" charset="0"/>
                          </a:rPr>
                        </m:ctrlPr>
                      </m:dPr>
                      <m:e>
                        <m:r>
                          <a:rPr lang="es-ES" sz="1200" i="1">
                            <a:latin typeface="Cambria Math" panose="02040503050406030204" pitchFamily="18" charset="0"/>
                          </a:rPr>
                          <m:t>𝜆</m:t>
                        </m:r>
                      </m:e>
                    </m:d>
                    <m:r>
                      <a:rPr lang="es-ES" sz="1200" i="1">
                        <a:latin typeface="Cambria Math" panose="02040503050406030204" pitchFamily="18" charset="0"/>
                      </a:rPr>
                      <m:t>=</m:t>
                    </m:r>
                    <m:r>
                      <a:rPr lang="es-MX" sz="1200" b="0" i="1" smtClean="0">
                        <a:latin typeface="Cambria Math" panose="02040503050406030204" pitchFamily="18" charset="0"/>
                      </a:rPr>
                      <m:t>1</m:t>
                    </m:r>
                    <m:r>
                      <a:rPr lang="es-MX" sz="1200" b="0" i="1" smtClean="0">
                        <a:latin typeface="Cambria Math" panose="02040503050406030204" pitchFamily="18" charset="0"/>
                      </a:rPr>
                      <m:t>,</m:t>
                    </m:r>
                    <m:r>
                      <a:rPr lang="es-MX" sz="1200" b="0" i="1" smtClean="0">
                        <a:latin typeface="Cambria Math" panose="02040503050406030204" pitchFamily="18" charset="0"/>
                      </a:rPr>
                      <m:t>60</m:t>
                    </m:r>
                    <m:r>
                      <a:rPr lang="es-MX" sz="1200" b="0" i="1" smtClean="0">
                        <a:latin typeface="Cambria Math" panose="02040503050406030204" pitchFamily="18" charset="0"/>
                      </a:rPr>
                      <m:t>−</m:t>
                    </m:r>
                    <m:r>
                      <a:rPr lang="es-MX" sz="1200" b="0" i="1" smtClean="0">
                        <a:latin typeface="Cambria Math" panose="02040503050406030204" pitchFamily="18" charset="0"/>
                      </a:rPr>
                      <m:t>0</m:t>
                    </m:r>
                    <m:r>
                      <a:rPr lang="es-MX" sz="1200" b="0" i="1" smtClean="0">
                        <a:latin typeface="Cambria Math" panose="02040503050406030204" pitchFamily="18" charset="0"/>
                      </a:rPr>
                      <m:t>,</m:t>
                    </m:r>
                    <m:r>
                      <a:rPr lang="es-MX" sz="1200" b="0" i="1" smtClean="0">
                        <a:latin typeface="Cambria Math" panose="02040503050406030204" pitchFamily="18" charset="0"/>
                      </a:rPr>
                      <m:t>22</m:t>
                    </m:r>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r>
                      <a:rPr lang="es-ES" sz="1200" i="1">
                        <a:latin typeface="Cambria Math" panose="02040503050406030204" pitchFamily="18" charset="0"/>
                      </a:rPr>
                      <m:t>+</m:t>
                    </m:r>
                    <m:r>
                      <a:rPr lang="es-MX" sz="1200" b="0" i="1" smtClean="0">
                        <a:latin typeface="Cambria Math" panose="02040503050406030204" pitchFamily="18" charset="0"/>
                      </a:rPr>
                      <m:t>0</m:t>
                    </m:r>
                    <m:r>
                      <a:rPr lang="es-MX" sz="1200" b="0" i="1" smtClean="0">
                        <a:latin typeface="Cambria Math" panose="02040503050406030204" pitchFamily="18" charset="0"/>
                      </a:rPr>
                      <m:t>,</m:t>
                    </m:r>
                    <m:r>
                      <a:rPr lang="es-MX" sz="1200" b="0" i="1" smtClean="0">
                        <a:latin typeface="Cambria Math" panose="02040503050406030204" pitchFamily="18" charset="0"/>
                      </a:rPr>
                      <m:t>10</m:t>
                    </m:r>
                    <m:sSup>
                      <m:sSupPr>
                        <m:ctrlPr>
                          <a:rPr lang="es-ES" sz="1200" i="1">
                            <a:latin typeface="Cambria Math" panose="02040503050406030204" pitchFamily="18" charset="0"/>
                          </a:rPr>
                        </m:ctrlPr>
                      </m:sSupPr>
                      <m:e>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e>
                      <m:sup>
                        <m:r>
                          <a:rPr lang="es-ES" sz="1200" i="1">
                            <a:latin typeface="Cambria Math" panose="02040503050406030204" pitchFamily="18" charset="0"/>
                          </a:rPr>
                          <m:t>2</m:t>
                        </m:r>
                      </m:sup>
                    </m:sSup>
                  </m:oMath>
                </a14:m>
                <a:r>
                  <a:rPr lang="es-CO" sz="1200" dirty="0"/>
                  <a:t> </a:t>
                </a:r>
              </a:p>
              <a:p>
                <a:pPr algn="ctr"/>
                <a14:m>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𝑛</m:t>
                        </m:r>
                      </m:e>
                      <m:sub>
                        <m:r>
                          <a:rPr lang="es-CO" sz="1200" i="1">
                            <a:latin typeface="Cambria Math" panose="02040503050406030204" pitchFamily="18" charset="0"/>
                          </a:rPr>
                          <m:t>𝑔</m:t>
                        </m:r>
                      </m:sub>
                    </m:sSub>
                    <m:r>
                      <a:rPr lang="es-CO" sz="1200">
                        <a:latin typeface="Cambria Math" panose="02040503050406030204" pitchFamily="18" charset="0"/>
                      </a:rPr>
                      <m:t>=</m:t>
                    </m:r>
                  </m:oMath>
                </a14:m>
                <a:r>
                  <a:rPr lang="es-CO" sz="1200" dirty="0"/>
                  <a:t> 1,94</a:t>
                </a:r>
              </a:p>
              <a:p>
                <a:pPr algn="ct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sz="1200" i="1" dirty="0" smtClean="0">
                              <a:latin typeface="Cambria Math" panose="02040503050406030204" pitchFamily="18" charset="0"/>
                            </a:rPr>
                          </m:ctrlPr>
                        </m:mPr>
                        <m:mr>
                          <m:e>
                            <m:r>
                              <m:rPr>
                                <m:sty m:val="p"/>
                              </m:rPr>
                              <a:rPr lang="es-MX" sz="1200" b="0" i="0" dirty="0" smtClean="0">
                                <a:latin typeface="Cambria Math" panose="02040503050406030204" pitchFamily="18" charset="0"/>
                              </a:rPr>
                              <m:t>D</m:t>
                            </m:r>
                            <m:r>
                              <a:rPr lang="es-MX" sz="1200" b="0" i="0" dirty="0" smtClean="0">
                                <a:latin typeface="Cambria Math" panose="02040503050406030204" pitchFamily="18" charset="0"/>
                              </a:rPr>
                              <m:t>=−</m:t>
                            </m:r>
                            <m:r>
                              <a:rPr lang="es-CO" sz="1200" i="0" dirty="0" smtClean="0">
                                <a:latin typeface="Cambria Math" panose="02040503050406030204" pitchFamily="18" charset="0"/>
                              </a:rPr>
                              <m:t>1</m:t>
                            </m:r>
                            <m:r>
                              <a:rPr lang="es-CO" sz="1200" i="0" dirty="0" smtClean="0">
                                <a:latin typeface="Cambria Math" panose="02040503050406030204" pitchFamily="18" charset="0"/>
                              </a:rPr>
                              <m:t>.</m:t>
                            </m:r>
                            <m:r>
                              <a:rPr lang="es-CO" sz="1200" i="0" dirty="0" smtClean="0">
                                <a:latin typeface="Cambria Math" panose="02040503050406030204" pitchFamily="18" charset="0"/>
                              </a:rPr>
                              <m:t>01</m:t>
                            </m:r>
                            <m:r>
                              <a:rPr lang="es-CO" sz="1200" i="0" dirty="0" smtClean="0">
                                <a:latin typeface="Cambria Math" panose="02040503050406030204" pitchFamily="18" charset="0"/>
                              </a:rPr>
                              <m:t>×</m:t>
                            </m:r>
                            <m:sSup>
                              <m:sSupPr>
                                <m:ctrlPr>
                                  <a:rPr lang="es-CO" sz="1200" i="1" dirty="0" smtClean="0">
                                    <a:latin typeface="Cambria Math" panose="02040503050406030204" pitchFamily="18" charset="0"/>
                                  </a:rPr>
                                </m:ctrlPr>
                              </m:sSupPr>
                              <m:e>
                                <m:r>
                                  <a:rPr lang="es-CO" sz="1200" i="0" dirty="0" smtClean="0">
                                    <a:latin typeface="Cambria Math" panose="02040503050406030204" pitchFamily="18" charset="0"/>
                                  </a:rPr>
                                  <m:t>10</m:t>
                                </m:r>
                              </m:e>
                              <m:sup>
                                <m:r>
                                  <a:rPr lang="es-CO" sz="1200" i="0" dirty="0" smtClean="0">
                                    <a:latin typeface="Cambria Math" panose="02040503050406030204" pitchFamily="18" charset="0"/>
                                  </a:rPr>
                                  <m:t>−</m:t>
                                </m:r>
                                <m:r>
                                  <a:rPr lang="es-CO" sz="1200" i="0" dirty="0" smtClean="0">
                                    <a:latin typeface="Cambria Math" panose="02040503050406030204" pitchFamily="18" charset="0"/>
                                  </a:rPr>
                                  <m:t>9</m:t>
                                </m:r>
                              </m:sup>
                            </m:sSup>
                          </m:e>
                        </m:mr>
                      </m:m>
                    </m:oMath>
                  </m:oMathPara>
                </a14:m>
                <a:endParaRPr lang="es-CO" sz="1200" dirty="0"/>
              </a:p>
            </p:txBody>
          </p:sp>
        </mc:Choice>
        <mc:Fallback xmlns="">
          <p:sp>
            <p:nvSpPr>
              <p:cNvPr id="4" name="CuadroTexto 9">
                <a:extLst>
                  <a:ext uri="{FF2B5EF4-FFF2-40B4-BE49-F238E27FC236}">
                    <a16:creationId xmlns:a16="http://schemas.microsoft.com/office/drawing/2014/main" id="{9BFD227C-0C00-4526-20C1-AF41442D36AE}"/>
                  </a:ext>
                </a:extLst>
              </p:cNvPr>
              <p:cNvSpPr txBox="1">
                <a:spLocks noRot="1" noChangeAspect="1" noMove="1" noResize="1" noEditPoints="1" noAdjustHandles="1" noChangeArrowheads="1" noChangeShapeType="1" noTextEdit="1"/>
              </p:cNvSpPr>
              <p:nvPr/>
            </p:nvSpPr>
            <p:spPr>
              <a:xfrm>
                <a:off x="608013" y="5419470"/>
                <a:ext cx="5486560" cy="679930"/>
              </a:xfrm>
              <a:prstGeom prst="rect">
                <a:avLst/>
              </a:prstGeom>
              <a:blipFill>
                <a:blip r:embed="rId8"/>
                <a:stretch>
                  <a:fillRect/>
                </a:stretch>
              </a:blipFill>
              <a:ln w="28575">
                <a:solidFill>
                  <a:srgbClr val="E0700D"/>
                </a:solid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4" name="CuadroTexto 9">
                <a:extLst>
                  <a:ext uri="{FF2B5EF4-FFF2-40B4-BE49-F238E27FC236}">
                    <a16:creationId xmlns:a16="http://schemas.microsoft.com/office/drawing/2014/main" id="{E6CC9CC3-F4F9-1E0A-BD80-34581AECA2DA}"/>
                  </a:ext>
                </a:extLst>
              </p:cNvPr>
              <p:cNvSpPr txBox="1"/>
              <p:nvPr/>
            </p:nvSpPr>
            <p:spPr>
              <a:xfrm>
                <a:off x="6313803" y="5419470"/>
                <a:ext cx="5486560" cy="679930"/>
              </a:xfrm>
              <a:prstGeom prst="rect">
                <a:avLst/>
              </a:prstGeom>
              <a:solidFill>
                <a:schemeClr val="bg1">
                  <a:lumMod val="95000"/>
                </a:schemeClr>
              </a:solidFill>
              <a:ln w="28575">
                <a:solidFill>
                  <a:srgbClr val="E0700D"/>
                </a:solid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𝑒𝑓𝑓</m:t>
                          </m:r>
                        </m:sub>
                      </m:sSub>
                      <m:d>
                        <m:dPr>
                          <m:ctrlPr>
                            <a:rPr lang="es-ES" sz="1200" i="1">
                              <a:latin typeface="Cambria Math" panose="02040503050406030204" pitchFamily="18" charset="0"/>
                            </a:rPr>
                          </m:ctrlPr>
                        </m:dPr>
                        <m:e>
                          <m:r>
                            <a:rPr lang="es-ES" sz="1200" i="1">
                              <a:latin typeface="Cambria Math" panose="02040503050406030204" pitchFamily="18" charset="0"/>
                            </a:rPr>
                            <m:t>𝜆</m:t>
                          </m:r>
                        </m:e>
                      </m:d>
                      <m:r>
                        <a:rPr lang="es-ES" sz="1200" i="1">
                          <a:latin typeface="Cambria Math" panose="02040503050406030204" pitchFamily="18" charset="0"/>
                        </a:rPr>
                        <m:t>=</m:t>
                      </m:r>
                      <m:r>
                        <a:rPr lang="es-MX" sz="1200" i="1">
                          <a:latin typeface="Cambria Math" panose="02040503050406030204" pitchFamily="18" charset="0"/>
                        </a:rPr>
                        <m:t>1</m:t>
                      </m:r>
                      <m:r>
                        <a:rPr lang="es-MX" sz="1200" i="1">
                          <a:latin typeface="Cambria Math" panose="02040503050406030204" pitchFamily="18" charset="0"/>
                        </a:rPr>
                        <m:t>,</m:t>
                      </m:r>
                      <m:r>
                        <a:rPr lang="es-MX" sz="1200" b="0" i="1" smtClean="0">
                          <a:latin typeface="Cambria Math" panose="02040503050406030204" pitchFamily="18" charset="0"/>
                        </a:rPr>
                        <m:t>53</m:t>
                      </m:r>
                      <m:r>
                        <a:rPr lang="es-MX" sz="1200" i="1">
                          <a:latin typeface="Cambria Math" panose="02040503050406030204" pitchFamily="18" charset="0"/>
                        </a:rPr>
                        <m:t>−</m:t>
                      </m:r>
                      <m:r>
                        <a:rPr lang="es-MX" sz="1200" i="1">
                          <a:latin typeface="Cambria Math" panose="02040503050406030204" pitchFamily="18" charset="0"/>
                        </a:rPr>
                        <m:t>0</m:t>
                      </m:r>
                      <m:r>
                        <a:rPr lang="es-MX" sz="1200" i="1">
                          <a:latin typeface="Cambria Math" panose="02040503050406030204" pitchFamily="18" charset="0"/>
                        </a:rPr>
                        <m:t>,</m:t>
                      </m:r>
                      <m:r>
                        <a:rPr lang="es-MX" sz="1200" b="0" i="1" smtClean="0">
                          <a:latin typeface="Cambria Math" panose="02040503050406030204" pitchFamily="18" charset="0"/>
                        </a:rPr>
                        <m:t>16</m:t>
                      </m:r>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r>
                        <a:rPr lang="es-ES" sz="1200" i="1">
                          <a:latin typeface="Cambria Math" panose="02040503050406030204" pitchFamily="18" charset="0"/>
                        </a:rPr>
                        <m:t>+</m:t>
                      </m:r>
                      <m:r>
                        <a:rPr lang="es-MX" sz="1200" i="1">
                          <a:latin typeface="Cambria Math" panose="02040503050406030204" pitchFamily="18" charset="0"/>
                        </a:rPr>
                        <m:t>0</m:t>
                      </m:r>
                      <m:r>
                        <a:rPr lang="es-MX" sz="1200" i="1">
                          <a:latin typeface="Cambria Math" panose="02040503050406030204" pitchFamily="18" charset="0"/>
                        </a:rPr>
                        <m:t>,</m:t>
                      </m:r>
                      <m:r>
                        <a:rPr lang="es-MX" sz="1200" i="1">
                          <a:latin typeface="Cambria Math" panose="02040503050406030204" pitchFamily="18" charset="0"/>
                        </a:rPr>
                        <m:t>15</m:t>
                      </m:r>
                      <m:sSup>
                        <m:sSupPr>
                          <m:ctrlPr>
                            <a:rPr lang="es-ES" sz="1200" i="1">
                              <a:latin typeface="Cambria Math" panose="02040503050406030204" pitchFamily="18" charset="0"/>
                            </a:rPr>
                          </m:ctrlPr>
                        </m:sSupPr>
                        <m:e>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e>
                        <m:sup>
                          <m:r>
                            <a:rPr lang="es-ES" sz="1200" i="1">
                              <a:latin typeface="Cambria Math" panose="02040503050406030204" pitchFamily="18" charset="0"/>
                            </a:rPr>
                            <m:t>2</m:t>
                          </m:r>
                        </m:sup>
                      </m:sSup>
                      <m:r>
                        <m:rPr>
                          <m:nor/>
                        </m:rPr>
                        <a:rPr lang="es-CO" sz="1200" dirty="0"/>
                        <m:t> </m:t>
                      </m:r>
                    </m:oMath>
                  </m:oMathPara>
                </a14:m>
                <a:endParaRPr lang="es-CO" sz="1200" dirty="0"/>
              </a:p>
              <a:p>
                <a:pPr algn="ctr"/>
                <a14:m>
                  <m:oMathPara xmlns:m="http://schemas.openxmlformats.org/officeDocument/2006/math">
                    <m:oMathParaPr>
                      <m:jc m:val="centerGroup"/>
                    </m:oMathParaPr>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𝑛</m:t>
                          </m:r>
                        </m:e>
                        <m:sub>
                          <m:r>
                            <a:rPr lang="es-CO" sz="1200" i="1">
                              <a:latin typeface="Cambria Math" panose="02040503050406030204" pitchFamily="18" charset="0"/>
                            </a:rPr>
                            <m:t>𝑔</m:t>
                          </m:r>
                        </m:sub>
                      </m:sSub>
                      <m:r>
                        <a:rPr lang="es-CO" sz="1200">
                          <a:latin typeface="Cambria Math" panose="02040503050406030204" pitchFamily="18" charset="0"/>
                        </a:rPr>
                        <m:t>=</m:t>
                      </m:r>
                      <m:r>
                        <m:rPr>
                          <m:nor/>
                        </m:rPr>
                        <a:rPr lang="es-CO" sz="1200" dirty="0"/>
                        <m:t> 1</m:t>
                      </m:r>
                      <m:r>
                        <m:rPr>
                          <m:nor/>
                        </m:rPr>
                        <a:rPr lang="es-CO" sz="1200" dirty="0"/>
                        <m:t>,</m:t>
                      </m:r>
                      <m:r>
                        <m:rPr>
                          <m:nor/>
                        </m:rPr>
                        <a:rPr lang="es-MX" sz="1200" b="0" i="0" dirty="0" smtClean="0"/>
                        <m:t>77</m:t>
                      </m:r>
                    </m:oMath>
                  </m:oMathPara>
                </a14:m>
                <a:endParaRPr lang="es-CO" sz="1200" dirty="0"/>
              </a:p>
              <a:p>
                <a:pPr algn="ct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sz="1200" i="1" dirty="0">
                              <a:latin typeface="Cambria Math" panose="02040503050406030204" pitchFamily="18" charset="0"/>
                            </a:rPr>
                          </m:ctrlPr>
                        </m:mPr>
                        <m:mr>
                          <m:e>
                            <m:r>
                              <m:rPr>
                                <m:sty m:val="p"/>
                              </m:rPr>
                              <a:rPr lang="es-MX" sz="1200" dirty="0">
                                <a:latin typeface="Cambria Math" panose="02040503050406030204" pitchFamily="18" charset="0"/>
                              </a:rPr>
                              <m:t>D</m:t>
                            </m:r>
                            <m:r>
                              <a:rPr lang="es-MX" sz="1200" dirty="0">
                                <a:latin typeface="Cambria Math" panose="02040503050406030204" pitchFamily="18" charset="0"/>
                              </a:rPr>
                              <m:t>=−</m:t>
                            </m:r>
                            <m:r>
                              <a:rPr lang="es-MX" sz="1200" dirty="0">
                                <a:latin typeface="Cambria Math" panose="02040503050406030204" pitchFamily="18" charset="0"/>
                              </a:rPr>
                              <m:t>1</m:t>
                            </m:r>
                            <m:r>
                              <a:rPr lang="es-CO" sz="1200" dirty="0">
                                <a:latin typeface="Cambria Math" panose="02040503050406030204" pitchFamily="18" charset="0"/>
                              </a:rPr>
                              <m:t>.</m:t>
                            </m:r>
                            <m:r>
                              <a:rPr lang="es-MX" sz="1200" b="0" i="0" dirty="0" smtClean="0">
                                <a:latin typeface="Cambria Math" panose="02040503050406030204" pitchFamily="18" charset="0"/>
                              </a:rPr>
                              <m:t>59</m:t>
                            </m:r>
                            <m:r>
                              <a:rPr lang="es-CO" sz="1200" dirty="0">
                                <a:latin typeface="Cambria Math" panose="02040503050406030204" pitchFamily="18" charset="0"/>
                              </a:rPr>
                              <m:t>×</m:t>
                            </m:r>
                            <m:sSup>
                              <m:sSupPr>
                                <m:ctrlPr>
                                  <a:rPr lang="es-CO" sz="1200" i="1" dirty="0">
                                    <a:latin typeface="Cambria Math" panose="02040503050406030204" pitchFamily="18" charset="0"/>
                                  </a:rPr>
                                </m:ctrlPr>
                              </m:sSupPr>
                              <m:e>
                                <m:r>
                                  <a:rPr lang="es-CO" sz="1200" dirty="0">
                                    <a:latin typeface="Cambria Math" panose="02040503050406030204" pitchFamily="18" charset="0"/>
                                  </a:rPr>
                                  <m:t>10</m:t>
                                </m:r>
                              </m:e>
                              <m:sup>
                                <m:r>
                                  <a:rPr lang="es-CO" sz="1200" dirty="0">
                                    <a:latin typeface="Cambria Math" panose="02040503050406030204" pitchFamily="18" charset="0"/>
                                  </a:rPr>
                                  <m:t>−</m:t>
                                </m:r>
                                <m:r>
                                  <a:rPr lang="es-CO" sz="1200" dirty="0">
                                    <a:latin typeface="Cambria Math" panose="02040503050406030204" pitchFamily="18" charset="0"/>
                                  </a:rPr>
                                  <m:t>9</m:t>
                                </m:r>
                              </m:sup>
                            </m:sSup>
                          </m:e>
                        </m:mr>
                      </m:m>
                    </m:oMath>
                  </m:oMathPara>
                </a14:m>
                <a:endParaRPr lang="es-CO" sz="1200" dirty="0"/>
              </a:p>
            </p:txBody>
          </p:sp>
        </mc:Choice>
        <mc:Fallback xmlns="">
          <p:sp>
            <p:nvSpPr>
              <p:cNvPr id="14" name="CuadroTexto 9">
                <a:extLst>
                  <a:ext uri="{FF2B5EF4-FFF2-40B4-BE49-F238E27FC236}">
                    <a16:creationId xmlns:a16="http://schemas.microsoft.com/office/drawing/2014/main" id="{E6CC9CC3-F4F9-1E0A-BD80-34581AECA2DA}"/>
                  </a:ext>
                </a:extLst>
              </p:cNvPr>
              <p:cNvSpPr txBox="1">
                <a:spLocks noRot="1" noChangeAspect="1" noMove="1" noResize="1" noEditPoints="1" noAdjustHandles="1" noChangeArrowheads="1" noChangeShapeType="1" noTextEdit="1"/>
              </p:cNvSpPr>
              <p:nvPr/>
            </p:nvSpPr>
            <p:spPr>
              <a:xfrm>
                <a:off x="6313803" y="5419470"/>
                <a:ext cx="5486560" cy="679930"/>
              </a:xfrm>
              <a:prstGeom prst="rect">
                <a:avLst/>
              </a:prstGeom>
              <a:blipFill>
                <a:blip r:embed="rId9"/>
                <a:stretch>
                  <a:fillRect/>
                </a:stretch>
              </a:blipFill>
              <a:ln w="28575">
                <a:solidFill>
                  <a:srgbClr val="E0700D"/>
                </a:solidFill>
              </a:ln>
            </p:spPr>
            <p:txBody>
              <a:bodyPr/>
              <a:lstStyle/>
              <a:p>
                <a:r>
                  <a:rPr lang="es-CO">
                    <a:noFill/>
                  </a:rPr>
                  <a:t> </a:t>
                </a:r>
              </a:p>
            </p:txBody>
          </p:sp>
        </mc:Fallback>
      </mc:AlternateContent>
    </p:spTree>
    <p:extLst>
      <p:ext uri="{BB962C8B-B14F-4D97-AF65-F5344CB8AC3E}">
        <p14:creationId xmlns:p14="http://schemas.microsoft.com/office/powerpoint/2010/main" val="23605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1DA4-5661-22C4-96E6-40B79652641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3C3470C6-55CF-956B-5D5C-065F21239785}"/>
                  </a:ext>
                </a:extLst>
              </p:cNvPr>
              <p:cNvSpPr txBox="1">
                <a:spLocks noGrp="1"/>
              </p:cNvSpPr>
              <p:nvPr>
                <p:ph type="title"/>
              </p:nvPr>
            </p:nvSpPr>
            <p:spPr>
              <a:xfrm>
                <a:off x="685800" y="408883"/>
                <a:ext cx="10994410" cy="107125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Waveguide compact model</a:t>
                </a:r>
                <a:br>
                  <a:rPr lang="en-US" sz="2500" spc="-5" dirty="0">
                    <a:latin typeface="+mj-lt"/>
                    <a:cs typeface="Lucida Sans"/>
                  </a:rPr>
                </a:br>
                <a:r>
                  <a:rPr lang="en-US" b="0" dirty="0"/>
                  <a:t>Let’s model the waveguide using a second order polynomial: </a:t>
                </a:r>
                <a:br>
                  <a:rPr lang="en-US" b="0" dirty="0"/>
                </a:b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𝑒𝑓𝑓</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3</m:t>
                          </m:r>
                        </m:sub>
                      </m:sSub>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𝜆</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𝜆</m:t>
                                  </m:r>
                                </m:e>
                                <m:sub>
                                  <m:r>
                                    <a:rPr lang="es-ES" b="0" i="1" smtClean="0">
                                      <a:latin typeface="Cambria Math" panose="02040503050406030204" pitchFamily="18" charset="0"/>
                                    </a:rPr>
                                    <m:t>0</m:t>
                                  </m:r>
                                </m:sub>
                              </m:sSub>
                            </m:e>
                          </m:d>
                        </m:e>
                        <m:sup>
                          <m:r>
                            <a:rPr lang="es-ES" b="0" i="1" smtClean="0">
                              <a:latin typeface="Cambria Math" panose="02040503050406030204" pitchFamily="18" charset="0"/>
                            </a:rPr>
                            <m:t>2</m:t>
                          </m:r>
                        </m:sup>
                      </m:sSup>
                    </m:oMath>
                  </m:oMathPara>
                </a14:m>
                <a:br>
                  <a:rPr lang="en-US" b="0" dirty="0"/>
                </a:br>
                <a:endParaRPr lang="en-US" sz="2500" b="0" dirty="0">
                  <a:latin typeface="+mj-lt"/>
                  <a:cs typeface="Lucida Sans"/>
                </a:endParaRPr>
              </a:p>
            </p:txBody>
          </p:sp>
        </mc:Choice>
        <mc:Fallback xmlns="">
          <p:sp>
            <p:nvSpPr>
              <p:cNvPr id="16" name="object 16">
                <a:extLst>
                  <a:ext uri="{FF2B5EF4-FFF2-40B4-BE49-F238E27FC236}">
                    <a16:creationId xmlns:a16="http://schemas.microsoft.com/office/drawing/2014/main" id="{3C3470C6-55CF-956B-5D5C-065F21239785}"/>
                  </a:ext>
                </a:extLst>
              </p:cNvPr>
              <p:cNvSpPr txBox="1">
                <a:spLocks noGrp="1" noRot="1" noChangeAspect="1" noMove="1" noResize="1" noEditPoints="1" noAdjustHandles="1" noChangeArrowheads="1" noChangeShapeType="1" noTextEdit="1"/>
              </p:cNvSpPr>
              <p:nvPr>
                <p:ph type="title"/>
              </p:nvPr>
            </p:nvSpPr>
            <p:spPr>
              <a:xfrm>
                <a:off x="685800" y="408883"/>
                <a:ext cx="10994410" cy="1071255"/>
              </a:xfrm>
              <a:prstGeom prst="rect">
                <a:avLst/>
              </a:prstGeom>
              <a:blipFill>
                <a:blip r:embed="rId3"/>
                <a:stretch>
                  <a:fillRect l="-1664" t="-7386" b="-4545"/>
                </a:stretch>
              </a:blipFill>
            </p:spPr>
            <p:txBody>
              <a:bodyPr/>
              <a:lstStyle/>
              <a:p>
                <a:r>
                  <a:rPr lang="es-CO">
                    <a:noFill/>
                  </a:rPr>
                  <a:t> </a:t>
                </a:r>
              </a:p>
            </p:txBody>
          </p:sp>
        </mc:Fallback>
      </mc:AlternateContent>
      <p:pic>
        <p:nvPicPr>
          <p:cNvPr id="83" name="Gráfico 82">
            <a:extLst>
              <a:ext uri="{FF2B5EF4-FFF2-40B4-BE49-F238E27FC236}">
                <a16:creationId xmlns:a16="http://schemas.microsoft.com/office/drawing/2014/main" id="{F40F4851-113B-BF28-FE9A-D0F138BB84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A087237-CB95-B232-3B76-8470F899DD76}"/>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FD91F836-46F5-3A0E-7399-671BB59DA629}"/>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 name="CuadroTexto 7">
            <a:extLst>
              <a:ext uri="{FF2B5EF4-FFF2-40B4-BE49-F238E27FC236}">
                <a16:creationId xmlns:a16="http://schemas.microsoft.com/office/drawing/2014/main" id="{18001B43-002B-1A59-42BF-6D76A0BC9F0D}"/>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CuadroTexto 9">
                <a:extLst>
                  <a:ext uri="{FF2B5EF4-FFF2-40B4-BE49-F238E27FC236}">
                    <a16:creationId xmlns:a16="http://schemas.microsoft.com/office/drawing/2014/main" id="{7091D5EE-B315-A510-9C62-0747D28B0FB0}"/>
                  </a:ext>
                </a:extLst>
              </p:cNvPr>
              <p:cNvSpPr txBox="1"/>
              <p:nvPr/>
            </p:nvSpPr>
            <p:spPr>
              <a:xfrm>
                <a:off x="608013" y="5419470"/>
                <a:ext cx="5486560" cy="679930"/>
              </a:xfrm>
              <a:prstGeom prst="rect">
                <a:avLst/>
              </a:prstGeom>
              <a:solidFill>
                <a:schemeClr val="bg1">
                  <a:lumMod val="95000"/>
                </a:schemeClr>
              </a:solidFill>
              <a:ln w="28575">
                <a:solidFill>
                  <a:srgbClr val="E0700D"/>
                </a:solidFill>
              </a:ln>
            </p:spPr>
            <p:txBody>
              <a:bodyPr wrap="square" rtlCol="0">
                <a:spAutoFit/>
              </a:bodyPr>
              <a:lstStyle/>
              <a:p>
                <a:pPr algn="ctr"/>
                <a14:m>
                  <m:oMath xmlns:m="http://schemas.openxmlformats.org/officeDocument/2006/math">
                    <m:sSub>
                      <m:sSubPr>
                        <m:ctrlPr>
                          <a:rPr lang="es-ES" sz="1200" i="1" smtClean="0">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𝑒𝑓𝑓</m:t>
                        </m:r>
                      </m:sub>
                    </m:sSub>
                    <m:d>
                      <m:dPr>
                        <m:ctrlPr>
                          <a:rPr lang="es-ES" sz="1200" i="1">
                            <a:latin typeface="Cambria Math" panose="02040503050406030204" pitchFamily="18" charset="0"/>
                          </a:rPr>
                        </m:ctrlPr>
                      </m:dPr>
                      <m:e>
                        <m:r>
                          <a:rPr lang="es-ES" sz="1200" i="1">
                            <a:latin typeface="Cambria Math" panose="02040503050406030204" pitchFamily="18" charset="0"/>
                          </a:rPr>
                          <m:t>𝜆</m:t>
                        </m:r>
                      </m:e>
                    </m:d>
                    <m:r>
                      <a:rPr lang="es-ES" sz="1200" i="1">
                        <a:latin typeface="Cambria Math" panose="02040503050406030204" pitchFamily="18" charset="0"/>
                      </a:rPr>
                      <m:t>=</m:t>
                    </m:r>
                    <m:r>
                      <a:rPr lang="es-MX" sz="1200" b="0" i="1" smtClean="0">
                        <a:latin typeface="Cambria Math" panose="02040503050406030204" pitchFamily="18" charset="0"/>
                      </a:rPr>
                      <m:t>1,62−0,19</m:t>
                    </m:r>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r>
                      <a:rPr lang="es-ES" sz="1200" i="1">
                        <a:latin typeface="Cambria Math" panose="02040503050406030204" pitchFamily="18" charset="0"/>
                      </a:rPr>
                      <m:t>+</m:t>
                    </m:r>
                    <m:r>
                      <a:rPr lang="es-MX" sz="1200" b="0" i="1" smtClean="0">
                        <a:latin typeface="Cambria Math" panose="02040503050406030204" pitchFamily="18" charset="0"/>
                      </a:rPr>
                      <m:t>0,10</m:t>
                    </m:r>
                    <m:sSup>
                      <m:sSupPr>
                        <m:ctrlPr>
                          <a:rPr lang="es-ES" sz="1200" i="1">
                            <a:latin typeface="Cambria Math" panose="02040503050406030204" pitchFamily="18" charset="0"/>
                          </a:rPr>
                        </m:ctrlPr>
                      </m:sSupPr>
                      <m:e>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e>
                      <m:sup>
                        <m:r>
                          <a:rPr lang="es-ES" sz="1200" i="1">
                            <a:latin typeface="Cambria Math" panose="02040503050406030204" pitchFamily="18" charset="0"/>
                          </a:rPr>
                          <m:t>2</m:t>
                        </m:r>
                      </m:sup>
                    </m:sSup>
                  </m:oMath>
                </a14:m>
                <a:r>
                  <a:rPr lang="es-CO" sz="1200" dirty="0"/>
                  <a:t> </a:t>
                </a:r>
              </a:p>
              <a:p>
                <a:pPr algn="ctr"/>
                <a14:m>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𝑛</m:t>
                        </m:r>
                      </m:e>
                      <m:sub>
                        <m:r>
                          <a:rPr lang="es-CO" sz="1200" i="1">
                            <a:latin typeface="Cambria Math" panose="02040503050406030204" pitchFamily="18" charset="0"/>
                          </a:rPr>
                          <m:t>𝑔</m:t>
                        </m:r>
                      </m:sub>
                    </m:sSub>
                    <m:r>
                      <a:rPr lang="es-CO" sz="1200">
                        <a:latin typeface="Cambria Math" panose="02040503050406030204" pitchFamily="18" charset="0"/>
                      </a:rPr>
                      <m:t>=</m:t>
                    </m:r>
                  </m:oMath>
                </a14:m>
                <a:r>
                  <a:rPr lang="es-CO" sz="1200" dirty="0"/>
                  <a:t> 1,92</a:t>
                </a:r>
              </a:p>
              <a:p>
                <a:pPr algn="ct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sz="1200" i="1" dirty="0" smtClean="0">
                              <a:latin typeface="Cambria Math" panose="02040503050406030204" pitchFamily="18" charset="0"/>
                            </a:rPr>
                          </m:ctrlPr>
                        </m:mPr>
                        <m:mr>
                          <m:e>
                            <m:r>
                              <m:rPr>
                                <m:sty m:val="p"/>
                              </m:rPr>
                              <a:rPr lang="es-MX" sz="1200" b="0" i="0" dirty="0" smtClean="0">
                                <a:latin typeface="Cambria Math" panose="02040503050406030204" pitchFamily="18" charset="0"/>
                              </a:rPr>
                              <m:t>D</m:t>
                            </m:r>
                            <m:r>
                              <a:rPr lang="es-MX" sz="1200" b="0" i="0" dirty="0" smtClean="0">
                                <a:latin typeface="Cambria Math" panose="02040503050406030204" pitchFamily="18" charset="0"/>
                              </a:rPr>
                              <m:t>=−9,89×</m:t>
                            </m:r>
                            <m:sSup>
                              <m:sSupPr>
                                <m:ctrlPr>
                                  <a:rPr lang="es-CO" sz="1200" i="1" dirty="0" smtClean="0">
                                    <a:latin typeface="Cambria Math" panose="02040503050406030204" pitchFamily="18" charset="0"/>
                                  </a:rPr>
                                </m:ctrlPr>
                              </m:sSupPr>
                              <m:e>
                                <m:r>
                                  <a:rPr lang="es-CO" sz="1200" i="0" dirty="0" smtClean="0">
                                    <a:latin typeface="Cambria Math" panose="02040503050406030204" pitchFamily="18" charset="0"/>
                                  </a:rPr>
                                  <m:t>10</m:t>
                                </m:r>
                              </m:e>
                              <m:sup>
                                <m:r>
                                  <a:rPr lang="es-CO" sz="1200" i="0" dirty="0" smtClean="0">
                                    <a:latin typeface="Cambria Math" panose="02040503050406030204" pitchFamily="18" charset="0"/>
                                  </a:rPr>
                                  <m:t>−</m:t>
                                </m:r>
                                <m:r>
                                  <a:rPr lang="es-MX" sz="1200" b="0" i="1" dirty="0" smtClean="0">
                                    <a:latin typeface="Cambria Math" panose="02040503050406030204" pitchFamily="18" charset="0"/>
                                  </a:rPr>
                                  <m:t>10</m:t>
                                </m:r>
                              </m:sup>
                            </m:sSup>
                          </m:e>
                        </m:mr>
                      </m:m>
                    </m:oMath>
                  </m:oMathPara>
                </a14:m>
                <a:endParaRPr lang="es-CO" sz="1200" dirty="0"/>
              </a:p>
            </p:txBody>
          </p:sp>
        </mc:Choice>
        <mc:Fallback xmlns="">
          <p:sp>
            <p:nvSpPr>
              <p:cNvPr id="4" name="CuadroTexto 9">
                <a:extLst>
                  <a:ext uri="{FF2B5EF4-FFF2-40B4-BE49-F238E27FC236}">
                    <a16:creationId xmlns:a16="http://schemas.microsoft.com/office/drawing/2014/main" id="{7091D5EE-B315-A510-9C62-0747D28B0FB0}"/>
                  </a:ext>
                </a:extLst>
              </p:cNvPr>
              <p:cNvSpPr txBox="1">
                <a:spLocks noRot="1" noChangeAspect="1" noMove="1" noResize="1" noEditPoints="1" noAdjustHandles="1" noChangeArrowheads="1" noChangeShapeType="1" noTextEdit="1"/>
              </p:cNvSpPr>
              <p:nvPr/>
            </p:nvSpPr>
            <p:spPr>
              <a:xfrm>
                <a:off x="608013" y="5419470"/>
                <a:ext cx="5486560" cy="679930"/>
              </a:xfrm>
              <a:prstGeom prst="rect">
                <a:avLst/>
              </a:prstGeom>
              <a:blipFill>
                <a:blip r:embed="rId6"/>
                <a:stretch>
                  <a:fillRect/>
                </a:stretch>
              </a:blipFill>
              <a:ln w="28575">
                <a:solidFill>
                  <a:srgbClr val="E0700D"/>
                </a:solid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9">
                <a:extLst>
                  <a:ext uri="{FF2B5EF4-FFF2-40B4-BE49-F238E27FC236}">
                    <a16:creationId xmlns:a16="http://schemas.microsoft.com/office/drawing/2014/main" id="{A23DF1DD-6403-776E-412F-7DF4435BEFA1}"/>
                  </a:ext>
                </a:extLst>
              </p:cNvPr>
              <p:cNvSpPr txBox="1"/>
              <p:nvPr/>
            </p:nvSpPr>
            <p:spPr>
              <a:xfrm>
                <a:off x="6321420" y="5416070"/>
                <a:ext cx="5486560" cy="679930"/>
              </a:xfrm>
              <a:prstGeom prst="rect">
                <a:avLst/>
              </a:prstGeom>
              <a:solidFill>
                <a:schemeClr val="bg1">
                  <a:lumMod val="95000"/>
                </a:schemeClr>
              </a:solidFill>
              <a:ln w="28575">
                <a:solidFill>
                  <a:srgbClr val="E0700D"/>
                </a:solidFill>
              </a:ln>
            </p:spPr>
            <p:txBody>
              <a:bodyPr wrap="square" rtlCol="0">
                <a:spAutoFit/>
              </a:bodyPr>
              <a:lstStyle/>
              <a:p>
                <a:pPr algn="ctr"/>
                <a14:m>
                  <m:oMath xmlns:m="http://schemas.openxmlformats.org/officeDocument/2006/math">
                    <m:sSub>
                      <m:sSubPr>
                        <m:ctrlPr>
                          <a:rPr lang="es-ES" sz="1200" i="1" smtClean="0">
                            <a:latin typeface="Cambria Math" panose="02040503050406030204" pitchFamily="18" charset="0"/>
                          </a:rPr>
                        </m:ctrlPr>
                      </m:sSubPr>
                      <m:e>
                        <m:r>
                          <a:rPr lang="es-ES" sz="1200" i="1">
                            <a:latin typeface="Cambria Math" panose="02040503050406030204" pitchFamily="18" charset="0"/>
                          </a:rPr>
                          <m:t>𝑛</m:t>
                        </m:r>
                      </m:e>
                      <m:sub>
                        <m:r>
                          <a:rPr lang="es-ES" sz="1200" i="1">
                            <a:latin typeface="Cambria Math" panose="02040503050406030204" pitchFamily="18" charset="0"/>
                          </a:rPr>
                          <m:t>𝑒𝑓𝑓</m:t>
                        </m:r>
                      </m:sub>
                    </m:sSub>
                    <m:d>
                      <m:dPr>
                        <m:ctrlPr>
                          <a:rPr lang="es-ES" sz="1200" i="1">
                            <a:latin typeface="Cambria Math" panose="02040503050406030204" pitchFamily="18" charset="0"/>
                          </a:rPr>
                        </m:ctrlPr>
                      </m:dPr>
                      <m:e>
                        <m:r>
                          <a:rPr lang="es-ES" sz="1200" i="1">
                            <a:latin typeface="Cambria Math" panose="02040503050406030204" pitchFamily="18" charset="0"/>
                          </a:rPr>
                          <m:t>𝜆</m:t>
                        </m:r>
                      </m:e>
                    </m:d>
                    <m:r>
                      <a:rPr lang="es-ES" sz="1200" i="1">
                        <a:latin typeface="Cambria Math" panose="02040503050406030204" pitchFamily="18" charset="0"/>
                      </a:rPr>
                      <m:t>=</m:t>
                    </m:r>
                    <m:r>
                      <a:rPr lang="es-MX" sz="1200" b="0" i="1" smtClean="0">
                        <a:latin typeface="Cambria Math" panose="02040503050406030204" pitchFamily="18" charset="0"/>
                      </a:rPr>
                      <m:t>1,54−0,13</m:t>
                    </m:r>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r>
                      <a:rPr lang="es-ES" sz="1200" i="1">
                        <a:latin typeface="Cambria Math" panose="02040503050406030204" pitchFamily="18" charset="0"/>
                      </a:rPr>
                      <m:t>+</m:t>
                    </m:r>
                    <m:r>
                      <a:rPr lang="es-MX" sz="1200" b="0" i="1" smtClean="0">
                        <a:latin typeface="Cambria Math" panose="02040503050406030204" pitchFamily="18" charset="0"/>
                      </a:rPr>
                      <m:t>0,15</m:t>
                    </m:r>
                    <m:sSup>
                      <m:sSupPr>
                        <m:ctrlPr>
                          <a:rPr lang="es-ES" sz="1200" i="1">
                            <a:latin typeface="Cambria Math" panose="02040503050406030204" pitchFamily="18" charset="0"/>
                          </a:rPr>
                        </m:ctrlPr>
                      </m:sSupPr>
                      <m:e>
                        <m:d>
                          <m:dPr>
                            <m:ctrlPr>
                              <a:rPr lang="es-ES" sz="1200" i="1">
                                <a:latin typeface="Cambria Math" panose="02040503050406030204" pitchFamily="18" charset="0"/>
                              </a:rPr>
                            </m:ctrlPr>
                          </m:dPr>
                          <m:e>
                            <m:r>
                              <a:rPr lang="es-ES" sz="1200" i="1">
                                <a:latin typeface="Cambria Math" panose="02040503050406030204" pitchFamily="18" charset="0"/>
                              </a:rPr>
                              <m:t>𝜆</m:t>
                            </m:r>
                            <m:r>
                              <a:rPr lang="es-ES" sz="1200" i="1">
                                <a:latin typeface="Cambria Math" panose="02040503050406030204" pitchFamily="18" charset="0"/>
                              </a:rPr>
                              <m:t>−</m:t>
                            </m:r>
                            <m:sSub>
                              <m:sSubPr>
                                <m:ctrlPr>
                                  <a:rPr lang="es-ES" sz="1200" i="1">
                                    <a:latin typeface="Cambria Math" panose="02040503050406030204" pitchFamily="18" charset="0"/>
                                  </a:rPr>
                                </m:ctrlPr>
                              </m:sSubPr>
                              <m:e>
                                <m:r>
                                  <a:rPr lang="es-ES" sz="1200" i="1">
                                    <a:latin typeface="Cambria Math" panose="02040503050406030204" pitchFamily="18" charset="0"/>
                                  </a:rPr>
                                  <m:t>𝜆</m:t>
                                </m:r>
                              </m:e>
                              <m:sub>
                                <m:r>
                                  <a:rPr lang="es-ES" sz="1200" i="1">
                                    <a:latin typeface="Cambria Math" panose="02040503050406030204" pitchFamily="18" charset="0"/>
                                  </a:rPr>
                                  <m:t>0</m:t>
                                </m:r>
                              </m:sub>
                            </m:sSub>
                          </m:e>
                        </m:d>
                      </m:e>
                      <m:sup>
                        <m:r>
                          <a:rPr lang="es-ES" sz="1200" i="1">
                            <a:latin typeface="Cambria Math" panose="02040503050406030204" pitchFamily="18" charset="0"/>
                          </a:rPr>
                          <m:t>2</m:t>
                        </m:r>
                      </m:sup>
                    </m:sSup>
                  </m:oMath>
                </a14:m>
                <a:r>
                  <a:rPr lang="es-CO" sz="1200" dirty="0"/>
                  <a:t> </a:t>
                </a:r>
              </a:p>
              <a:p>
                <a:pPr algn="ctr"/>
                <a14:m>
                  <m:oMath xmlns:m="http://schemas.openxmlformats.org/officeDocument/2006/math">
                    <m:sSub>
                      <m:sSubPr>
                        <m:ctrlPr>
                          <a:rPr lang="es-CO" sz="1200" i="1">
                            <a:latin typeface="Cambria Math" panose="02040503050406030204" pitchFamily="18" charset="0"/>
                          </a:rPr>
                        </m:ctrlPr>
                      </m:sSubPr>
                      <m:e>
                        <m:r>
                          <a:rPr lang="es-CO" sz="1200" i="1">
                            <a:latin typeface="Cambria Math" panose="02040503050406030204" pitchFamily="18" charset="0"/>
                          </a:rPr>
                          <m:t>𝑛</m:t>
                        </m:r>
                      </m:e>
                      <m:sub>
                        <m:r>
                          <a:rPr lang="es-CO" sz="1200" i="1">
                            <a:latin typeface="Cambria Math" panose="02040503050406030204" pitchFamily="18" charset="0"/>
                          </a:rPr>
                          <m:t>𝑔</m:t>
                        </m:r>
                      </m:sub>
                    </m:sSub>
                    <m:r>
                      <a:rPr lang="es-CO" sz="1200">
                        <a:latin typeface="Cambria Math" panose="02040503050406030204" pitchFamily="18" charset="0"/>
                      </a:rPr>
                      <m:t>=</m:t>
                    </m:r>
                  </m:oMath>
                </a14:m>
                <a:r>
                  <a:rPr lang="es-CO" sz="1200" dirty="0"/>
                  <a:t> 1,75</a:t>
                </a:r>
              </a:p>
              <a:p>
                <a:pPr algn="ct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s-CO" sz="1200" i="1" dirty="0" smtClean="0">
                              <a:latin typeface="Cambria Math" panose="02040503050406030204" pitchFamily="18" charset="0"/>
                            </a:rPr>
                          </m:ctrlPr>
                        </m:mPr>
                        <m:mr>
                          <m:e>
                            <m:r>
                              <m:rPr>
                                <m:sty m:val="p"/>
                              </m:rPr>
                              <a:rPr lang="es-MX" sz="1200" b="0" i="0" dirty="0" smtClean="0">
                                <a:latin typeface="Cambria Math" panose="02040503050406030204" pitchFamily="18" charset="0"/>
                              </a:rPr>
                              <m:t>D</m:t>
                            </m:r>
                            <m:r>
                              <a:rPr lang="es-MX" sz="1200" b="0" i="0" dirty="0" smtClean="0">
                                <a:latin typeface="Cambria Math" panose="02040503050406030204" pitchFamily="18" charset="0"/>
                              </a:rPr>
                              <m:t>=−1.</m:t>
                            </m:r>
                            <m:r>
                              <a:rPr lang="es-MX" sz="1200" b="0" i="0" dirty="0" smtClean="0">
                                <a:latin typeface="Cambria Math" panose="02040503050406030204" pitchFamily="18" charset="0"/>
                              </a:rPr>
                              <m:t>53,×</m:t>
                            </m:r>
                            <m:sSup>
                              <m:sSupPr>
                                <m:ctrlPr>
                                  <a:rPr lang="es-CO" sz="1200" i="1" dirty="0" smtClean="0">
                                    <a:latin typeface="Cambria Math" panose="02040503050406030204" pitchFamily="18" charset="0"/>
                                  </a:rPr>
                                </m:ctrlPr>
                              </m:sSupPr>
                              <m:e>
                                <m:r>
                                  <a:rPr lang="es-CO" sz="1200" i="0" dirty="0" smtClean="0">
                                    <a:latin typeface="Cambria Math" panose="02040503050406030204" pitchFamily="18" charset="0"/>
                                  </a:rPr>
                                  <m:t>10</m:t>
                                </m:r>
                              </m:e>
                              <m:sup>
                                <m:r>
                                  <a:rPr lang="es-CO" sz="1200" i="0" dirty="0" smtClean="0">
                                    <a:latin typeface="Cambria Math" panose="02040503050406030204" pitchFamily="18" charset="0"/>
                                  </a:rPr>
                                  <m:t>−9</m:t>
                                </m:r>
                              </m:sup>
                            </m:sSup>
                          </m:e>
                        </m:mr>
                      </m:m>
                    </m:oMath>
                  </m:oMathPara>
                </a14:m>
                <a:endParaRPr lang="es-CO" sz="1200" dirty="0"/>
              </a:p>
            </p:txBody>
          </p:sp>
        </mc:Choice>
        <mc:Fallback xmlns="">
          <p:sp>
            <p:nvSpPr>
              <p:cNvPr id="7" name="CuadroTexto 9">
                <a:extLst>
                  <a:ext uri="{FF2B5EF4-FFF2-40B4-BE49-F238E27FC236}">
                    <a16:creationId xmlns:a16="http://schemas.microsoft.com/office/drawing/2014/main" id="{A23DF1DD-6403-776E-412F-7DF4435BEFA1}"/>
                  </a:ext>
                </a:extLst>
              </p:cNvPr>
              <p:cNvSpPr txBox="1">
                <a:spLocks noRot="1" noChangeAspect="1" noMove="1" noResize="1" noEditPoints="1" noAdjustHandles="1" noChangeArrowheads="1" noChangeShapeType="1" noTextEdit="1"/>
              </p:cNvSpPr>
              <p:nvPr/>
            </p:nvSpPr>
            <p:spPr>
              <a:xfrm>
                <a:off x="6321420" y="5416070"/>
                <a:ext cx="5486560" cy="679930"/>
              </a:xfrm>
              <a:prstGeom prst="rect">
                <a:avLst/>
              </a:prstGeom>
              <a:blipFill>
                <a:blip r:embed="rId7"/>
                <a:stretch>
                  <a:fillRect/>
                </a:stretch>
              </a:blipFill>
              <a:ln w="28575">
                <a:solidFill>
                  <a:srgbClr val="E0700D"/>
                </a:solidFill>
              </a:ln>
            </p:spPr>
            <p:txBody>
              <a:bodyPr/>
              <a:lstStyle/>
              <a:p>
                <a:r>
                  <a:rPr lang="es-CO">
                    <a:noFill/>
                  </a:rPr>
                  <a:t> </a:t>
                </a:r>
              </a:p>
            </p:txBody>
          </p:sp>
        </mc:Fallback>
      </mc:AlternateContent>
      <p:pic>
        <p:nvPicPr>
          <p:cNvPr id="11" name="Picture 10">
            <a:extLst>
              <a:ext uri="{FF2B5EF4-FFF2-40B4-BE49-F238E27FC236}">
                <a16:creationId xmlns:a16="http://schemas.microsoft.com/office/drawing/2014/main" id="{C5D75C20-3C84-A63D-BE18-5CFFADDE38C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7723" y="1402072"/>
            <a:ext cx="5340107" cy="4023368"/>
          </a:xfrm>
          <a:prstGeom prst="rect">
            <a:avLst/>
          </a:prstGeom>
        </p:spPr>
      </p:pic>
      <p:pic>
        <p:nvPicPr>
          <p:cNvPr id="12" name="Picture 11">
            <a:extLst>
              <a:ext uri="{FF2B5EF4-FFF2-40B4-BE49-F238E27FC236}">
                <a16:creationId xmlns:a16="http://schemas.microsoft.com/office/drawing/2014/main" id="{4FB439BE-286A-0F65-3D6B-383EA1F64B1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8180" y="1386832"/>
            <a:ext cx="5340107" cy="4023368"/>
          </a:xfrm>
          <a:prstGeom prst="rect">
            <a:avLst/>
          </a:prstGeom>
        </p:spPr>
      </p:pic>
      <p:sp>
        <p:nvSpPr>
          <p:cNvPr id="13" name="Rectángulo 4">
            <a:extLst>
              <a:ext uri="{FF2B5EF4-FFF2-40B4-BE49-F238E27FC236}">
                <a16:creationId xmlns:a16="http://schemas.microsoft.com/office/drawing/2014/main" id="{7981359F-1B27-5785-DFDD-B663D2AB8F9E}"/>
              </a:ext>
            </a:extLst>
          </p:cNvPr>
          <p:cNvSpPr/>
          <p:nvPr/>
        </p:nvSpPr>
        <p:spPr>
          <a:xfrm>
            <a:off x="609441" y="1447800"/>
            <a:ext cx="5486559" cy="3886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5">
            <a:extLst>
              <a:ext uri="{FF2B5EF4-FFF2-40B4-BE49-F238E27FC236}">
                <a16:creationId xmlns:a16="http://schemas.microsoft.com/office/drawing/2014/main" id="{7DD93676-71D9-C083-4073-01A0A20B3D57}"/>
              </a:ext>
            </a:extLst>
          </p:cNvPr>
          <p:cNvSpPr/>
          <p:nvPr/>
        </p:nvSpPr>
        <p:spPr>
          <a:xfrm>
            <a:off x="6321424" y="1447800"/>
            <a:ext cx="5486559" cy="38862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338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66AE94-949C-34BE-ADAA-484928263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640" y="1067671"/>
            <a:ext cx="10789941" cy="4480569"/>
          </a:xfrm>
          <a:prstGeom prst="rect">
            <a:avLst/>
          </a:prstGeom>
        </p:spPr>
      </p:pic>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Bend waveguide radius vs. loss – deep</a:t>
            </a:r>
            <a:br>
              <a:rPr lang="en-US" sz="2500" dirty="0"/>
            </a:br>
            <a:r>
              <a:rPr lang="en-US" b="0" dirty="0"/>
              <a:t>Find  neff_TE0 for </a:t>
            </a:r>
            <a:r>
              <a:rPr lang="en-US" b="0" dirty="0" err="1"/>
              <a:t>wvl</a:t>
            </a:r>
            <a:r>
              <a:rPr lang="en-US" b="0" dirty="0"/>
              <a:t> 1.55 µm, width 1.0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5560697"/>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For radii larger than 30 </a:t>
            </a:r>
            <a:r>
              <a:rPr lang="en-US" sz="1200" dirty="0" err="1">
                <a:latin typeface="Arial" panose="020B0604020202020204" pitchFamily="34" charset="0"/>
                <a:cs typeface="Arial" panose="020B0604020202020204" pitchFamily="34" charset="0"/>
              </a:rPr>
              <a:t>μm</a:t>
            </a:r>
            <a:r>
              <a:rPr lang="en-US" sz="1200" dirty="0">
                <a:latin typeface="Arial" panose="020B0604020202020204" pitchFamily="34" charset="0"/>
                <a:cs typeface="Arial" panose="020B0604020202020204" pitchFamily="34" charset="0"/>
              </a:rPr>
              <a:t>, it can be ensured that the losses remain below 0.1 dB for silicon nitride (</a:t>
            </a:r>
            <a:r>
              <a:rPr lang="en-US" sz="1200" dirty="0" err="1">
                <a:latin typeface="Arial" panose="020B0604020202020204" pitchFamily="34" charset="0"/>
                <a:cs typeface="Arial" panose="020B0604020202020204" pitchFamily="34" charset="0"/>
              </a:rPr>
              <a:t>Si₃N</a:t>
            </a:r>
            <a:r>
              <a:rPr lang="en-US" sz="1200" dirty="0">
                <a:latin typeface="Arial" panose="020B0604020202020204" pitchFamily="34" charset="0"/>
                <a:cs typeface="Arial" panose="020B0604020202020204" pitchFamily="34" charset="0"/>
              </a:rPr>
              <a:t>₄) technology.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143000"/>
            <a:ext cx="11199971" cy="4351412"/>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438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29FD2FF-21A0-0794-10A3-A2E2456C49FC}"/>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Slide Number Placeholder 4">
            <a:extLst>
              <a:ext uri="{FF2B5EF4-FFF2-40B4-BE49-F238E27FC236}">
                <a16:creationId xmlns:a16="http://schemas.microsoft.com/office/drawing/2014/main" id="{8E90FDAE-F86B-C2EB-5701-7575E72FDC11}"/>
              </a:ext>
            </a:extLst>
          </p:cNvPr>
          <p:cNvSpPr>
            <a:spLocks noGrp="1"/>
          </p:cNvSpPr>
          <p:nvPr>
            <p:ph type="sldNum" sz="quarter" idx="7"/>
          </p:nvPr>
        </p:nvSpPr>
        <p:spPr/>
        <p:txBody>
          <a:bodyPr/>
          <a:lstStyle/>
          <a:p>
            <a:fld id="{B6F15528-21DE-4FAA-801E-634DDDAF4B2B}" type="slidenum">
              <a:rPr lang="es-CO" smtClean="0"/>
              <a:t>9</a:t>
            </a:fld>
            <a:endParaRPr lang="es-CO"/>
          </a:p>
        </p:txBody>
      </p:sp>
      <p:sp>
        <p:nvSpPr>
          <p:cNvPr id="6" name="object 3">
            <a:extLst>
              <a:ext uri="{FF2B5EF4-FFF2-40B4-BE49-F238E27FC236}">
                <a16:creationId xmlns:a16="http://schemas.microsoft.com/office/drawing/2014/main" id="{DAE5BB78-9D88-4FD5-45EA-A86D69257267}"/>
              </a:ext>
            </a:extLst>
          </p:cNvPr>
          <p:cNvSpPr txBox="1"/>
          <p:nvPr/>
        </p:nvSpPr>
        <p:spPr>
          <a:xfrm>
            <a:off x="5372100" y="2743200"/>
            <a:ext cx="1447800" cy="513715"/>
          </a:xfrm>
          <a:prstGeom prst="rect">
            <a:avLst/>
          </a:prstGeom>
        </p:spPr>
        <p:txBody>
          <a:bodyPr vert="horz" wrap="square" lIns="0" tIns="12700" rIns="0" bIns="0" rtlCol="0">
            <a:spAutoFit/>
          </a:bodyPr>
          <a:lstStyle/>
          <a:p>
            <a:pPr marL="12700" algn="ctr">
              <a:lnSpc>
                <a:spcPct val="100000"/>
              </a:lnSpc>
              <a:spcBef>
                <a:spcPts val="100"/>
              </a:spcBef>
            </a:pPr>
            <a:r>
              <a:rPr lang="es-ES" sz="3200" b="1" dirty="0">
                <a:latin typeface="Lucida Sans"/>
                <a:cs typeface="Lucida Sans"/>
              </a:rPr>
              <a:t>Extras</a:t>
            </a:r>
            <a:endParaRPr sz="3200" dirty="0">
              <a:latin typeface="Lucida Sans"/>
              <a:cs typeface="Lucida Sans"/>
            </a:endParaRPr>
          </a:p>
        </p:txBody>
      </p:sp>
    </p:spTree>
    <p:extLst>
      <p:ext uri="{BB962C8B-B14F-4D97-AF65-F5344CB8AC3E}">
        <p14:creationId xmlns:p14="http://schemas.microsoft.com/office/powerpoint/2010/main" val="90572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3C3E0-CAD1-131E-0737-1520FF60D6B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7DBF6FD-DC4F-75C4-3B08-9D173C2837DF}"/>
              </a:ext>
            </a:extLst>
          </p:cNvPr>
          <p:cNvSpPr txBox="1">
            <a:spLocks noGrp="1"/>
          </p:cNvSpPr>
          <p:nvPr>
            <p:ph type="title"/>
          </p:nvPr>
        </p:nvSpPr>
        <p:spPr>
          <a:xfrm>
            <a:off x="685800" y="228600"/>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Convergence tests</a:t>
            </a:r>
            <a:br>
              <a:rPr lang="en-US" sz="2500" dirty="0"/>
            </a:br>
            <a:r>
              <a:rPr lang="nl-NL" b="0" dirty="0"/>
              <a:t>DE waveguide, w = 0.5 µm, neff_TE0, wvl 1.55 µm. </a:t>
            </a:r>
            <a:endParaRPr sz="2500" b="0" dirty="0">
              <a:latin typeface="+mj-lt"/>
              <a:cs typeface="Lucida Sans"/>
            </a:endParaRPr>
          </a:p>
        </p:txBody>
      </p:sp>
      <p:pic>
        <p:nvPicPr>
          <p:cNvPr id="83" name="Gráfico 82">
            <a:extLst>
              <a:ext uri="{FF2B5EF4-FFF2-40B4-BE49-F238E27FC236}">
                <a16:creationId xmlns:a16="http://schemas.microsoft.com/office/drawing/2014/main" id="{EA44E7AE-DDEB-8AB7-22B4-6377EDD020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947DA0A-552A-A57F-3B30-BEC5AEA4AEB6}"/>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0EB8AECE-898D-724C-4EC8-9D4C9C8D892E}"/>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 name="CuadroTexto 7">
            <a:extLst>
              <a:ext uri="{FF2B5EF4-FFF2-40B4-BE49-F238E27FC236}">
                <a16:creationId xmlns:a16="http://schemas.microsoft.com/office/drawing/2014/main" id="{808D4E70-0666-5046-7C69-E521529B5891}"/>
              </a:ext>
            </a:extLst>
          </p:cNvPr>
          <p:cNvSpPr txBox="1"/>
          <p:nvPr/>
        </p:nvSpPr>
        <p:spPr>
          <a:xfrm>
            <a:off x="1079403" y="2528813"/>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grid_resolution</a:t>
            </a:r>
            <a:r>
              <a:rPr lang="en-US" dirty="0"/>
              <a:t> plot here</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D35888E-3128-E6DD-BF91-8F58E33F7931}"/>
                  </a:ext>
                </a:extLst>
              </p:cNvPr>
              <p:cNvSpPr txBox="1"/>
              <p:nvPr/>
            </p:nvSpPr>
            <p:spPr>
              <a:xfrm>
                <a:off x="601313" y="4993620"/>
                <a:ext cx="11199971" cy="1407180"/>
              </a:xfrm>
              <a:prstGeom prst="rect">
                <a:avLst/>
              </a:prstGeom>
              <a:solidFill>
                <a:schemeClr val="bg1">
                  <a:lumMod val="95000"/>
                </a:schemeClr>
              </a:solidFill>
              <a:ln w="28575">
                <a:solidFill>
                  <a:srgbClr val="E0700D"/>
                </a:solidFill>
              </a:ln>
            </p:spPr>
            <p:txBody>
              <a:bodyPr wrap="square" rtlCol="0">
                <a:spAutoFit/>
              </a:bodyPr>
              <a:lstStyle/>
              <a:p>
                <a:pPr algn="just"/>
                <a:r>
                  <a:rPr lang="es-CO" sz="1200" dirty="0"/>
                  <a:t>The </a:t>
                </a:r>
                <a:r>
                  <a:rPr lang="es-CO" sz="1200" dirty="0" err="1"/>
                  <a:t>simulated</a:t>
                </a:r>
                <a:r>
                  <a:rPr lang="es-CO" sz="1200" dirty="0"/>
                  <a:t> </a:t>
                </a:r>
                <a:r>
                  <a:rPr lang="es-CO" sz="1200" dirty="0" err="1"/>
                  <a:t>waveguide</a:t>
                </a:r>
                <a:r>
                  <a:rPr lang="es-CO" sz="1200" dirty="0"/>
                  <a:t> </a:t>
                </a:r>
                <a:r>
                  <a:rPr lang="es-CO" sz="1200" dirty="0" err="1"/>
                  <a:t>is</a:t>
                </a:r>
                <a:r>
                  <a:rPr lang="es-CO" sz="1200" dirty="0"/>
                  <a:t> </a:t>
                </a:r>
                <a:r>
                  <a:rPr lang="es-CO" sz="1200" dirty="0" err="1"/>
                  <a:t>based</a:t>
                </a:r>
                <a:r>
                  <a:rPr lang="es-CO" sz="1200" dirty="0"/>
                  <a:t> </a:t>
                </a:r>
                <a:r>
                  <a:rPr lang="es-CO" sz="1200" dirty="0" err="1"/>
                  <a:t>on</a:t>
                </a:r>
                <a:r>
                  <a:rPr lang="es-CO" sz="1200" dirty="0"/>
                  <a:t> SOI (Silicon-</a:t>
                </a:r>
                <a:r>
                  <a:rPr lang="es-CO" sz="1200" dirty="0" err="1"/>
                  <a:t>on</a:t>
                </a:r>
                <a:r>
                  <a:rPr lang="es-CO" sz="1200" dirty="0"/>
                  <a:t>-</a:t>
                </a:r>
                <a:r>
                  <a:rPr lang="es-CO" sz="1200" dirty="0" err="1"/>
                  <a:t>Insulator</a:t>
                </a:r>
                <a:r>
                  <a:rPr lang="es-CO" sz="1200" dirty="0"/>
                  <a:t>) </a:t>
                </a:r>
                <a:r>
                  <a:rPr lang="es-CO" sz="1200" dirty="0" err="1"/>
                  <a:t>technology</a:t>
                </a:r>
                <a:r>
                  <a:rPr lang="es-CO" sz="1200" dirty="0"/>
                  <a:t>, </a:t>
                </a:r>
                <a:r>
                  <a:rPr lang="es-CO" sz="1200" dirty="0" err="1"/>
                  <a:t>with</a:t>
                </a:r>
                <a:r>
                  <a:rPr lang="es-CO" sz="1200" dirty="0"/>
                  <a:t> </a:t>
                </a:r>
                <a:r>
                  <a:rPr lang="es-CO" sz="1200" dirty="0" err="1"/>
                  <a:t>dimensions</a:t>
                </a:r>
                <a:r>
                  <a:rPr lang="es-CO" sz="1200" dirty="0"/>
                  <a:t> </a:t>
                </a:r>
                <a:r>
                  <a:rPr lang="es-CO" sz="1200" dirty="0" err="1"/>
                  <a:t>of</a:t>
                </a:r>
                <a:r>
                  <a:rPr lang="es-CO" sz="1200" dirty="0"/>
                  <a:t> 220 nm </a:t>
                </a:r>
                <a:r>
                  <a:rPr lang="es-CO" sz="1200" dirty="0" err="1"/>
                  <a:t>height</a:t>
                </a:r>
                <a:r>
                  <a:rPr lang="es-CO" sz="1200" dirty="0"/>
                  <a:t> and 500 nm </a:t>
                </a:r>
                <a:r>
                  <a:rPr lang="es-CO" sz="1200" dirty="0" err="1"/>
                  <a:t>width</a:t>
                </a:r>
                <a:r>
                  <a:rPr lang="es-CO" sz="1200" dirty="0"/>
                  <a:t>. </a:t>
                </a:r>
                <a:r>
                  <a:rPr lang="es-CO" sz="1200" dirty="0" err="1"/>
                  <a:t>By</a:t>
                </a:r>
                <a:r>
                  <a:rPr lang="es-CO" sz="1200" dirty="0"/>
                  <a:t> </a:t>
                </a:r>
                <a:r>
                  <a:rPr lang="es-CO" sz="1200" dirty="0" err="1"/>
                  <a:t>performing</a:t>
                </a:r>
                <a:r>
                  <a:rPr lang="es-CO" sz="1200" dirty="0"/>
                  <a:t> </a:t>
                </a:r>
                <a:r>
                  <a:rPr lang="es-CO" sz="1200" dirty="0" err="1"/>
                  <a:t>simulations</a:t>
                </a:r>
                <a:r>
                  <a:rPr lang="es-CO" sz="1200" dirty="0"/>
                  <a:t> </a:t>
                </a:r>
                <a:r>
                  <a:rPr lang="es-CO" sz="1200" dirty="0" err="1"/>
                  <a:t>with</a:t>
                </a:r>
                <a:r>
                  <a:rPr lang="es-CO" sz="1200" dirty="0"/>
                  <a:t> </a:t>
                </a:r>
                <a:r>
                  <a:rPr lang="es-CO" sz="1200" dirty="0" err="1"/>
                  <a:t>different</a:t>
                </a:r>
                <a:r>
                  <a:rPr lang="es-CO" sz="1200" dirty="0"/>
                  <a:t> </a:t>
                </a:r>
                <a:r>
                  <a:rPr lang="es-CO" sz="1200" dirty="0" err="1"/>
                  <a:t>grid</a:t>
                </a:r>
                <a:r>
                  <a:rPr lang="es-CO" sz="1200" dirty="0"/>
                  <a:t> </a:t>
                </a:r>
                <a:r>
                  <a:rPr lang="es-CO" sz="1200" dirty="0" err="1"/>
                  <a:t>resolutions</a:t>
                </a:r>
                <a:r>
                  <a:rPr lang="es-CO" sz="1200" dirty="0"/>
                  <a:t>, </a:t>
                </a:r>
                <a:r>
                  <a:rPr lang="es-CO" sz="1200" dirty="0" err="1"/>
                  <a:t>it</a:t>
                </a:r>
                <a:r>
                  <a:rPr lang="es-CO" sz="1200" dirty="0"/>
                  <a:t> </a:t>
                </a:r>
                <a:r>
                  <a:rPr lang="es-CO" sz="1200" dirty="0" err="1"/>
                  <a:t>is</a:t>
                </a:r>
                <a:r>
                  <a:rPr lang="es-CO" sz="1200" dirty="0"/>
                  <a:t> </a:t>
                </a:r>
                <a:r>
                  <a:rPr lang="es-CO" sz="1200" dirty="0" err="1"/>
                  <a:t>observed</a:t>
                </a:r>
                <a:r>
                  <a:rPr lang="es-CO" sz="1200" dirty="0"/>
                  <a:t> </a:t>
                </a:r>
                <a:r>
                  <a:rPr lang="es-CO" sz="1200" dirty="0" err="1"/>
                  <a:t>that</a:t>
                </a:r>
                <a:r>
                  <a:rPr lang="es-CO" sz="1200" dirty="0"/>
                  <a:t> </a:t>
                </a:r>
                <a:r>
                  <a:rPr lang="es-CO" sz="1200" dirty="0" err="1"/>
                  <a:t>the</a:t>
                </a:r>
                <a:r>
                  <a:rPr lang="es-CO" sz="1200" dirty="0"/>
                  <a:t> </a:t>
                </a:r>
                <a:r>
                  <a:rPr lang="es-CO" sz="1200" dirty="0" err="1"/>
                  <a:t>effective</a:t>
                </a:r>
                <a:r>
                  <a:rPr lang="es-CO" sz="1200" dirty="0"/>
                  <a:t> refractive </a:t>
                </a:r>
                <a:r>
                  <a:rPr lang="es-CO" sz="1200" dirty="0" err="1"/>
                  <a:t>index</a:t>
                </a:r>
                <a:r>
                  <a:rPr lang="es-CO" sz="1200" dirty="0"/>
                  <a:t> </a:t>
                </a:r>
                <a:r>
                  <a:rPr lang="es-CO" sz="1200" dirty="0" err="1"/>
                  <a:t>stabilizes</a:t>
                </a:r>
                <a:r>
                  <a:rPr lang="es-CO" sz="1200" dirty="0"/>
                  <a:t> </a:t>
                </a:r>
                <a:r>
                  <a:rPr lang="es-CO" sz="1200" dirty="0" err="1"/>
                  <a:t>around</a:t>
                </a:r>
                <a:r>
                  <a:rPr lang="es-CO" sz="1200" dirty="0"/>
                  <a:t> </a:t>
                </a:r>
                <a:r>
                  <a:rPr lang="es-CO" sz="1200" dirty="0" err="1"/>
                  <a:t>an</a:t>
                </a:r>
                <a:r>
                  <a:rPr lang="es-CO" sz="1200" dirty="0"/>
                  <a:t> </a:t>
                </a:r>
                <a:r>
                  <a:rPr lang="es-CO" sz="1200" dirty="0" err="1"/>
                  <a:t>average</a:t>
                </a:r>
                <a:r>
                  <a:rPr lang="es-CO" sz="1200" dirty="0"/>
                  <a:t> </a:t>
                </a:r>
                <a:r>
                  <a:rPr lang="es-CO" sz="1200" dirty="0" err="1"/>
                  <a:t>value</a:t>
                </a:r>
                <a:r>
                  <a:rPr lang="es-CO" sz="1200" dirty="0"/>
                  <a:t> </a:t>
                </a:r>
                <a:r>
                  <a:rPr lang="es-CO" sz="1200" dirty="0" err="1"/>
                  <a:t>of</a:t>
                </a:r>
                <a:r>
                  <a:rPr lang="es-CO" sz="1200" dirty="0"/>
                  <a:t> </a:t>
                </a:r>
                <a14:m>
                  <m:oMath xmlns:m="http://schemas.openxmlformats.org/officeDocument/2006/math">
                    <m:sSub>
                      <m:sSubPr>
                        <m:ctrlPr>
                          <a:rPr lang="ar-AE" sz="1200" i="1">
                            <a:latin typeface="Cambria Math" panose="02040503050406030204" pitchFamily="18" charset="0"/>
                          </a:rPr>
                        </m:ctrlPr>
                      </m:sSubPr>
                      <m:e>
                        <m:r>
                          <m:rPr>
                            <m:sty m:val="p"/>
                          </m:rPr>
                          <a:rPr lang="ar-AE" sz="1200" b="0" i="1">
                            <a:latin typeface="Cambria Math" panose="02040503050406030204" pitchFamily="18" charset="0"/>
                          </a:rPr>
                          <m:t>n</m:t>
                        </m:r>
                      </m:e>
                      <m:sub>
                        <m:r>
                          <m:rPr>
                            <m:nor/>
                          </m:rPr>
                          <a:rPr lang="es-CO" sz="1200"/>
                          <m:t>eff</m:t>
                        </m:r>
                      </m:sub>
                    </m:sSub>
                    <m:r>
                      <a:rPr lang="ar-AE" sz="1200" b="0">
                        <a:latin typeface="Cambria Math" panose="02040503050406030204" pitchFamily="18" charset="0"/>
                      </a:rPr>
                      <m:t>≈</m:t>
                    </m:r>
                    <m:r>
                      <a:rPr lang="ar-AE" sz="1200" b="0">
                        <a:latin typeface="Cambria Math" panose="02040503050406030204" pitchFamily="18" charset="0"/>
                      </a:rPr>
                      <m:t>2</m:t>
                    </m:r>
                    <m:r>
                      <a:rPr lang="ar-AE" sz="1200" b="0">
                        <a:latin typeface="Cambria Math" panose="02040503050406030204" pitchFamily="18" charset="0"/>
                      </a:rPr>
                      <m:t>.</m:t>
                    </m:r>
                    <m:r>
                      <a:rPr lang="ar-AE" sz="1200" b="0">
                        <a:latin typeface="Cambria Math" panose="02040503050406030204" pitchFamily="18" charset="0"/>
                      </a:rPr>
                      <m:t>443</m:t>
                    </m:r>
                  </m:oMath>
                </a14:m>
                <a:r>
                  <a:rPr lang="ar-AE" sz="1200" dirty="0"/>
                  <a:t>. </a:t>
                </a:r>
                <a:endParaRPr lang="es-MX" sz="1200" dirty="0"/>
              </a:p>
              <a:p>
                <a:pPr algn="just"/>
                <a:r>
                  <a:rPr lang="en-US" sz="1200" dirty="0"/>
                  <a:t>For the grid resolution parameter, a larger value subdivides the computational cell into smaller elements, which increases numerical accuracy but also raises the computational cost. Since the objective is to reduce the simulation time a grid resolution of 40 points per micron is selected.</a:t>
                </a:r>
              </a:p>
              <a:p>
                <a:pPr algn="just"/>
                <a:r>
                  <a:rPr lang="en-US" sz="1200" dirty="0"/>
                  <a:t>For the variation of </a:t>
                </a:r>
                <a:r>
                  <a:rPr lang="en-US" sz="1200" dirty="0" err="1"/>
                  <a:t>max_grid_scaling</a:t>
                </a:r>
                <a:r>
                  <a:rPr lang="en-US" sz="1200" dirty="0"/>
                  <a:t>, the grid resolution was fixed at 40, an average effective index of </a:t>
                </a:r>
                <a14:m>
                  <m:oMath xmlns:m="http://schemas.openxmlformats.org/officeDocument/2006/math">
                    <m:sSub>
                      <m:sSubPr>
                        <m:ctrlPr>
                          <a:rPr lang="es-CO" sz="1200" i="1">
                            <a:latin typeface="Cambria Math" panose="02040503050406030204" pitchFamily="18" charset="0"/>
                          </a:rPr>
                        </m:ctrlPr>
                      </m:sSubPr>
                      <m:e>
                        <m:r>
                          <a:rPr lang="es-CO" sz="1200">
                            <a:latin typeface="Cambria Math" panose="02040503050406030204" pitchFamily="18" charset="0"/>
                          </a:rPr>
                          <m:t>𝑛</m:t>
                        </m:r>
                      </m:e>
                      <m:sub>
                        <m:r>
                          <m:rPr>
                            <m:nor/>
                          </m:rPr>
                          <a:rPr lang="en-US" sz="1200"/>
                          <m:t>eff</m:t>
                        </m:r>
                      </m:sub>
                    </m:sSub>
                    <m:r>
                      <a:rPr lang="en-US" sz="1200">
                        <a:latin typeface="Cambria Math" panose="02040503050406030204" pitchFamily="18" charset="0"/>
                      </a:rPr>
                      <m:t>≈</m:t>
                    </m:r>
                  </m:oMath>
                </a14:m>
                <a:r>
                  <a:rPr lang="en-US" sz="1200" dirty="0"/>
                  <a:t>2.478 is obtained in the region where the response stabilizes. In this case, a smaller value of </a:t>
                </a:r>
                <a:r>
                  <a:rPr lang="en-US" sz="1200" dirty="0" err="1"/>
                  <a:t>max_grid_scaling</a:t>
                </a:r>
                <a:r>
                  <a:rPr lang="en-US" sz="1200" dirty="0"/>
                  <a:t> results in a finer mesh near material interfaces, improving accuracy but increasing the simulation time. To reduce the computational cost a value of 1.6 was selected.</a:t>
                </a:r>
                <a:endParaRPr lang="es-CO" sz="1200" dirty="0"/>
              </a:p>
            </p:txBody>
          </p:sp>
        </mc:Choice>
        <mc:Fallback xmlns="">
          <p:sp>
            <p:nvSpPr>
              <p:cNvPr id="10" name="CuadroTexto 9">
                <a:extLst>
                  <a:ext uri="{FF2B5EF4-FFF2-40B4-BE49-F238E27FC236}">
                    <a16:creationId xmlns:a16="http://schemas.microsoft.com/office/drawing/2014/main" id="{4D35888E-3128-E6DD-BF91-8F58E33F7931}"/>
                  </a:ext>
                </a:extLst>
              </p:cNvPr>
              <p:cNvSpPr txBox="1">
                <a:spLocks noRot="1" noChangeAspect="1" noMove="1" noResize="1" noEditPoints="1" noAdjustHandles="1" noChangeArrowheads="1" noChangeShapeType="1" noTextEdit="1"/>
              </p:cNvSpPr>
              <p:nvPr/>
            </p:nvSpPr>
            <p:spPr>
              <a:xfrm>
                <a:off x="601313" y="4993620"/>
                <a:ext cx="11199971" cy="1407180"/>
              </a:xfrm>
              <a:prstGeom prst="rect">
                <a:avLst/>
              </a:prstGeom>
              <a:blipFill>
                <a:blip r:embed="rId5"/>
                <a:stretch>
                  <a:fillRect b="-1271"/>
                </a:stretch>
              </a:blipFill>
              <a:ln w="28575">
                <a:solidFill>
                  <a:srgbClr val="E0700D"/>
                </a:solidFill>
              </a:ln>
            </p:spPr>
            <p:txBody>
              <a:bodyPr/>
              <a:lstStyle/>
              <a:p>
                <a:r>
                  <a:rPr lang="es-CO">
                    <a:noFill/>
                  </a:rPr>
                  <a:t> </a:t>
                </a:r>
              </a:p>
            </p:txBody>
          </p:sp>
        </mc:Fallback>
      </mc:AlternateContent>
      <p:sp>
        <p:nvSpPr>
          <p:cNvPr id="4" name="CuadroTexto 3">
            <a:extLst>
              <a:ext uri="{FF2B5EF4-FFF2-40B4-BE49-F238E27FC236}">
                <a16:creationId xmlns:a16="http://schemas.microsoft.com/office/drawing/2014/main" id="{53C3C539-B749-A81F-D386-8E045E7BD068}"/>
              </a:ext>
            </a:extLst>
          </p:cNvPr>
          <p:cNvSpPr txBox="1"/>
          <p:nvPr/>
        </p:nvSpPr>
        <p:spPr>
          <a:xfrm>
            <a:off x="6792815" y="2518668"/>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max_grid_scaling</a:t>
            </a:r>
            <a:r>
              <a:rPr lang="en-US" dirty="0"/>
              <a:t> plot here</a:t>
            </a:r>
          </a:p>
        </p:txBody>
      </p:sp>
      <p:pic>
        <p:nvPicPr>
          <p:cNvPr id="7" name="Picture 6">
            <a:extLst>
              <a:ext uri="{FF2B5EF4-FFF2-40B4-BE49-F238E27FC236}">
                <a16:creationId xmlns:a16="http://schemas.microsoft.com/office/drawing/2014/main" id="{6F829E8C-7F1D-56E2-F252-36E6095521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8094" y="933450"/>
            <a:ext cx="5349251" cy="4023368"/>
          </a:xfrm>
          <a:prstGeom prst="rect">
            <a:avLst/>
          </a:prstGeom>
        </p:spPr>
      </p:pic>
      <p:sp>
        <p:nvSpPr>
          <p:cNvPr id="6" name="Rectángulo 5">
            <a:extLst>
              <a:ext uri="{FF2B5EF4-FFF2-40B4-BE49-F238E27FC236}">
                <a16:creationId xmlns:a16="http://schemas.microsoft.com/office/drawing/2014/main" id="{1E35CD35-CE32-257D-C368-73A058347163}"/>
              </a:ext>
            </a:extLst>
          </p:cNvPr>
          <p:cNvSpPr/>
          <p:nvPr/>
        </p:nvSpPr>
        <p:spPr>
          <a:xfrm>
            <a:off x="601313" y="914400"/>
            <a:ext cx="5486559" cy="40370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72D6E9D-FA1C-FD4D-4F2C-71286AF6DC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24600" y="933450"/>
            <a:ext cx="5440691" cy="4023368"/>
          </a:xfrm>
          <a:prstGeom prst="rect">
            <a:avLst/>
          </a:prstGeom>
        </p:spPr>
      </p:pic>
      <p:sp>
        <p:nvSpPr>
          <p:cNvPr id="13" name="Rectángulo 5">
            <a:extLst>
              <a:ext uri="{FF2B5EF4-FFF2-40B4-BE49-F238E27FC236}">
                <a16:creationId xmlns:a16="http://schemas.microsoft.com/office/drawing/2014/main" id="{09D930E7-805D-1907-0781-EE088CE13B64}"/>
              </a:ext>
            </a:extLst>
          </p:cNvPr>
          <p:cNvSpPr/>
          <p:nvPr/>
        </p:nvSpPr>
        <p:spPr>
          <a:xfrm>
            <a:off x="6324441" y="915910"/>
            <a:ext cx="5486559" cy="40370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8515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BAA4-6266-7FD4-6E85-790EBFC2F812}"/>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1135843E-1455-DF05-89A5-388958040F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E48B71E-B9F5-67B0-1307-4D8FAA52C4D3}"/>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21E2304A-D8B2-C518-5A68-FDE3D8F9BC2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 name="CuadroTexto 7">
            <a:extLst>
              <a:ext uri="{FF2B5EF4-FFF2-40B4-BE49-F238E27FC236}">
                <a16:creationId xmlns:a16="http://schemas.microsoft.com/office/drawing/2014/main" id="{9A8F0443-F878-E4CB-7E4C-58B83D20B4D5}"/>
              </a:ext>
            </a:extLst>
          </p:cNvPr>
          <p:cNvSpPr txBox="1"/>
          <p:nvPr/>
        </p:nvSpPr>
        <p:spPr>
          <a:xfrm>
            <a:off x="1079403" y="2528813"/>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grid_resolution</a:t>
            </a:r>
            <a:r>
              <a:rPr lang="en-US" dirty="0"/>
              <a:t> plot here</a:t>
            </a:r>
          </a:p>
        </p:txBody>
      </p:sp>
      <p:sp>
        <p:nvSpPr>
          <p:cNvPr id="10" name="CuadroTexto 9">
            <a:extLst>
              <a:ext uri="{FF2B5EF4-FFF2-40B4-BE49-F238E27FC236}">
                <a16:creationId xmlns:a16="http://schemas.microsoft.com/office/drawing/2014/main" id="{631DE65C-6ADA-3F08-4180-4FE9CA3737D9}"/>
              </a:ext>
            </a:extLst>
          </p:cNvPr>
          <p:cNvSpPr txBox="1"/>
          <p:nvPr/>
        </p:nvSpPr>
        <p:spPr>
          <a:xfrm>
            <a:off x="593693" y="5015552"/>
            <a:ext cx="11199971" cy="46166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The results show that increasing the waveguide width allows additional modes to propagate within the core. As previously observed for </a:t>
            </a:r>
            <a:r>
              <a:rPr lang="en-US" sz="1200" dirty="0" err="1"/>
              <a:t>Si₃N</a:t>
            </a:r>
            <a:r>
              <a:rPr lang="en-US" sz="1200" dirty="0"/>
              <a:t>₄ core waveguides, a thickness of 1.2 µm is sufficient to ensure single-mode operation. In contrast, for a silicon core waveguide with a width of 500 nm, the structure is close to the multimode regime</a:t>
            </a:r>
            <a:endParaRPr lang="es-CO" sz="1200" dirty="0"/>
          </a:p>
        </p:txBody>
      </p:sp>
      <p:sp>
        <p:nvSpPr>
          <p:cNvPr id="4" name="CuadroTexto 3">
            <a:extLst>
              <a:ext uri="{FF2B5EF4-FFF2-40B4-BE49-F238E27FC236}">
                <a16:creationId xmlns:a16="http://schemas.microsoft.com/office/drawing/2014/main" id="{51C49BC6-A573-8600-007C-34B54CD68F97}"/>
              </a:ext>
            </a:extLst>
          </p:cNvPr>
          <p:cNvSpPr txBox="1"/>
          <p:nvPr/>
        </p:nvSpPr>
        <p:spPr>
          <a:xfrm>
            <a:off x="6792815" y="2518668"/>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neff_TE0 vs </a:t>
            </a:r>
            <a:r>
              <a:rPr lang="en-US" dirty="0" err="1"/>
              <a:t>max_grid_scaling</a:t>
            </a:r>
            <a:r>
              <a:rPr lang="en-US" dirty="0"/>
              <a:t> plot here</a:t>
            </a:r>
          </a:p>
        </p:txBody>
      </p:sp>
      <p:sp>
        <p:nvSpPr>
          <p:cNvPr id="14" name="object 16">
            <a:extLst>
              <a:ext uri="{FF2B5EF4-FFF2-40B4-BE49-F238E27FC236}">
                <a16:creationId xmlns:a16="http://schemas.microsoft.com/office/drawing/2014/main" id="{5D5A02B1-B86F-BC07-895D-EC8A019DB1DA}"/>
              </a:ext>
            </a:extLst>
          </p:cNvPr>
          <p:cNvSpPr txBox="1">
            <a:spLocks/>
          </p:cNvSpPr>
          <p:nvPr/>
        </p:nvSpPr>
        <p:spPr>
          <a:xfrm>
            <a:off x="128832" y="30387"/>
            <a:ext cx="10994410" cy="705321"/>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Width dependence</a:t>
            </a:r>
            <a:br>
              <a:rPr lang="en-US" sz="2500" kern="0" spc="-5" dirty="0">
                <a:latin typeface="+mj-lt"/>
                <a:cs typeface="Lucida Sans"/>
              </a:rPr>
            </a:br>
            <a:r>
              <a:rPr lang="en-US" b="0" kern="0" dirty="0"/>
              <a:t>Width 0.6 - 1.6 µm (step 0.1 µm) Si core, Width 0.3 - 1.0 µm (step 0.1 µm) Si core – Wavelength 1.55 µm </a:t>
            </a:r>
            <a:endParaRPr lang="en-US" sz="2500" b="0" kern="0" dirty="0">
              <a:latin typeface="+mj-lt"/>
              <a:cs typeface="Lucida Sans"/>
            </a:endParaRPr>
          </a:p>
        </p:txBody>
      </p:sp>
      <p:pic>
        <p:nvPicPr>
          <p:cNvPr id="17" name="Picture 16">
            <a:extLst>
              <a:ext uri="{FF2B5EF4-FFF2-40B4-BE49-F238E27FC236}">
                <a16:creationId xmlns:a16="http://schemas.microsoft.com/office/drawing/2014/main" id="{1374FAC2-458E-C07A-077A-395769864C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094" y="949187"/>
            <a:ext cx="5349251" cy="4023368"/>
          </a:xfrm>
          <a:prstGeom prst="rect">
            <a:avLst/>
          </a:prstGeom>
        </p:spPr>
      </p:pic>
      <p:pic>
        <p:nvPicPr>
          <p:cNvPr id="19" name="Picture 18">
            <a:extLst>
              <a:ext uri="{FF2B5EF4-FFF2-40B4-BE49-F238E27FC236}">
                <a16:creationId xmlns:a16="http://schemas.microsoft.com/office/drawing/2014/main" id="{CCA9FA3A-CB99-DBAE-0518-860524C2F7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4968" y="930437"/>
            <a:ext cx="5349251" cy="4023368"/>
          </a:xfrm>
          <a:prstGeom prst="rect">
            <a:avLst/>
          </a:prstGeom>
        </p:spPr>
      </p:pic>
      <p:sp>
        <p:nvSpPr>
          <p:cNvPr id="6" name="Rectángulo 5">
            <a:extLst>
              <a:ext uri="{FF2B5EF4-FFF2-40B4-BE49-F238E27FC236}">
                <a16:creationId xmlns:a16="http://schemas.microsoft.com/office/drawing/2014/main" id="{8FB56EBD-DF06-6E15-1F95-422244521D22}"/>
              </a:ext>
            </a:extLst>
          </p:cNvPr>
          <p:cNvSpPr/>
          <p:nvPr/>
        </p:nvSpPr>
        <p:spPr>
          <a:xfrm>
            <a:off x="601313" y="914400"/>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ángulo 5">
            <a:extLst>
              <a:ext uri="{FF2B5EF4-FFF2-40B4-BE49-F238E27FC236}">
                <a16:creationId xmlns:a16="http://schemas.microsoft.com/office/drawing/2014/main" id="{B653B700-A7E8-5846-680D-2BD02352F046}"/>
              </a:ext>
            </a:extLst>
          </p:cNvPr>
          <p:cNvSpPr/>
          <p:nvPr/>
        </p:nvSpPr>
        <p:spPr>
          <a:xfrm>
            <a:off x="6307105" y="914400"/>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DFBD88E-CE16-94A9-86A9-BE1BCC5C812B}"/>
              </a:ext>
            </a:extLst>
          </p:cNvPr>
          <p:cNvPicPr>
            <a:picLocks noChangeAspect="1"/>
          </p:cNvPicPr>
          <p:nvPr/>
        </p:nvPicPr>
        <p:blipFill>
          <a:blip r:embed="rId7"/>
          <a:stretch>
            <a:fillRect/>
          </a:stretch>
        </p:blipFill>
        <p:spPr>
          <a:xfrm>
            <a:off x="5768589" y="4082475"/>
            <a:ext cx="857800" cy="749732"/>
          </a:xfrm>
          <a:prstGeom prst="rect">
            <a:avLst/>
          </a:prstGeom>
        </p:spPr>
      </p:pic>
    </p:spTree>
    <p:extLst>
      <p:ext uri="{BB962C8B-B14F-4D97-AF65-F5344CB8AC3E}">
        <p14:creationId xmlns:p14="http://schemas.microsoft.com/office/powerpoint/2010/main" val="1379152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88F9-DEBC-5A60-37F6-C72FA4E1E98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0ACB417-0DCB-13A4-3E8B-9D3D0DBBA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549" y="914400"/>
            <a:ext cx="5349251" cy="4023368"/>
          </a:xfrm>
          <a:prstGeom prst="rect">
            <a:avLst/>
          </a:prstGeom>
        </p:spPr>
      </p:pic>
      <p:pic>
        <p:nvPicPr>
          <p:cNvPr id="12" name="Picture 11">
            <a:extLst>
              <a:ext uri="{FF2B5EF4-FFF2-40B4-BE49-F238E27FC236}">
                <a16:creationId xmlns:a16="http://schemas.microsoft.com/office/drawing/2014/main" id="{D0CEA290-416D-F214-C95F-D425AB69E1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914400"/>
            <a:ext cx="5349251" cy="4023368"/>
          </a:xfrm>
          <a:prstGeom prst="rect">
            <a:avLst/>
          </a:prstGeom>
        </p:spPr>
      </p:pic>
      <p:pic>
        <p:nvPicPr>
          <p:cNvPr id="83" name="Gráfico 82">
            <a:extLst>
              <a:ext uri="{FF2B5EF4-FFF2-40B4-BE49-F238E27FC236}">
                <a16:creationId xmlns:a16="http://schemas.microsoft.com/office/drawing/2014/main" id="{CF43C3A0-265F-31E1-2BBC-C1F84FF585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BCF3F94-3E91-FC75-F014-8DBEAE4FBFB9}"/>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7DB307F9-A2C9-8E22-9D2B-4E342C70C6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0" name="CuadroTexto 9">
            <a:extLst>
              <a:ext uri="{FF2B5EF4-FFF2-40B4-BE49-F238E27FC236}">
                <a16:creationId xmlns:a16="http://schemas.microsoft.com/office/drawing/2014/main" id="{415C7420-B9C4-9428-6402-6B7248B0D2D0}"/>
              </a:ext>
            </a:extLst>
          </p:cNvPr>
          <p:cNvSpPr txBox="1"/>
          <p:nvPr/>
        </p:nvSpPr>
        <p:spPr>
          <a:xfrm>
            <a:off x="593693" y="5015552"/>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t>With SOI technology, bend radii as small as 5 </a:t>
            </a:r>
            <a:r>
              <a:rPr lang="en-US" sz="1200" dirty="0" err="1"/>
              <a:t>μm</a:t>
            </a:r>
            <a:r>
              <a:rPr lang="en-US" sz="1200" dirty="0"/>
              <a:t> can be achieved without exceeding losses of 0.1 </a:t>
            </a:r>
            <a:r>
              <a:rPr lang="en-US" sz="1200" dirty="0" err="1"/>
              <a:t>dB.</a:t>
            </a:r>
            <a:r>
              <a:rPr lang="en-US" sz="1200" dirty="0"/>
              <a:t> This is due to the stronger optical confinement provided by SOI waveguides.</a:t>
            </a:r>
            <a:endParaRPr lang="es-CO" sz="1200" dirty="0"/>
          </a:p>
        </p:txBody>
      </p:sp>
      <p:sp>
        <p:nvSpPr>
          <p:cNvPr id="6" name="Rectángulo 5">
            <a:extLst>
              <a:ext uri="{FF2B5EF4-FFF2-40B4-BE49-F238E27FC236}">
                <a16:creationId xmlns:a16="http://schemas.microsoft.com/office/drawing/2014/main" id="{AACFE2DC-5CAB-D9A4-951F-493FF9D6444F}"/>
              </a:ext>
            </a:extLst>
          </p:cNvPr>
          <p:cNvSpPr/>
          <p:nvPr/>
        </p:nvSpPr>
        <p:spPr>
          <a:xfrm>
            <a:off x="601313" y="914400"/>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ángulo 5">
            <a:extLst>
              <a:ext uri="{FF2B5EF4-FFF2-40B4-BE49-F238E27FC236}">
                <a16:creationId xmlns:a16="http://schemas.microsoft.com/office/drawing/2014/main" id="{CA68AF07-EB65-9E1D-B96C-CE5A0A6E5490}"/>
              </a:ext>
            </a:extLst>
          </p:cNvPr>
          <p:cNvSpPr/>
          <p:nvPr/>
        </p:nvSpPr>
        <p:spPr>
          <a:xfrm>
            <a:off x="6307105" y="914400"/>
            <a:ext cx="5486559" cy="40233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6">
            <a:extLst>
              <a:ext uri="{FF2B5EF4-FFF2-40B4-BE49-F238E27FC236}">
                <a16:creationId xmlns:a16="http://schemas.microsoft.com/office/drawing/2014/main" id="{B7B8D17C-FDD1-FF0B-4808-067E3C1CD6C8}"/>
              </a:ext>
            </a:extLst>
          </p:cNvPr>
          <p:cNvSpPr txBox="1">
            <a:spLocks noGrp="1"/>
          </p:cNvSpPr>
          <p:nvPr>
            <p:ph type="title"/>
          </p:nvPr>
        </p:nvSpPr>
        <p:spPr>
          <a:xfrm>
            <a:off x="590667" y="37322"/>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Bend waveguide radius vs. loss – deep</a:t>
            </a:r>
            <a:br>
              <a:rPr lang="en-US" sz="2500" dirty="0"/>
            </a:br>
            <a:r>
              <a:rPr lang="en-US" b="0" dirty="0"/>
              <a:t>Find  neff_TE0 for </a:t>
            </a:r>
            <a:r>
              <a:rPr lang="en-US" b="0" dirty="0" err="1"/>
              <a:t>wvl</a:t>
            </a:r>
            <a:r>
              <a:rPr lang="en-US" b="0" dirty="0"/>
              <a:t> 1.55 µm</a:t>
            </a:r>
            <a:br>
              <a:rPr lang="en-US" sz="2500" dirty="0"/>
            </a:br>
            <a:endParaRPr lang="en-US" sz="2500" b="0" dirty="0">
              <a:latin typeface="+mj-lt"/>
              <a:cs typeface="Lucida Sans"/>
            </a:endParaRPr>
          </a:p>
        </p:txBody>
      </p:sp>
    </p:spTree>
    <p:extLst>
      <p:ext uri="{BB962C8B-B14F-4D97-AF65-F5344CB8AC3E}">
        <p14:creationId xmlns:p14="http://schemas.microsoft.com/office/powerpoint/2010/main" val="1662452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1446</TotalTime>
  <Words>1140</Words>
  <Application>Microsoft Office PowerPoint</Application>
  <PresentationFormat>Widescreen</PresentationFormat>
  <Paragraphs>122</Paragraphs>
  <Slides>13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Calibri</vt:lpstr>
      <vt:lpstr>Cambria Math</vt:lpstr>
      <vt:lpstr>Lucida Sans</vt:lpstr>
      <vt:lpstr>Times New Roman</vt:lpstr>
      <vt:lpstr>Wingdings</vt:lpstr>
      <vt:lpstr>Office Theme</vt:lpstr>
      <vt:lpstr>PowerPoint Presentation</vt:lpstr>
      <vt:lpstr>Instructions General</vt:lpstr>
      <vt:lpstr>Learning outcome #1 – Convergence tests DE waveguide, w = 1.2 µm, neff_TE0, wvl 1.55 µm. </vt:lpstr>
      <vt:lpstr>Learning outcome #2 – Width dependence Width 0.6 - 1.6 µm (step 0.1 µm) – Wavelength 1.55 µm </vt:lpstr>
      <vt:lpstr>Learning outcome #3 – Waveguide compact model Let’s model the waveguide using a second order polynomial:  n_eff (λ)=n_1+n_2 (λ-λ_0 )+n_3 (λ-λ_0 )^2 </vt:lpstr>
      <vt:lpstr>Learning outcome #3 – Waveguide compact model Let’s model the waveguide using a second order polynomial:  n_eff (λ)=n_1+n_2 (λ-λ_0 )+n_3 (λ-λ_0 )^2 </vt:lpstr>
      <vt:lpstr>Learning outcome #3 – Waveguide compact model Let’s model the waveguide using a second order polynomial:  n_eff (λ)=n_1+n_2 (λ-λ_0 )+n_3 (λ-λ_0 )^2 </vt:lpstr>
      <vt:lpstr>Learning outcome #4 – Bend waveguide radius vs. loss – deep Find  neff_TE0 for wvl 1.55 µm, width 1.0 µm for R=25,50,75,100, 125,150 µm </vt:lpstr>
      <vt:lpstr>PowerPoint Presentation</vt:lpstr>
      <vt:lpstr>Learning outcome #1 – Convergence tests DE waveguide, w = 0.5 µm, neff_TE0, wvl 1.55 µm. </vt:lpstr>
      <vt:lpstr>PowerPoint Presentation</vt:lpstr>
      <vt:lpstr>Learning outcome #4 – Bend waveguide radius vs. loss – deep Find  neff_TE0 for wvl 1.55 µm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Nicolas Ospina</cp:lastModifiedBy>
  <cp:revision>23</cp:revision>
  <dcterms:created xsi:type="dcterms:W3CDTF">2025-01-27T02:46:57Z</dcterms:created>
  <dcterms:modified xsi:type="dcterms:W3CDTF">2026-03-08T18:13:21Z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