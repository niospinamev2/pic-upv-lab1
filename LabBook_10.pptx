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4"/>
  </p:notesMasterIdLst>
  <p:handoutMasterIdLst>
    <p:handoutMasterId r:id="rId15"/>
  </p:handoutMasterIdLst>
  <p:sldIdLst>
    <p:sldId id="256" r:id="rId2"/>
    <p:sldId id="295" r:id="rId3"/>
    <p:sldId id="303" r:id="rId4"/>
    <p:sldId id="292" r:id="rId5"/>
    <p:sldId id="305" r:id="rId6"/>
    <p:sldId id="297" r:id="rId7"/>
    <p:sldId id="304" r:id="rId8"/>
    <p:sldId id="293" r:id="rId9"/>
    <p:sldId id="300" r:id="rId10"/>
    <p:sldId id="301" r:id="rId11"/>
    <p:sldId id="302" r:id="rId12"/>
    <p:sldId id="288" r:id="rId13"/>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43A380-F68D-4B97-8CF0-04FACEB71A64}" v="8" dt="2026-02-16T10:00:04.333"/>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varScale="1">
        <p:scale>
          <a:sx n="82" d="100"/>
          <a:sy n="82" d="100"/>
        </p:scale>
        <p:origin x="1152" y="7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E6287060-0277-4BCC-9556-78F4A9113EC4}"/>
    <pc:docChg chg="custSel addSld delSld modSld">
      <pc:chgData name="Christian Camilo Cano Vasquez" userId="8c73a2a4-758b-4e34-81ed-39462e48bd92" providerId="ADAL" clId="{E6287060-0277-4BCC-9556-78F4A9113EC4}" dt="2026-02-16T10:00:04.333" v="112"/>
      <pc:docMkLst>
        <pc:docMk/>
      </pc:docMkLst>
      <pc:sldChg chg="addSp delSp modSp mod">
        <pc:chgData name="Christian Camilo Cano Vasquez" userId="8c73a2a4-758b-4e34-81ed-39462e48bd92" providerId="ADAL" clId="{E6287060-0277-4BCC-9556-78F4A9113EC4}" dt="2026-02-16T09:54:36.314" v="109" actId="20577"/>
        <pc:sldMkLst>
          <pc:docMk/>
          <pc:sldMk cId="730501311" sldId="290"/>
        </pc:sldMkLst>
        <pc:spChg chg="add mod">
          <ac:chgData name="Christian Camilo Cano Vasquez" userId="8c73a2a4-758b-4e34-81ed-39462e48bd92" providerId="ADAL" clId="{E6287060-0277-4BCC-9556-78F4A9113EC4}" dt="2026-02-16T09:48:48.742" v="10" actId="1076"/>
          <ac:spMkLst>
            <pc:docMk/>
            <pc:sldMk cId="730501311" sldId="290"/>
            <ac:spMk id="2" creationId="{029F2FF9-FEB4-7AA3-B3B4-EFA9CFA0E230}"/>
          </ac:spMkLst>
        </pc:spChg>
        <pc:spChg chg="add mod">
          <ac:chgData name="Christian Camilo Cano Vasquez" userId="8c73a2a4-758b-4e34-81ed-39462e48bd92" providerId="ADAL" clId="{E6287060-0277-4BCC-9556-78F4A9113EC4}" dt="2026-02-16T09:49:37.395" v="33" actId="20577"/>
          <ac:spMkLst>
            <pc:docMk/>
            <pc:sldMk cId="730501311" sldId="290"/>
            <ac:spMk id="4" creationId="{C2C94B57-6111-4070-F6BA-8C3B9C305618}"/>
          </ac:spMkLst>
        </pc:spChg>
        <pc:spChg chg="del">
          <ac:chgData name="Christian Camilo Cano Vasquez" userId="8c73a2a4-758b-4e34-81ed-39462e48bd92" providerId="ADAL" clId="{E6287060-0277-4BCC-9556-78F4A9113EC4}" dt="2026-02-16T09:48:32.837" v="5" actId="478"/>
          <ac:spMkLst>
            <pc:docMk/>
            <pc:sldMk cId="730501311" sldId="290"/>
            <ac:spMk id="7" creationId="{F917B3AA-589C-A90A-EE95-EE60C6D04663}"/>
          </ac:spMkLst>
        </pc:spChg>
        <pc:spChg chg="del">
          <ac:chgData name="Christian Camilo Cano Vasquez" userId="8c73a2a4-758b-4e34-81ed-39462e48bd92" providerId="ADAL" clId="{E6287060-0277-4BCC-9556-78F4A9113EC4}" dt="2026-02-16T09:48:32.837" v="5" actId="478"/>
          <ac:spMkLst>
            <pc:docMk/>
            <pc:sldMk cId="730501311" sldId="290"/>
            <ac:spMk id="9" creationId="{793F5757-34AB-6F24-0981-9F1F15A0ADF8}"/>
          </ac:spMkLst>
        </pc:spChg>
        <pc:spChg chg="del">
          <ac:chgData name="Christian Camilo Cano Vasquez" userId="8c73a2a4-758b-4e34-81ed-39462e48bd92" providerId="ADAL" clId="{E6287060-0277-4BCC-9556-78F4A9113EC4}" dt="2026-02-16T09:48:35.096" v="6" actId="478"/>
          <ac:spMkLst>
            <pc:docMk/>
            <pc:sldMk cId="730501311" sldId="290"/>
            <ac:spMk id="11" creationId="{8BD4C233-B5D9-B6AA-93A8-CF2F130CFF9C}"/>
          </ac:spMkLst>
        </pc:spChg>
        <pc:spChg chg="mod">
          <ac:chgData name="Christian Camilo Cano Vasquez" userId="8c73a2a4-758b-4e34-81ed-39462e48bd92" providerId="ADAL" clId="{E6287060-0277-4BCC-9556-78F4A9113EC4}" dt="2026-02-16T09:54:36.314" v="109" actId="20577"/>
          <ac:spMkLst>
            <pc:docMk/>
            <pc:sldMk cId="730501311" sldId="290"/>
            <ac:spMk id="16" creationId="{471E1424-6C4B-2D9A-1352-30AFB987AD41}"/>
          </ac:spMkLst>
        </pc:spChg>
      </pc:sldChg>
      <pc:sldChg chg="modSp add del mod">
        <pc:chgData name="Christian Camilo Cano Vasquez" userId="8c73a2a4-758b-4e34-81ed-39462e48bd92" providerId="ADAL" clId="{E6287060-0277-4BCC-9556-78F4A9113EC4}" dt="2026-02-16T09:54:44.707" v="111" actId="20577"/>
        <pc:sldMkLst>
          <pc:docMk/>
          <pc:sldMk cId="2900117438" sldId="292"/>
        </pc:sldMkLst>
        <pc:spChg chg="mod">
          <ac:chgData name="Christian Camilo Cano Vasquez" userId="8c73a2a4-758b-4e34-81ed-39462e48bd92" providerId="ADAL" clId="{E6287060-0277-4BCC-9556-78F4A9113EC4}" dt="2026-02-16T09:51:39.768" v="80" actId="313"/>
          <ac:spMkLst>
            <pc:docMk/>
            <pc:sldMk cId="2900117438" sldId="292"/>
            <ac:spMk id="2" creationId="{82A62DD6-5488-72A1-9926-0CAEE59089A9}"/>
          </ac:spMkLst>
        </pc:spChg>
        <pc:spChg chg="mod">
          <ac:chgData name="Christian Camilo Cano Vasquez" userId="8c73a2a4-758b-4e34-81ed-39462e48bd92" providerId="ADAL" clId="{E6287060-0277-4BCC-9556-78F4A9113EC4}" dt="2026-02-16T09:54:44.707" v="111" actId="20577"/>
          <ac:spMkLst>
            <pc:docMk/>
            <pc:sldMk cId="2900117438" sldId="292"/>
            <ac:spMk id="16" creationId="{6AA2E789-F7AE-F068-274C-E0F13A22DBCA}"/>
          </ac:spMkLst>
        </pc:spChg>
      </pc:sldChg>
      <pc:sldChg chg="modSp add del mod">
        <pc:chgData name="Christian Camilo Cano Vasquez" userId="8c73a2a4-758b-4e34-81ed-39462e48bd92" providerId="ADAL" clId="{E6287060-0277-4BCC-9556-78F4A9113EC4}" dt="2026-02-16T09:50:51.822" v="37" actId="20577"/>
        <pc:sldMkLst>
          <pc:docMk/>
          <pc:sldMk cId="3660438245" sldId="293"/>
        </pc:sldMkLst>
        <pc:spChg chg="mod">
          <ac:chgData name="Christian Camilo Cano Vasquez" userId="8c73a2a4-758b-4e34-81ed-39462e48bd92" providerId="ADAL" clId="{E6287060-0277-4BCC-9556-78F4A9113EC4}" dt="2026-02-16T09:45:25.127" v="4" actId="115"/>
          <ac:spMkLst>
            <pc:docMk/>
            <pc:sldMk cId="3660438245" sldId="293"/>
            <ac:spMk id="2" creationId="{FDE3A197-9508-F9F1-1FEB-FF883D78C151}"/>
          </ac:spMkLst>
        </pc:spChg>
        <pc:spChg chg="mod">
          <ac:chgData name="Christian Camilo Cano Vasquez" userId="8c73a2a4-758b-4e34-81ed-39462e48bd92" providerId="ADAL" clId="{E6287060-0277-4BCC-9556-78F4A9113EC4}" dt="2026-02-16T09:50:51.822" v="37" actId="20577"/>
          <ac:spMkLst>
            <pc:docMk/>
            <pc:sldMk cId="3660438245" sldId="293"/>
            <ac:spMk id="16" creationId="{742C31CE-19F0-B995-0997-9A2D6A879BF7}"/>
          </ac:spMkLst>
        </pc:spChg>
      </pc:sldChg>
      <pc:sldChg chg="modSp mod">
        <pc:chgData name="Christian Camilo Cano Vasquez" userId="8c73a2a4-758b-4e34-81ed-39462e48bd92" providerId="ADAL" clId="{E6287060-0277-4BCC-9556-78F4A9113EC4}" dt="2026-02-16T10:00:04.333" v="112"/>
        <pc:sldMkLst>
          <pc:docMk/>
          <pc:sldMk cId="473922805" sldId="295"/>
        </pc:sldMkLst>
        <pc:spChg chg="mod">
          <ac:chgData name="Christian Camilo Cano Vasquez" userId="8c73a2a4-758b-4e34-81ed-39462e48bd92" providerId="ADAL" clId="{E6287060-0277-4BCC-9556-78F4A9113EC4}" dt="2026-02-16T10:00:04.333" v="112"/>
          <ac:spMkLst>
            <pc:docMk/>
            <pc:sldMk cId="473922805" sldId="295"/>
            <ac:spMk id="4" creationId="{9F7BC140-B3D8-C3CB-55AD-9064C7CDE9CA}"/>
          </ac:spMkLst>
        </pc:spChg>
      </pc:sldChg>
      <pc:sldChg chg="del">
        <pc:chgData name="Christian Camilo Cano Vasquez" userId="8c73a2a4-758b-4e34-81ed-39462e48bd92" providerId="ADAL" clId="{E6287060-0277-4BCC-9556-78F4A9113EC4}" dt="2026-02-16T09:50:39.931" v="34" actId="47"/>
        <pc:sldMkLst>
          <pc:docMk/>
          <pc:sldMk cId="1245186850" sldId="296"/>
        </pc:sldMkLst>
      </pc:sldChg>
      <pc:sldChg chg="modSp add del">
        <pc:chgData name="Christian Camilo Cano Vasquez" userId="8c73a2a4-758b-4e34-81ed-39462e48bd92" providerId="ADAL" clId="{E6287060-0277-4BCC-9556-78F4A9113EC4}" dt="2026-02-16T09:50:57.288" v="39" actId="20577"/>
        <pc:sldMkLst>
          <pc:docMk/>
          <pc:sldMk cId="236054401" sldId="297"/>
        </pc:sldMkLst>
        <pc:spChg chg="mod">
          <ac:chgData name="Christian Camilo Cano Vasquez" userId="8c73a2a4-758b-4e34-81ed-39462e48bd92" providerId="ADAL" clId="{E6287060-0277-4BCC-9556-78F4A9113EC4}" dt="2026-02-16T09:50:57.288" v="39" actId="20577"/>
          <ac:spMkLst>
            <pc:docMk/>
            <pc:sldMk cId="236054401" sldId="297"/>
            <ac:spMk id="16" creationId="{394400B4-EE16-8E85-AB54-E82FE3B2934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08/03/2026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08/03/2026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11CD6-01C8-141A-355C-D9D37FF2601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E96AB1D-C5B5-F145-EEAE-736125BB7A3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14E47A9-D86D-9C64-3D52-AC2A2116604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3BFF99E-312F-446C-5537-5C786FBE44A6}"/>
              </a:ext>
            </a:extLst>
          </p:cNvPr>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10678736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19223-2C93-5541-EB44-AB3A51762D5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7919821-F968-F138-FC3E-B31C11F49B6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2758D11-FD03-FBE9-1FA9-8BCF0B141AF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3C28B94-F730-3510-17A7-BD919142456B}"/>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966072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D2C71-CD59-3BD8-333E-7EA96AB9A27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5615D25-B039-1DA8-80F2-FC6D122E4CC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EC41004-3186-1F4B-2E4B-250101368A9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782D47A-62A3-8EEC-1456-3D0F9B0BC50C}"/>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10828222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EA54F4-C02B-7220-2D64-3A2AE385BFD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2456676-6849-3EC2-5B4F-FB09CD7F41F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2F146ED-6C4C-C8D0-1483-2CCD722AA58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A10541F-C9EE-11AB-1624-C3CCA9F77474}"/>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13181163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hyperlink" Target="https://github.com/cccanvas-upv/pic-upv-lab1"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6.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21.png"/><Relationship Id="rId7" Type="http://schemas.openxmlformats.org/officeDocument/2006/relationships/image" Target="../media/image4.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70.png"/><Relationship Id="rId4" Type="http://schemas.openxmlformats.org/officeDocument/2006/relationships/image" Target="../media/image22.png"/><Relationship Id="rId9" Type="http://schemas.openxmlformats.org/officeDocument/2006/relationships/image" Target="../media/image24.png"/></Relationships>
</file>

<file path=ppt/slides/_rels/slide7.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5.png"/><Relationship Id="rId7" Type="http://schemas.openxmlformats.org/officeDocument/2006/relationships/image" Target="../media/image2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29.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5.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1.0. </a:t>
            </a:r>
            <a:r>
              <a:rPr lang="es-ES" sz="3200" b="1" dirty="0" err="1">
                <a:latin typeface="Lucida Sans"/>
                <a:cs typeface="Lucida Sans"/>
              </a:rPr>
              <a:t>Waveguides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a:t>
            </a:r>
            <a:r>
              <a:rPr lang="es-ES" dirty="0" err="1">
                <a:hlinkClick r:id="rId4"/>
              </a:rPr>
              <a:t>cccanvas-upv</a:t>
            </a:r>
            <a:r>
              <a:rPr lang="es-ES">
                <a:hlinkClick r:id="rId4"/>
              </a:rPr>
              <a:t>/pic-upv-lab1</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WAVEGUIDES_Student.ipynb</a:t>
            </a:r>
            <a:r>
              <a:rPr lang="en-US" kern="0" dirty="0">
                <a:solidFill>
                  <a:sysClr val="windowText" lastClr="000000"/>
                </a:solidFill>
              </a:rPr>
              <a:t> </a:t>
            </a:r>
          </a:p>
          <a:p>
            <a:pPr algn="just"/>
            <a:endParaRPr lang="en-US" sz="2000" b="1" i="1" u="sng"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5F63A-5025-7AC2-6AC5-BC528C871FF3}"/>
            </a:ext>
          </a:extLst>
        </p:cNvPr>
        <p:cNvGrpSpPr/>
        <p:nvPr/>
      </p:nvGrpSpPr>
      <p:grpSpPr>
        <a:xfrm>
          <a:off x="0" y="0"/>
          <a:ext cx="0" cy="0"/>
          <a:chOff x="0" y="0"/>
          <a:chExt cx="0" cy="0"/>
        </a:xfrm>
      </p:grpSpPr>
      <p:pic>
        <p:nvPicPr>
          <p:cNvPr id="18" name="Picture 17">
            <a:extLst>
              <a:ext uri="{FF2B5EF4-FFF2-40B4-BE49-F238E27FC236}">
                <a16:creationId xmlns:a16="http://schemas.microsoft.com/office/drawing/2014/main" id="{1B159F2F-CE1B-F6DE-30C4-E89CCE62C4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9349" y="963638"/>
            <a:ext cx="5349251" cy="4023368"/>
          </a:xfrm>
          <a:prstGeom prst="rect">
            <a:avLst/>
          </a:prstGeom>
        </p:spPr>
      </p:pic>
      <p:pic>
        <p:nvPicPr>
          <p:cNvPr id="5" name="Picture 4">
            <a:extLst>
              <a:ext uri="{FF2B5EF4-FFF2-40B4-BE49-F238E27FC236}">
                <a16:creationId xmlns:a16="http://schemas.microsoft.com/office/drawing/2014/main" id="{08D88ABA-24EF-67E5-C111-90843BF8405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9966" y="949916"/>
            <a:ext cx="5349251" cy="4023368"/>
          </a:xfrm>
          <a:prstGeom prst="rect">
            <a:avLst/>
          </a:prstGeom>
        </p:spPr>
      </p:pic>
      <p:sp>
        <p:nvSpPr>
          <p:cNvPr id="16" name="object 16">
            <a:extLst>
              <a:ext uri="{FF2B5EF4-FFF2-40B4-BE49-F238E27FC236}">
                <a16:creationId xmlns:a16="http://schemas.microsoft.com/office/drawing/2014/main" id="{2CEE214A-E652-D965-9CA2-25F2FC9AB727}"/>
              </a:ext>
            </a:extLst>
          </p:cNvPr>
          <p:cNvSpPr txBox="1">
            <a:spLocks noGrp="1"/>
          </p:cNvSpPr>
          <p:nvPr>
            <p:ph type="title"/>
          </p:nvPr>
        </p:nvSpPr>
        <p:spPr>
          <a:xfrm>
            <a:off x="685800" y="228600"/>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Convergence tests</a:t>
            </a:r>
            <a:br>
              <a:rPr lang="en-US" sz="2500" dirty="0"/>
            </a:br>
            <a:r>
              <a:rPr lang="nl-NL" b="0" dirty="0"/>
              <a:t>DE waveguide, w = 1.2 µm, neff_TE0, wvl 1.55 µm. </a:t>
            </a:r>
            <a:endParaRPr sz="2500" b="0" dirty="0">
              <a:latin typeface="+mj-lt"/>
              <a:cs typeface="Lucida Sans"/>
            </a:endParaRPr>
          </a:p>
        </p:txBody>
      </p:sp>
      <p:pic>
        <p:nvPicPr>
          <p:cNvPr id="83" name="Gráfico 82">
            <a:extLst>
              <a:ext uri="{FF2B5EF4-FFF2-40B4-BE49-F238E27FC236}">
                <a16:creationId xmlns:a16="http://schemas.microsoft.com/office/drawing/2014/main" id="{641B9F49-232E-2F92-4E7D-9819ECC7102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94393A10-BB8F-0FCD-60D4-09A69ECF3266}"/>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F234BD2B-3A3E-7574-615E-1BF4376BB055}"/>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10" name="CuadroTexto 9">
            <a:extLst>
              <a:ext uri="{FF2B5EF4-FFF2-40B4-BE49-F238E27FC236}">
                <a16:creationId xmlns:a16="http://schemas.microsoft.com/office/drawing/2014/main" id="{7ED40CBC-8196-E77D-9A4A-0548F52C83C3}"/>
              </a:ext>
            </a:extLst>
          </p:cNvPr>
          <p:cNvSpPr txBox="1"/>
          <p:nvPr/>
        </p:nvSpPr>
        <p:spPr>
          <a:xfrm>
            <a:off x="601313" y="4993620"/>
            <a:ext cx="11199971" cy="1200329"/>
          </a:xfrm>
          <a:prstGeom prst="rect">
            <a:avLst/>
          </a:prstGeom>
          <a:solidFill>
            <a:schemeClr val="bg1">
              <a:lumMod val="95000"/>
            </a:schemeClr>
          </a:solidFill>
          <a:ln w="28575">
            <a:solidFill>
              <a:srgbClr val="E0700D"/>
            </a:solidFill>
          </a:ln>
        </p:spPr>
        <p:txBody>
          <a:bodyPr wrap="square" rtlCol="0">
            <a:spAutoFit/>
          </a:bodyPr>
          <a:lstStyle/>
          <a:p>
            <a:r>
              <a:rPr lang="en-US" sz="1200" dirty="0"/>
              <a:t>The simulated waveguide is based on </a:t>
            </a:r>
            <a:r>
              <a:rPr lang="en-US" sz="1200" dirty="0" err="1"/>
              <a:t>Si₃N</a:t>
            </a:r>
            <a:r>
              <a:rPr lang="en-US" sz="1200" dirty="0"/>
              <a:t>₄ (Silicon Nitride) technology, with dimensions of 300 nm height and 1.2 um width. By performing simulations with different grid resolutions, it is observed that the effective refractive index stabilizes around an average value of </a:t>
            </a:r>
            <a:r>
              <a:rPr lang="en-US" sz="1200" dirty="0" err="1"/>
              <a:t>n_"eff</a:t>
            </a:r>
            <a:r>
              <a:rPr lang="en-US" sz="1200" dirty="0"/>
              <a:t>" ≈1.605.</a:t>
            </a:r>
          </a:p>
          <a:p>
            <a:r>
              <a:rPr lang="en-US" sz="1200" dirty="0"/>
              <a:t>For the grid resolution parameter, a larger value subdivides the computational cell into smaller elements, which increases numerical accuracy but also raises the computational cost. Since the objective is to reduce the simulation time a grid resolution of 20 points per micron is selected.</a:t>
            </a:r>
          </a:p>
          <a:p>
            <a:r>
              <a:rPr lang="en-US" sz="1200" dirty="0"/>
              <a:t>For the variation of </a:t>
            </a:r>
            <a:r>
              <a:rPr lang="en-US" sz="1200" dirty="0" err="1"/>
              <a:t>max_</a:t>
            </a:r>
            <a:r>
              <a:rPr lang="en-US" sz="1200" i="1" dirty="0" err="1"/>
              <a:t>grid_scaling</a:t>
            </a:r>
            <a:r>
              <a:rPr lang="en-US" sz="1200" i="1" dirty="0"/>
              <a:t>, the grid resolution was fixed at 20, an average effective index of </a:t>
            </a:r>
            <a:r>
              <a:rPr lang="en-US" sz="1200" i="1" dirty="0" err="1"/>
              <a:t>n</a:t>
            </a:r>
            <a:r>
              <a:rPr lang="en-US" sz="1200" dirty="0" err="1"/>
              <a:t>"eff</a:t>
            </a:r>
            <a:r>
              <a:rPr lang="en-US" sz="1200" dirty="0"/>
              <a:t>" ≈1.605 is obtained. In this case, a smaller value of </a:t>
            </a:r>
            <a:r>
              <a:rPr lang="en-US" sz="1200" dirty="0" err="1"/>
              <a:t>max_grid_scaling</a:t>
            </a:r>
            <a:r>
              <a:rPr lang="en-US" sz="1200" dirty="0"/>
              <a:t> results in a finer mesh near material interfaces, improving accuracy but increasing the simulation time. To reduce the computational cost a value of 1.6 was selected.</a:t>
            </a:r>
          </a:p>
        </p:txBody>
      </p:sp>
      <p:sp>
        <p:nvSpPr>
          <p:cNvPr id="6" name="Rectángulo 5">
            <a:extLst>
              <a:ext uri="{FF2B5EF4-FFF2-40B4-BE49-F238E27FC236}">
                <a16:creationId xmlns:a16="http://schemas.microsoft.com/office/drawing/2014/main" id="{48E4A6A3-3CE6-3E98-3ED8-993A3F7A72B8}"/>
              </a:ext>
            </a:extLst>
          </p:cNvPr>
          <p:cNvSpPr/>
          <p:nvPr/>
        </p:nvSpPr>
        <p:spPr>
          <a:xfrm>
            <a:off x="601313" y="914400"/>
            <a:ext cx="5486559" cy="40370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ángulo 5">
            <a:extLst>
              <a:ext uri="{FF2B5EF4-FFF2-40B4-BE49-F238E27FC236}">
                <a16:creationId xmlns:a16="http://schemas.microsoft.com/office/drawing/2014/main" id="{77714C99-3808-A9BB-46F2-AAA528372A5D}"/>
              </a:ext>
            </a:extLst>
          </p:cNvPr>
          <p:cNvSpPr/>
          <p:nvPr/>
        </p:nvSpPr>
        <p:spPr>
          <a:xfrm>
            <a:off x="6324441" y="915910"/>
            <a:ext cx="5486559" cy="40370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127855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5636D0E0-60AE-1AEF-199A-E8B0C6B535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792" y="777231"/>
            <a:ext cx="10789941" cy="4480569"/>
          </a:xfrm>
          <a:prstGeom prst="rect">
            <a:avLst/>
          </a:prstGeom>
        </p:spPr>
      </p:pic>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152400" y="137160"/>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dirty="0"/>
              <a:t>LAB 0.1. MODESOLVER</a:t>
            </a:r>
          </a:p>
        </p:txBody>
      </p:sp>
      <p:sp>
        <p:nvSpPr>
          <p:cNvPr id="2" name="CuadroTexto 1">
            <a:extLst>
              <a:ext uri="{FF2B5EF4-FFF2-40B4-BE49-F238E27FC236}">
                <a16:creationId xmlns:a16="http://schemas.microsoft.com/office/drawing/2014/main" id="{82A62DD6-5488-72A1-9926-0CAEE59089A9}"/>
              </a:ext>
            </a:extLst>
          </p:cNvPr>
          <p:cNvSpPr txBox="1"/>
          <p:nvPr/>
        </p:nvSpPr>
        <p:spPr>
          <a:xfrm>
            <a:off x="607886" y="5263583"/>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As the waveguide width increases, the optical mode becomes more confined within the core, reducing the field penetration into the cladding. Consequently, the effective refractive index increases and approaches the refractive index of the silicon nitride core.</a:t>
            </a:r>
          </a:p>
          <a:p>
            <a:pPr algn="just"/>
            <a:r>
              <a:rPr lang="en-US" sz="1200" dirty="0">
                <a:latin typeface="Arial" panose="020B0604020202020204" pitchFamily="34" charset="0"/>
                <a:cs typeface="Arial" panose="020B0604020202020204" pitchFamily="34" charset="0"/>
              </a:rPr>
              <a:t>In addition, the polarization of the modes is also affected by the waveguide width. TE and TM modes experience different levels of confinement due to their field distributions, which leads to changes in their TE and TM proportions however this phenomenon is better appreciated on Si core waveguides.</a:t>
            </a: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7886" y="846874"/>
            <a:ext cx="11199971" cy="4334725"/>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00117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4" name="Rectangle 23">
                <a:extLst>
                  <a:ext uri="{FF2B5EF4-FFF2-40B4-BE49-F238E27FC236}">
                    <a16:creationId xmlns:a16="http://schemas.microsoft.com/office/drawing/2014/main" id="{9354D1F9-7CAA-F960-BDE4-6051891B75F6}"/>
                  </a:ext>
                </a:extLst>
              </p:cNvPr>
              <p:cNvSpPr/>
              <p:nvPr/>
            </p:nvSpPr>
            <p:spPr>
              <a:xfrm>
                <a:off x="754380" y="1402224"/>
                <a:ext cx="5181600" cy="4800600"/>
              </a:xfrm>
              <a:prstGeom prst="rect">
                <a:avLst/>
              </a:prstGeom>
              <a:solidFill>
                <a:srgbClr val="F2F2F2"/>
              </a:solidFill>
            </p:spPr>
            <p:style>
              <a:lnRef idx="2">
                <a:schemeClr val="accent6"/>
              </a:lnRef>
              <a:fillRef idx="1">
                <a:schemeClr val="lt1"/>
              </a:fillRef>
              <a:effectRef idx="0">
                <a:schemeClr val="accent6"/>
              </a:effectRef>
              <a:fontRef idx="minor">
                <a:schemeClr val="dk1"/>
              </a:fontRef>
            </p:style>
            <p:txBody>
              <a:bodyPr rtlCol="0" anchor="t"/>
              <a:lstStyle/>
              <a:p>
                <a:pPr algn="ctr"/>
                <a:r>
                  <a:rPr lang="en-US" dirty="0">
                    <a:solidFill>
                      <a:schemeClr val="accent6">
                        <a:lumMod val="75000"/>
                      </a:schemeClr>
                    </a:solidFill>
                  </a:rPr>
                  <a:t>Group index of the guided mode</a:t>
                </a:r>
              </a:p>
              <a:p>
                <a:pPr algn="just"/>
                <a:r>
                  <a:rPr lang="en-US" dirty="0"/>
                  <a:t>Considering the first derivative of </a:t>
                </a:r>
                <a14:m>
                  <m:oMath xmlns:m="http://schemas.openxmlformats.org/officeDocument/2006/math">
                    <m:sSub>
                      <m:sSubPr>
                        <m:ctrlPr>
                          <a:rPr lang="es-CO" i="1">
                            <a:latin typeface="Cambria Math" panose="02040503050406030204" pitchFamily="18" charset="0"/>
                          </a:rPr>
                        </m:ctrlPr>
                      </m:sSubPr>
                      <m:e>
                        <m:r>
                          <a:rPr lang="es-CO" i="1">
                            <a:latin typeface="Cambria Math" panose="02040503050406030204" pitchFamily="18" charset="0"/>
                          </a:rPr>
                          <m:t>𝑛</m:t>
                        </m:r>
                      </m:e>
                      <m:sub>
                        <m:r>
                          <m:rPr>
                            <m:sty m:val="p"/>
                          </m:rPr>
                          <a:rPr lang="es-CO">
                            <a:latin typeface="Cambria Math" panose="02040503050406030204" pitchFamily="18" charset="0"/>
                          </a:rPr>
                          <m:t>eff</m:t>
                        </m:r>
                      </m:sub>
                    </m:sSub>
                    <m:d>
                      <m:dPr>
                        <m:ctrlPr>
                          <a:rPr lang="es-CO" i="1">
                            <a:latin typeface="Cambria Math" panose="02040503050406030204" pitchFamily="18" charset="0"/>
                          </a:rPr>
                        </m:ctrlPr>
                      </m:dPr>
                      <m:e>
                        <m:r>
                          <a:rPr lang="es-CO" i="1">
                            <a:latin typeface="Cambria Math" panose="02040503050406030204" pitchFamily="18" charset="0"/>
                          </a:rPr>
                          <m:t>𝜆</m:t>
                        </m:r>
                      </m:e>
                    </m:d>
                  </m:oMath>
                </a14:m>
                <a:r>
                  <a:rPr lang="en-US" dirty="0"/>
                  <a:t> with respect to </a:t>
                </a:r>
                <a14:m>
                  <m:oMath xmlns:m="http://schemas.openxmlformats.org/officeDocument/2006/math">
                    <m:r>
                      <a:rPr lang="es-CO" i="1">
                        <a:latin typeface="Cambria Math" panose="02040503050406030204" pitchFamily="18" charset="0"/>
                      </a:rPr>
                      <m:t>𝜆</m:t>
                    </m:r>
                  </m:oMath>
                </a14:m>
                <a:endParaRPr lang="en-US" dirty="0"/>
              </a:p>
              <a:p>
                <a:pPr algn="just"/>
                <a:endParaRPr lang="en-US" dirty="0"/>
              </a:p>
              <a:p>
                <a:pPr algn="just"/>
                <a:endParaRPr lang="en-US" dirty="0"/>
              </a:p>
              <a:p>
                <a:pPr algn="just"/>
                <a:r>
                  <a:rPr lang="en-US" dirty="0"/>
                  <a:t>If evaluated at the central wavelength </a:t>
                </a:r>
                <a14:m>
                  <m:oMath xmlns:m="http://schemas.openxmlformats.org/officeDocument/2006/math">
                    <m:sSub>
                      <m:sSubPr>
                        <m:ctrlPr>
                          <a:rPr lang="es-CO" i="1">
                            <a:latin typeface="Cambria Math" panose="02040503050406030204" pitchFamily="18" charset="0"/>
                          </a:rPr>
                        </m:ctrlPr>
                      </m:sSubPr>
                      <m:e>
                        <m:r>
                          <a:rPr lang="es-CO" i="1">
                            <a:latin typeface="Cambria Math" panose="02040503050406030204" pitchFamily="18" charset="0"/>
                          </a:rPr>
                          <m:t>𝜆</m:t>
                        </m:r>
                        <m:r>
                          <a:rPr lang="es-MX" i="1">
                            <a:latin typeface="Cambria Math" panose="02040503050406030204" pitchFamily="18" charset="0"/>
                          </a:rPr>
                          <m:t>=</m:t>
                        </m:r>
                        <m:r>
                          <a:rPr lang="es-CO" i="1">
                            <a:latin typeface="Cambria Math" panose="02040503050406030204" pitchFamily="18" charset="0"/>
                          </a:rPr>
                          <m:t>𝜆</m:t>
                        </m:r>
                      </m:e>
                      <m:sub>
                        <m:r>
                          <a:rPr lang="es-CO">
                            <a:latin typeface="Cambria Math" panose="02040503050406030204" pitchFamily="18" charset="0"/>
                          </a:rPr>
                          <m:t>0</m:t>
                        </m:r>
                      </m:sub>
                    </m:sSub>
                  </m:oMath>
                </a14:m>
                <a:endParaRPr lang="en-US" dirty="0"/>
              </a:p>
            </p:txBody>
          </p:sp>
        </mc:Choice>
        <mc:Fallback>
          <p:sp>
            <p:nvSpPr>
              <p:cNvPr id="24" name="Rectangle 23">
                <a:extLst>
                  <a:ext uri="{FF2B5EF4-FFF2-40B4-BE49-F238E27FC236}">
                    <a16:creationId xmlns:a16="http://schemas.microsoft.com/office/drawing/2014/main" id="{9354D1F9-7CAA-F960-BDE4-6051891B75F6}"/>
                  </a:ext>
                </a:extLst>
              </p:cNvPr>
              <p:cNvSpPr>
                <a:spLocks noRot="1" noChangeAspect="1" noMove="1" noResize="1" noEditPoints="1" noAdjustHandles="1" noChangeArrowheads="1" noChangeShapeType="1" noTextEdit="1"/>
              </p:cNvSpPr>
              <p:nvPr/>
            </p:nvSpPr>
            <p:spPr>
              <a:xfrm>
                <a:off x="754380" y="1402224"/>
                <a:ext cx="5181600" cy="4800600"/>
              </a:xfrm>
              <a:prstGeom prst="rect">
                <a:avLst/>
              </a:prstGeom>
              <a:blipFill>
                <a:blip r:embed="rId2"/>
                <a:stretch>
                  <a:fillRect l="-820" t="-379" r="-703"/>
                </a:stretch>
              </a:blipFill>
            </p:spPr>
            <p:txBody>
              <a:bodyPr/>
              <a:lstStyle/>
              <a:p>
                <a:r>
                  <a:rPr lang="es-CO">
                    <a:noFill/>
                  </a:rPr>
                  <a:t> </a:t>
                </a:r>
              </a:p>
            </p:txBody>
          </p:sp>
        </mc:Fallback>
      </mc:AlternateContent>
      <p:sp>
        <p:nvSpPr>
          <p:cNvPr id="4" name="Footer Placeholder 3">
            <a:extLst>
              <a:ext uri="{FF2B5EF4-FFF2-40B4-BE49-F238E27FC236}">
                <a16:creationId xmlns:a16="http://schemas.microsoft.com/office/drawing/2014/main" id="{D46F2A7F-4C55-5710-3ED2-B7DC1FAE0BC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Slide Number Placeholder 4">
            <a:extLst>
              <a:ext uri="{FF2B5EF4-FFF2-40B4-BE49-F238E27FC236}">
                <a16:creationId xmlns:a16="http://schemas.microsoft.com/office/drawing/2014/main" id="{D40DE6D9-5E39-1814-A401-471233B9DD17}"/>
              </a:ext>
            </a:extLst>
          </p:cNvPr>
          <p:cNvSpPr>
            <a:spLocks noGrp="1"/>
          </p:cNvSpPr>
          <p:nvPr>
            <p:ph type="sldNum" sz="quarter" idx="7"/>
          </p:nvPr>
        </p:nvSpPr>
        <p:spPr>
          <a:xfrm>
            <a:off x="9311640" y="6362700"/>
            <a:ext cx="2804160" cy="342900"/>
          </a:xfrm>
        </p:spPr>
        <p:txBody>
          <a:bodyPr/>
          <a:lstStyle/>
          <a:p>
            <a:fld id="{B6F15528-21DE-4FAA-801E-634DDDAF4B2B}" type="slidenum">
              <a:rPr lang="es-CO" smtClean="0"/>
              <a:t>5</a:t>
            </a:fld>
            <a:endParaRPr lang="es-CO" dirty="0"/>
          </a:p>
        </p:txBody>
      </p: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9F52424B-6A2D-C225-171F-318174D3582B}"/>
                  </a:ext>
                </a:extLst>
              </p:cNvPr>
              <p:cNvSpPr txBox="1"/>
              <p:nvPr/>
            </p:nvSpPr>
            <p:spPr>
              <a:xfrm>
                <a:off x="1295400" y="2164420"/>
                <a:ext cx="4099560" cy="6183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s-CO" i="1" smtClean="0">
                              <a:latin typeface="Cambria Math" panose="02040503050406030204" pitchFamily="18" charset="0"/>
                            </a:rPr>
                          </m:ctrlPr>
                        </m:mPr>
                        <m:mr>
                          <m:e>
                            <m:f>
                              <m:fPr>
                                <m:ctrlPr>
                                  <a:rPr lang="es-CO" i="1">
                                    <a:latin typeface="Cambria Math" panose="02040503050406030204" pitchFamily="18" charset="0"/>
                                  </a:rPr>
                                </m:ctrlPr>
                              </m:fPr>
                              <m:num>
                                <m:r>
                                  <a:rPr lang="es-CO" i="1">
                                    <a:latin typeface="Cambria Math" panose="02040503050406030204" pitchFamily="18" charset="0"/>
                                  </a:rPr>
                                  <m:t>𝑑</m:t>
                                </m:r>
                                <m:sSub>
                                  <m:sSubPr>
                                    <m:ctrlPr>
                                      <a:rPr lang="es-CO" i="1">
                                        <a:latin typeface="Cambria Math" panose="02040503050406030204" pitchFamily="18" charset="0"/>
                                      </a:rPr>
                                    </m:ctrlPr>
                                  </m:sSubPr>
                                  <m:e>
                                    <m:r>
                                      <a:rPr lang="es-CO" i="1">
                                        <a:latin typeface="Cambria Math" panose="02040503050406030204" pitchFamily="18" charset="0"/>
                                      </a:rPr>
                                      <m:t>𝑛</m:t>
                                    </m:r>
                                  </m:e>
                                  <m:sub>
                                    <m:r>
                                      <m:rPr>
                                        <m:sty m:val="p"/>
                                      </m:rPr>
                                      <a:rPr lang="es-CO" i="0">
                                        <a:latin typeface="Cambria Math" panose="02040503050406030204" pitchFamily="18" charset="0"/>
                                      </a:rPr>
                                      <m:t>eff</m:t>
                                    </m:r>
                                  </m:sub>
                                </m:sSub>
                              </m:num>
                              <m:den>
                                <m:r>
                                  <a:rPr lang="es-CO" i="1">
                                    <a:latin typeface="Cambria Math" panose="02040503050406030204" pitchFamily="18" charset="0"/>
                                  </a:rPr>
                                  <m:t>𝑑</m:t>
                                </m:r>
                                <m:r>
                                  <a:rPr lang="es-CO" i="1">
                                    <a:latin typeface="Cambria Math" panose="02040503050406030204" pitchFamily="18" charset="0"/>
                                  </a:rPr>
                                  <m:t>𝜆</m:t>
                                </m:r>
                              </m:den>
                            </m:f>
                            <m:r>
                              <a:rPr lang="es-CO" i="0">
                                <a:latin typeface="Cambria Math" panose="02040503050406030204" pitchFamily="18" charset="0"/>
                              </a:rPr>
                              <m:t>=</m:t>
                            </m:r>
                            <m:sSub>
                              <m:sSubPr>
                                <m:ctrlPr>
                                  <a:rPr lang="es-CO" i="1">
                                    <a:latin typeface="Cambria Math" panose="02040503050406030204" pitchFamily="18" charset="0"/>
                                  </a:rPr>
                                </m:ctrlPr>
                              </m:sSubPr>
                              <m:e>
                                <m:r>
                                  <a:rPr lang="es-CO" i="1">
                                    <a:latin typeface="Cambria Math" panose="02040503050406030204" pitchFamily="18" charset="0"/>
                                  </a:rPr>
                                  <m:t>𝑛</m:t>
                                </m:r>
                              </m:e>
                              <m:sub>
                                <m:r>
                                  <a:rPr lang="es-CO" i="0">
                                    <a:latin typeface="Cambria Math" panose="02040503050406030204" pitchFamily="18" charset="0"/>
                                  </a:rPr>
                                  <m:t>2</m:t>
                                </m:r>
                              </m:sub>
                            </m:sSub>
                            <m:r>
                              <a:rPr lang="es-CO" i="0">
                                <a:latin typeface="Cambria Math" panose="02040503050406030204" pitchFamily="18" charset="0"/>
                              </a:rPr>
                              <m:t>+</m:t>
                            </m:r>
                            <m:r>
                              <a:rPr lang="es-CO" i="0">
                                <a:latin typeface="Cambria Math" panose="02040503050406030204" pitchFamily="18" charset="0"/>
                              </a:rPr>
                              <m:t>2</m:t>
                            </m:r>
                            <m:sSub>
                              <m:sSubPr>
                                <m:ctrlPr>
                                  <a:rPr lang="es-CO" i="1">
                                    <a:latin typeface="Cambria Math" panose="02040503050406030204" pitchFamily="18" charset="0"/>
                                  </a:rPr>
                                </m:ctrlPr>
                              </m:sSubPr>
                              <m:e>
                                <m:r>
                                  <a:rPr lang="es-CO" i="1">
                                    <a:latin typeface="Cambria Math" panose="02040503050406030204" pitchFamily="18" charset="0"/>
                                  </a:rPr>
                                  <m:t>𝑛</m:t>
                                </m:r>
                              </m:e>
                              <m:sub>
                                <m:r>
                                  <a:rPr lang="es-CO" i="0">
                                    <a:latin typeface="Cambria Math" panose="02040503050406030204" pitchFamily="18" charset="0"/>
                                  </a:rPr>
                                  <m:t>3</m:t>
                                </m:r>
                              </m:sub>
                            </m:sSub>
                            <m:d>
                              <m:dPr>
                                <m:ctrlPr>
                                  <a:rPr lang="es-CO" i="1">
                                    <a:latin typeface="Cambria Math" panose="02040503050406030204" pitchFamily="18" charset="0"/>
                                  </a:rPr>
                                </m:ctrlPr>
                              </m:dPr>
                              <m:e>
                                <m:r>
                                  <a:rPr lang="es-CO" i="1">
                                    <a:latin typeface="Cambria Math" panose="02040503050406030204" pitchFamily="18" charset="0"/>
                                  </a:rPr>
                                  <m:t>𝜆</m:t>
                                </m:r>
                                <m:r>
                                  <a:rPr lang="es-CO" i="0">
                                    <a:latin typeface="Cambria Math" panose="02040503050406030204" pitchFamily="18" charset="0"/>
                                  </a:rPr>
                                  <m:t>−</m:t>
                                </m:r>
                                <m:sSub>
                                  <m:sSubPr>
                                    <m:ctrlPr>
                                      <a:rPr lang="es-CO" i="1">
                                        <a:latin typeface="Cambria Math" panose="02040503050406030204" pitchFamily="18" charset="0"/>
                                      </a:rPr>
                                    </m:ctrlPr>
                                  </m:sSubPr>
                                  <m:e>
                                    <m:r>
                                      <a:rPr lang="es-CO" i="1">
                                        <a:latin typeface="Cambria Math" panose="02040503050406030204" pitchFamily="18" charset="0"/>
                                      </a:rPr>
                                      <m:t>𝜆</m:t>
                                    </m:r>
                                  </m:e>
                                  <m:sub>
                                    <m:r>
                                      <a:rPr lang="es-CO" i="0">
                                        <a:latin typeface="Cambria Math" panose="02040503050406030204" pitchFamily="18" charset="0"/>
                                      </a:rPr>
                                      <m:t>0</m:t>
                                    </m:r>
                                  </m:sub>
                                </m:sSub>
                              </m:e>
                            </m:d>
                          </m:e>
                        </m:mr>
                      </m:m>
                    </m:oMath>
                  </m:oMathPara>
                </a14:m>
                <a:endParaRPr lang="es-CO" dirty="0"/>
              </a:p>
            </p:txBody>
          </p:sp>
        </mc:Choice>
        <mc:Fallback>
          <p:sp>
            <p:nvSpPr>
              <p:cNvPr id="13" name="TextBox 12">
                <a:extLst>
                  <a:ext uri="{FF2B5EF4-FFF2-40B4-BE49-F238E27FC236}">
                    <a16:creationId xmlns:a16="http://schemas.microsoft.com/office/drawing/2014/main" id="{9F52424B-6A2D-C225-171F-318174D3582B}"/>
                  </a:ext>
                </a:extLst>
              </p:cNvPr>
              <p:cNvSpPr txBox="1">
                <a:spLocks noRot="1" noChangeAspect="1" noMove="1" noResize="1" noEditPoints="1" noAdjustHandles="1" noChangeArrowheads="1" noChangeShapeType="1" noTextEdit="1"/>
              </p:cNvSpPr>
              <p:nvPr/>
            </p:nvSpPr>
            <p:spPr>
              <a:xfrm>
                <a:off x="1295400" y="2164420"/>
                <a:ext cx="4099560" cy="618311"/>
              </a:xfrm>
              <a:prstGeom prst="rect">
                <a:avLst/>
              </a:prstGeom>
              <a:blipFill>
                <a:blip r:embed="rId3"/>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2327856F-C7E8-CAA1-A763-87593E7863D6}"/>
                  </a:ext>
                </a:extLst>
              </p:cNvPr>
              <p:cNvSpPr txBox="1"/>
              <p:nvPr/>
            </p:nvSpPr>
            <p:spPr>
              <a:xfrm>
                <a:off x="1943100" y="4388254"/>
                <a:ext cx="2804160" cy="6183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s-CO" i="1" smtClean="0">
                              <a:latin typeface="Cambria Math" panose="02040503050406030204" pitchFamily="18" charset="0"/>
                            </a:rPr>
                          </m:ctrlPr>
                        </m:mPr>
                        <m:mr>
                          <m:e>
                            <m:sSub>
                              <m:sSubPr>
                                <m:ctrlPr>
                                  <a:rPr lang="es-CO" i="1">
                                    <a:latin typeface="Cambria Math" panose="02040503050406030204" pitchFamily="18" charset="0"/>
                                  </a:rPr>
                                </m:ctrlPr>
                              </m:sSubPr>
                              <m:e>
                                <m:r>
                                  <a:rPr lang="es-CO" i="1">
                                    <a:latin typeface="Cambria Math" panose="02040503050406030204" pitchFamily="18" charset="0"/>
                                  </a:rPr>
                                  <m:t>𝑛</m:t>
                                </m:r>
                              </m:e>
                              <m:sub>
                                <m:r>
                                  <a:rPr lang="es-CO" i="1">
                                    <a:latin typeface="Cambria Math" panose="02040503050406030204" pitchFamily="18" charset="0"/>
                                  </a:rPr>
                                  <m:t>𝑔</m:t>
                                </m:r>
                              </m:sub>
                            </m:sSub>
                            <m:r>
                              <a:rPr lang="es-CO" i="0">
                                <a:latin typeface="Cambria Math" panose="02040503050406030204" pitchFamily="18" charset="0"/>
                              </a:rPr>
                              <m:t>=</m:t>
                            </m:r>
                            <m:sSub>
                              <m:sSubPr>
                                <m:ctrlPr>
                                  <a:rPr lang="es-CO" i="1">
                                    <a:latin typeface="Cambria Math" panose="02040503050406030204" pitchFamily="18" charset="0"/>
                                  </a:rPr>
                                </m:ctrlPr>
                              </m:sSubPr>
                              <m:e>
                                <m:r>
                                  <a:rPr lang="es-CO" i="1">
                                    <a:latin typeface="Cambria Math" panose="02040503050406030204" pitchFamily="18" charset="0"/>
                                  </a:rPr>
                                  <m:t>𝑛</m:t>
                                </m:r>
                              </m:e>
                              <m:sub>
                                <m:r>
                                  <m:rPr>
                                    <m:sty m:val="p"/>
                                  </m:rPr>
                                  <a:rPr lang="es-CO" i="0">
                                    <a:latin typeface="Cambria Math" panose="02040503050406030204" pitchFamily="18" charset="0"/>
                                  </a:rPr>
                                  <m:t>eff</m:t>
                                </m:r>
                              </m:sub>
                            </m:sSub>
                            <m:r>
                              <a:rPr lang="es-CO" i="0">
                                <a:latin typeface="Cambria Math" panose="02040503050406030204" pitchFamily="18" charset="0"/>
                              </a:rPr>
                              <m:t>−</m:t>
                            </m:r>
                            <m:r>
                              <a:rPr lang="es-CO" i="1">
                                <a:latin typeface="Cambria Math" panose="02040503050406030204" pitchFamily="18" charset="0"/>
                              </a:rPr>
                              <m:t>𝜆</m:t>
                            </m:r>
                            <m:f>
                              <m:fPr>
                                <m:ctrlPr>
                                  <a:rPr lang="es-CO" i="1">
                                    <a:latin typeface="Cambria Math" panose="02040503050406030204" pitchFamily="18" charset="0"/>
                                  </a:rPr>
                                </m:ctrlPr>
                              </m:fPr>
                              <m:num>
                                <m:r>
                                  <a:rPr lang="es-CO" i="1">
                                    <a:latin typeface="Cambria Math" panose="02040503050406030204" pitchFamily="18" charset="0"/>
                                  </a:rPr>
                                  <m:t>𝑑</m:t>
                                </m:r>
                                <m:sSub>
                                  <m:sSubPr>
                                    <m:ctrlPr>
                                      <a:rPr lang="es-CO" i="1">
                                        <a:latin typeface="Cambria Math" panose="02040503050406030204" pitchFamily="18" charset="0"/>
                                      </a:rPr>
                                    </m:ctrlPr>
                                  </m:sSubPr>
                                  <m:e>
                                    <m:r>
                                      <a:rPr lang="es-CO" i="1">
                                        <a:latin typeface="Cambria Math" panose="02040503050406030204" pitchFamily="18" charset="0"/>
                                      </a:rPr>
                                      <m:t>𝑛</m:t>
                                    </m:r>
                                  </m:e>
                                  <m:sub>
                                    <m:r>
                                      <m:rPr>
                                        <m:sty m:val="p"/>
                                      </m:rPr>
                                      <a:rPr lang="es-CO" i="0">
                                        <a:latin typeface="Cambria Math" panose="02040503050406030204" pitchFamily="18" charset="0"/>
                                      </a:rPr>
                                      <m:t>eff</m:t>
                                    </m:r>
                                  </m:sub>
                                </m:sSub>
                              </m:num>
                              <m:den>
                                <m:r>
                                  <a:rPr lang="es-CO" i="1">
                                    <a:latin typeface="Cambria Math" panose="02040503050406030204" pitchFamily="18" charset="0"/>
                                  </a:rPr>
                                  <m:t>𝑑</m:t>
                                </m:r>
                                <m:r>
                                  <a:rPr lang="es-CO" i="1">
                                    <a:latin typeface="Cambria Math" panose="02040503050406030204" pitchFamily="18" charset="0"/>
                                  </a:rPr>
                                  <m:t>𝜆</m:t>
                                </m:r>
                              </m:den>
                            </m:f>
                          </m:e>
                        </m:mr>
                      </m:m>
                    </m:oMath>
                  </m:oMathPara>
                </a14:m>
                <a:endParaRPr lang="es-CO" dirty="0"/>
              </a:p>
            </p:txBody>
          </p:sp>
        </mc:Choice>
        <mc:Fallback>
          <p:sp>
            <p:nvSpPr>
              <p:cNvPr id="17" name="TextBox 16">
                <a:extLst>
                  <a:ext uri="{FF2B5EF4-FFF2-40B4-BE49-F238E27FC236}">
                    <a16:creationId xmlns:a16="http://schemas.microsoft.com/office/drawing/2014/main" id="{2327856F-C7E8-CAA1-A763-87593E7863D6}"/>
                  </a:ext>
                </a:extLst>
              </p:cNvPr>
              <p:cNvSpPr txBox="1">
                <a:spLocks noRot="1" noChangeAspect="1" noMove="1" noResize="1" noEditPoints="1" noAdjustHandles="1" noChangeArrowheads="1" noChangeShapeType="1" noTextEdit="1"/>
              </p:cNvSpPr>
              <p:nvPr/>
            </p:nvSpPr>
            <p:spPr>
              <a:xfrm>
                <a:off x="1943100" y="4388254"/>
                <a:ext cx="2804160" cy="618311"/>
              </a:xfrm>
              <a:prstGeom prst="rect">
                <a:avLst/>
              </a:prstGeom>
              <a:blipFill>
                <a:blip r:embed="rId4"/>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955A0DB2-70EE-CA7D-04ED-A075067803F3}"/>
                  </a:ext>
                </a:extLst>
              </p:cNvPr>
              <p:cNvSpPr txBox="1"/>
              <p:nvPr/>
            </p:nvSpPr>
            <p:spPr>
              <a:xfrm>
                <a:off x="487680" y="3987671"/>
                <a:ext cx="5257800" cy="391902"/>
              </a:xfrm>
              <a:prstGeom prst="rect">
                <a:avLst/>
              </a:prstGeom>
              <a:noFill/>
            </p:spPr>
            <p:txBody>
              <a:bodyPr wrap="square">
                <a:spAutoFit/>
              </a:bodyPr>
              <a:lstStyle/>
              <a:p>
                <a:pPr algn="ctr"/>
                <a:r>
                  <a:rPr lang="es-MX" dirty="0" err="1"/>
                  <a:t>Considering</a:t>
                </a:r>
                <a:r>
                  <a:rPr lang="es-MX" dirty="0"/>
                  <a:t> </a:t>
                </a:r>
                <a:r>
                  <a:rPr lang="es-MX" dirty="0" err="1"/>
                  <a:t>the</a:t>
                </a:r>
                <a:r>
                  <a:rPr lang="es-MX" dirty="0"/>
                  <a:t> </a:t>
                </a:r>
                <a:r>
                  <a:rPr lang="es-MX" dirty="0" err="1"/>
                  <a:t>equation</a:t>
                </a:r>
                <a:r>
                  <a:rPr lang="es-MX" dirty="0"/>
                  <a:t> </a:t>
                </a:r>
                <a:r>
                  <a:rPr lang="es-MX" dirty="0" err="1"/>
                  <a:t>for</a:t>
                </a:r>
                <a:r>
                  <a:rPr lang="es-MX" dirty="0"/>
                  <a:t> </a:t>
                </a:r>
                <a:r>
                  <a:rPr lang="es-MX" dirty="0" err="1"/>
                  <a:t>the</a:t>
                </a:r>
                <a:r>
                  <a:rPr lang="es-MX" dirty="0"/>
                  <a:t> </a:t>
                </a:r>
                <a:r>
                  <a:rPr lang="es-MX" dirty="0" err="1"/>
                  <a:t>group</a:t>
                </a:r>
                <a:r>
                  <a:rPr lang="es-MX" dirty="0"/>
                  <a:t> </a:t>
                </a:r>
                <a:r>
                  <a:rPr lang="es-MX" dirty="0" err="1"/>
                  <a:t>index</a:t>
                </a:r>
                <a:r>
                  <a:rPr lang="es-MX" dirty="0"/>
                  <a:t> </a:t>
                </a:r>
                <a14:m>
                  <m:oMath xmlns:m="http://schemas.openxmlformats.org/officeDocument/2006/math">
                    <m:sSub>
                      <m:sSubPr>
                        <m:ctrlPr>
                          <a:rPr lang="es-CO" i="1">
                            <a:latin typeface="Cambria Math" panose="02040503050406030204" pitchFamily="18" charset="0"/>
                          </a:rPr>
                        </m:ctrlPr>
                      </m:sSubPr>
                      <m:e>
                        <m:r>
                          <a:rPr lang="es-CO" i="1">
                            <a:latin typeface="Cambria Math" panose="02040503050406030204" pitchFamily="18" charset="0"/>
                          </a:rPr>
                          <m:t>𝑛</m:t>
                        </m:r>
                      </m:e>
                      <m:sub>
                        <m:r>
                          <a:rPr lang="es-CO" i="1">
                            <a:latin typeface="Cambria Math" panose="02040503050406030204" pitchFamily="18" charset="0"/>
                          </a:rPr>
                          <m:t>𝑔</m:t>
                        </m:r>
                      </m:sub>
                    </m:sSub>
                  </m:oMath>
                </a14:m>
                <a:endParaRPr lang="en-US" dirty="0"/>
              </a:p>
            </p:txBody>
          </p:sp>
        </mc:Choice>
        <mc:Fallback>
          <p:sp>
            <p:nvSpPr>
              <p:cNvPr id="20" name="TextBox 19">
                <a:extLst>
                  <a:ext uri="{FF2B5EF4-FFF2-40B4-BE49-F238E27FC236}">
                    <a16:creationId xmlns:a16="http://schemas.microsoft.com/office/drawing/2014/main" id="{955A0DB2-70EE-CA7D-04ED-A075067803F3}"/>
                  </a:ext>
                </a:extLst>
              </p:cNvPr>
              <p:cNvSpPr txBox="1">
                <a:spLocks noRot="1" noChangeAspect="1" noMove="1" noResize="1" noEditPoints="1" noAdjustHandles="1" noChangeArrowheads="1" noChangeShapeType="1" noTextEdit="1"/>
              </p:cNvSpPr>
              <p:nvPr/>
            </p:nvSpPr>
            <p:spPr>
              <a:xfrm>
                <a:off x="487680" y="3987671"/>
                <a:ext cx="5257800" cy="391902"/>
              </a:xfrm>
              <a:prstGeom prst="rect">
                <a:avLst/>
              </a:prstGeom>
              <a:blipFill>
                <a:blip r:embed="rId5"/>
                <a:stretch>
                  <a:fillRect t="-6250" b="-2031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75F8FB5F-5A35-223B-69D0-9B4C123B173E}"/>
                  </a:ext>
                </a:extLst>
              </p:cNvPr>
              <p:cNvSpPr txBox="1"/>
              <p:nvPr/>
            </p:nvSpPr>
            <p:spPr>
              <a:xfrm>
                <a:off x="1066800" y="3184213"/>
                <a:ext cx="4099560" cy="6183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s-CO" i="1" smtClean="0">
                              <a:latin typeface="Cambria Math" panose="02040503050406030204" pitchFamily="18" charset="0"/>
                            </a:rPr>
                          </m:ctrlPr>
                        </m:mPr>
                        <m:mr>
                          <m:e>
                            <m:f>
                              <m:fPr>
                                <m:ctrlPr>
                                  <a:rPr lang="es-CO" i="1">
                                    <a:latin typeface="Cambria Math" panose="02040503050406030204" pitchFamily="18" charset="0"/>
                                  </a:rPr>
                                </m:ctrlPr>
                              </m:fPr>
                              <m:num>
                                <m:r>
                                  <a:rPr lang="es-CO" i="1">
                                    <a:latin typeface="Cambria Math" panose="02040503050406030204" pitchFamily="18" charset="0"/>
                                  </a:rPr>
                                  <m:t>𝑑</m:t>
                                </m:r>
                                <m:sSub>
                                  <m:sSubPr>
                                    <m:ctrlPr>
                                      <a:rPr lang="es-CO" i="1">
                                        <a:latin typeface="Cambria Math" panose="02040503050406030204" pitchFamily="18" charset="0"/>
                                      </a:rPr>
                                    </m:ctrlPr>
                                  </m:sSubPr>
                                  <m:e>
                                    <m:r>
                                      <a:rPr lang="es-CO" i="1">
                                        <a:latin typeface="Cambria Math" panose="02040503050406030204" pitchFamily="18" charset="0"/>
                                      </a:rPr>
                                      <m:t>𝑛</m:t>
                                    </m:r>
                                  </m:e>
                                  <m:sub>
                                    <m:r>
                                      <m:rPr>
                                        <m:sty m:val="p"/>
                                      </m:rPr>
                                      <a:rPr lang="es-CO" i="0">
                                        <a:latin typeface="Cambria Math" panose="02040503050406030204" pitchFamily="18" charset="0"/>
                                      </a:rPr>
                                      <m:t>eff</m:t>
                                    </m:r>
                                  </m:sub>
                                </m:sSub>
                              </m:num>
                              <m:den>
                                <m:r>
                                  <a:rPr lang="es-CO" i="1">
                                    <a:latin typeface="Cambria Math" panose="02040503050406030204" pitchFamily="18" charset="0"/>
                                  </a:rPr>
                                  <m:t>𝑑</m:t>
                                </m:r>
                                <m:r>
                                  <a:rPr lang="es-CO" i="1">
                                    <a:latin typeface="Cambria Math" panose="02040503050406030204" pitchFamily="18" charset="0"/>
                                  </a:rPr>
                                  <m:t>𝜆</m:t>
                                </m:r>
                              </m:den>
                            </m:f>
                            <m:r>
                              <a:rPr lang="es-CO" i="0">
                                <a:latin typeface="Cambria Math" panose="02040503050406030204" pitchFamily="18" charset="0"/>
                              </a:rPr>
                              <m:t>=</m:t>
                            </m:r>
                            <m:sSub>
                              <m:sSubPr>
                                <m:ctrlPr>
                                  <a:rPr lang="es-CO" i="1">
                                    <a:latin typeface="Cambria Math" panose="02040503050406030204" pitchFamily="18" charset="0"/>
                                  </a:rPr>
                                </m:ctrlPr>
                              </m:sSubPr>
                              <m:e>
                                <m:r>
                                  <a:rPr lang="es-CO" i="1">
                                    <a:latin typeface="Cambria Math" panose="02040503050406030204" pitchFamily="18" charset="0"/>
                                  </a:rPr>
                                  <m:t>𝑛</m:t>
                                </m:r>
                              </m:e>
                              <m:sub>
                                <m:r>
                                  <a:rPr lang="es-CO" i="0">
                                    <a:latin typeface="Cambria Math" panose="02040503050406030204" pitchFamily="18" charset="0"/>
                                  </a:rPr>
                                  <m:t>2</m:t>
                                </m:r>
                              </m:sub>
                            </m:sSub>
                          </m:e>
                        </m:mr>
                      </m:m>
                    </m:oMath>
                  </m:oMathPara>
                </a14:m>
                <a:endParaRPr lang="es-CO" dirty="0"/>
              </a:p>
            </p:txBody>
          </p:sp>
        </mc:Choice>
        <mc:Fallback>
          <p:sp>
            <p:nvSpPr>
              <p:cNvPr id="21" name="TextBox 20">
                <a:extLst>
                  <a:ext uri="{FF2B5EF4-FFF2-40B4-BE49-F238E27FC236}">
                    <a16:creationId xmlns:a16="http://schemas.microsoft.com/office/drawing/2014/main" id="{75F8FB5F-5A35-223B-69D0-9B4C123B173E}"/>
                  </a:ext>
                </a:extLst>
              </p:cNvPr>
              <p:cNvSpPr txBox="1">
                <a:spLocks noRot="1" noChangeAspect="1" noMove="1" noResize="1" noEditPoints="1" noAdjustHandles="1" noChangeArrowheads="1" noChangeShapeType="1" noTextEdit="1"/>
              </p:cNvSpPr>
              <p:nvPr/>
            </p:nvSpPr>
            <p:spPr>
              <a:xfrm>
                <a:off x="1066800" y="3184213"/>
                <a:ext cx="4099560" cy="618311"/>
              </a:xfrm>
              <a:prstGeom prst="rect">
                <a:avLst/>
              </a:prstGeom>
              <a:blipFill>
                <a:blip r:embed="rId6"/>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C01C3D3A-D016-40F3-7319-F1FB3AFCA839}"/>
                  </a:ext>
                </a:extLst>
              </p:cNvPr>
              <p:cNvSpPr txBox="1"/>
              <p:nvPr/>
            </p:nvSpPr>
            <p:spPr>
              <a:xfrm>
                <a:off x="1714500" y="5021822"/>
                <a:ext cx="280416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s-CO" i="1" smtClean="0">
                              <a:latin typeface="Cambria Math" panose="02040503050406030204" pitchFamily="18" charset="0"/>
                            </a:rPr>
                          </m:ctrlPr>
                        </m:mPr>
                        <m:mr>
                          <m:e>
                            <m:sSub>
                              <m:sSubPr>
                                <m:ctrlPr>
                                  <a:rPr lang="es-CO" i="1">
                                    <a:latin typeface="Cambria Math" panose="02040503050406030204" pitchFamily="18" charset="0"/>
                                  </a:rPr>
                                </m:ctrlPr>
                              </m:sSubPr>
                              <m:e>
                                <m:r>
                                  <a:rPr lang="es-CO" i="1">
                                    <a:latin typeface="Cambria Math" panose="02040503050406030204" pitchFamily="18" charset="0"/>
                                  </a:rPr>
                                  <m:t>𝑛</m:t>
                                </m:r>
                              </m:e>
                              <m:sub>
                                <m:r>
                                  <a:rPr lang="es-CO" i="1">
                                    <a:latin typeface="Cambria Math" panose="02040503050406030204" pitchFamily="18" charset="0"/>
                                  </a:rPr>
                                  <m:t>𝑔</m:t>
                                </m:r>
                              </m:sub>
                            </m:sSub>
                            <m:r>
                              <a:rPr lang="es-CO" i="0">
                                <a:latin typeface="Cambria Math" panose="02040503050406030204" pitchFamily="18" charset="0"/>
                              </a:rPr>
                              <m:t>=</m:t>
                            </m:r>
                            <m:sSub>
                              <m:sSubPr>
                                <m:ctrlPr>
                                  <a:rPr lang="es-CO" i="1">
                                    <a:latin typeface="Cambria Math" panose="02040503050406030204" pitchFamily="18" charset="0"/>
                                  </a:rPr>
                                </m:ctrlPr>
                              </m:sSubPr>
                              <m:e>
                                <m:r>
                                  <a:rPr lang="es-CO" i="1">
                                    <a:latin typeface="Cambria Math" panose="02040503050406030204" pitchFamily="18" charset="0"/>
                                  </a:rPr>
                                  <m:t>𝑛</m:t>
                                </m:r>
                              </m:e>
                              <m:sub>
                                <m:r>
                                  <a:rPr lang="es-MX" b="0" i="0" smtClean="0">
                                    <a:latin typeface="Cambria Math" panose="02040503050406030204" pitchFamily="18" charset="0"/>
                                  </a:rPr>
                                  <m:t>1</m:t>
                                </m:r>
                              </m:sub>
                            </m:sSub>
                            <m:r>
                              <a:rPr lang="es-CO" i="0">
                                <a:latin typeface="Cambria Math" panose="02040503050406030204" pitchFamily="18" charset="0"/>
                              </a:rPr>
                              <m:t>−</m:t>
                            </m:r>
                            <m:r>
                              <a:rPr lang="es-CO" i="1">
                                <a:latin typeface="Cambria Math" panose="02040503050406030204" pitchFamily="18" charset="0"/>
                              </a:rPr>
                              <m:t>𝜆</m:t>
                            </m:r>
                            <m:sSub>
                              <m:sSubPr>
                                <m:ctrlPr>
                                  <a:rPr lang="es-CO" i="1">
                                    <a:latin typeface="Cambria Math" panose="02040503050406030204" pitchFamily="18" charset="0"/>
                                  </a:rPr>
                                </m:ctrlPr>
                              </m:sSubPr>
                              <m:e>
                                <m:r>
                                  <a:rPr lang="es-CO" i="1">
                                    <a:latin typeface="Cambria Math" panose="02040503050406030204" pitchFamily="18" charset="0"/>
                                  </a:rPr>
                                  <m:t>𝑛</m:t>
                                </m:r>
                              </m:e>
                              <m:sub>
                                <m:r>
                                  <a:rPr lang="es-CO">
                                    <a:latin typeface="Cambria Math" panose="02040503050406030204" pitchFamily="18" charset="0"/>
                                  </a:rPr>
                                  <m:t>2</m:t>
                                </m:r>
                              </m:sub>
                            </m:sSub>
                          </m:e>
                        </m:mr>
                      </m:m>
                    </m:oMath>
                  </m:oMathPara>
                </a14:m>
                <a:endParaRPr lang="es-CO" dirty="0"/>
              </a:p>
            </p:txBody>
          </p:sp>
        </mc:Choice>
        <mc:Fallback>
          <p:sp>
            <p:nvSpPr>
              <p:cNvPr id="22" name="TextBox 21">
                <a:extLst>
                  <a:ext uri="{FF2B5EF4-FFF2-40B4-BE49-F238E27FC236}">
                    <a16:creationId xmlns:a16="http://schemas.microsoft.com/office/drawing/2014/main" id="{C01C3D3A-D016-40F3-7319-F1FB3AFCA839}"/>
                  </a:ext>
                </a:extLst>
              </p:cNvPr>
              <p:cNvSpPr txBox="1">
                <a:spLocks noRot="1" noChangeAspect="1" noMove="1" noResize="1" noEditPoints="1" noAdjustHandles="1" noChangeArrowheads="1" noChangeShapeType="1" noTextEdit="1"/>
              </p:cNvSpPr>
              <p:nvPr/>
            </p:nvSpPr>
            <p:spPr>
              <a:xfrm>
                <a:off x="1714500" y="5021822"/>
                <a:ext cx="2804160" cy="369332"/>
              </a:xfrm>
              <a:prstGeom prst="rect">
                <a:avLst/>
              </a:prstGeom>
              <a:blipFill>
                <a:blip r:embed="rId7"/>
                <a:stretch>
                  <a:fillRect b="-333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5" name="Rectangle 24">
                <a:extLst>
                  <a:ext uri="{FF2B5EF4-FFF2-40B4-BE49-F238E27FC236}">
                    <a16:creationId xmlns:a16="http://schemas.microsoft.com/office/drawing/2014/main" id="{9D380BB5-3327-B335-02BF-56BF2A822980}"/>
                  </a:ext>
                </a:extLst>
              </p:cNvPr>
              <p:cNvSpPr/>
              <p:nvPr/>
            </p:nvSpPr>
            <p:spPr>
              <a:xfrm>
                <a:off x="6477000" y="1371600"/>
                <a:ext cx="5181600" cy="4800600"/>
              </a:xfrm>
              <a:prstGeom prst="rect">
                <a:avLst/>
              </a:prstGeom>
              <a:solidFill>
                <a:srgbClr val="F2F2F2"/>
              </a:solidFill>
            </p:spPr>
            <p:style>
              <a:lnRef idx="2">
                <a:schemeClr val="accent6"/>
              </a:lnRef>
              <a:fillRef idx="1">
                <a:schemeClr val="lt1"/>
              </a:fillRef>
              <a:effectRef idx="0">
                <a:schemeClr val="accent6"/>
              </a:effectRef>
              <a:fontRef idx="minor">
                <a:schemeClr val="dk1"/>
              </a:fontRef>
            </p:style>
            <p:txBody>
              <a:bodyPr rtlCol="0" anchor="t"/>
              <a:lstStyle/>
              <a:p>
                <a:pPr algn="ctr"/>
                <a:r>
                  <a:rPr lang="en-US" dirty="0">
                    <a:solidFill>
                      <a:schemeClr val="accent6">
                        <a:lumMod val="75000"/>
                      </a:schemeClr>
                    </a:solidFill>
                  </a:rPr>
                  <a:t>Group index of the guided mode</a:t>
                </a:r>
              </a:p>
              <a:p>
                <a:pPr algn="just"/>
                <a:r>
                  <a:rPr lang="en-US" dirty="0"/>
                  <a:t>Considering the second derivative of </a:t>
                </a:r>
                <a14:m>
                  <m:oMath xmlns:m="http://schemas.openxmlformats.org/officeDocument/2006/math">
                    <m:sSub>
                      <m:sSubPr>
                        <m:ctrlPr>
                          <a:rPr lang="es-CO" i="1">
                            <a:latin typeface="Cambria Math" panose="02040503050406030204" pitchFamily="18" charset="0"/>
                          </a:rPr>
                        </m:ctrlPr>
                      </m:sSubPr>
                      <m:e>
                        <m:r>
                          <a:rPr lang="es-CO" i="1">
                            <a:latin typeface="Cambria Math" panose="02040503050406030204" pitchFamily="18" charset="0"/>
                          </a:rPr>
                          <m:t>𝑛</m:t>
                        </m:r>
                      </m:e>
                      <m:sub>
                        <m:r>
                          <m:rPr>
                            <m:sty m:val="p"/>
                          </m:rPr>
                          <a:rPr lang="es-CO">
                            <a:latin typeface="Cambria Math" panose="02040503050406030204" pitchFamily="18" charset="0"/>
                          </a:rPr>
                          <m:t>eff</m:t>
                        </m:r>
                      </m:sub>
                    </m:sSub>
                    <m:d>
                      <m:dPr>
                        <m:ctrlPr>
                          <a:rPr lang="es-CO" i="1">
                            <a:latin typeface="Cambria Math" panose="02040503050406030204" pitchFamily="18" charset="0"/>
                          </a:rPr>
                        </m:ctrlPr>
                      </m:dPr>
                      <m:e>
                        <m:r>
                          <a:rPr lang="es-CO" i="1">
                            <a:latin typeface="Cambria Math" panose="02040503050406030204" pitchFamily="18" charset="0"/>
                          </a:rPr>
                          <m:t>𝜆</m:t>
                        </m:r>
                      </m:e>
                    </m:d>
                  </m:oMath>
                </a14:m>
                <a:r>
                  <a:rPr lang="en-US" dirty="0"/>
                  <a:t> with respect to </a:t>
                </a:r>
                <a14:m>
                  <m:oMath xmlns:m="http://schemas.openxmlformats.org/officeDocument/2006/math">
                    <m:r>
                      <a:rPr lang="es-CO" i="1">
                        <a:latin typeface="Cambria Math" panose="02040503050406030204" pitchFamily="18" charset="0"/>
                      </a:rPr>
                      <m:t>𝜆</m:t>
                    </m:r>
                  </m:oMath>
                </a14:m>
                <a:endParaRPr lang="en-US" dirty="0"/>
              </a:p>
              <a:p>
                <a:pPr algn="just"/>
                <a:endParaRPr lang="en-US" dirty="0"/>
              </a:p>
              <a:p>
                <a:pPr algn="just"/>
                <a:endParaRPr lang="en-US" dirty="0"/>
              </a:p>
              <a:p>
                <a:pPr algn="just"/>
                <a:r>
                  <a:rPr lang="es-MX" dirty="0" err="1"/>
                  <a:t>Considering</a:t>
                </a:r>
                <a:r>
                  <a:rPr lang="es-MX" dirty="0"/>
                  <a:t> </a:t>
                </a:r>
                <a:r>
                  <a:rPr lang="es-MX" dirty="0" err="1"/>
                  <a:t>the</a:t>
                </a:r>
                <a:r>
                  <a:rPr lang="es-MX" dirty="0"/>
                  <a:t> </a:t>
                </a:r>
                <a:r>
                  <a:rPr lang="es-MX" dirty="0" err="1"/>
                  <a:t>equation</a:t>
                </a:r>
                <a:r>
                  <a:rPr lang="es-MX" dirty="0"/>
                  <a:t> </a:t>
                </a:r>
                <a:r>
                  <a:rPr lang="es-MX" dirty="0" err="1"/>
                  <a:t>for</a:t>
                </a:r>
                <a:r>
                  <a:rPr lang="es-MX" dirty="0"/>
                  <a:t> </a:t>
                </a:r>
                <a:r>
                  <a:rPr lang="es-MX" dirty="0" err="1"/>
                  <a:t>the</a:t>
                </a:r>
                <a:r>
                  <a:rPr lang="es-MX" dirty="0"/>
                  <a:t> dispersión </a:t>
                </a:r>
                <a:r>
                  <a:rPr lang="es-MX" dirty="0" err="1"/>
                  <a:t>parameter</a:t>
                </a:r>
                <a:r>
                  <a:rPr lang="es-MX" dirty="0"/>
                  <a:t> </a:t>
                </a:r>
                <a14:m>
                  <m:oMath xmlns:m="http://schemas.openxmlformats.org/officeDocument/2006/math">
                    <m:r>
                      <a:rPr lang="es-CO" i="1">
                        <a:latin typeface="Cambria Math" panose="02040503050406030204" pitchFamily="18" charset="0"/>
                      </a:rPr>
                      <m:t>𝐷</m:t>
                    </m:r>
                    <m:r>
                      <a:rPr lang="es-MX" b="0" i="0" smtClean="0">
                        <a:latin typeface="Cambria Math" panose="02040503050406030204" pitchFamily="18" charset="0"/>
                      </a:rPr>
                      <m:t>.</m:t>
                    </m:r>
                  </m:oMath>
                </a14:m>
                <a:endParaRPr lang="en-US" dirty="0"/>
              </a:p>
            </p:txBody>
          </p:sp>
        </mc:Choice>
        <mc:Fallback>
          <p:sp>
            <p:nvSpPr>
              <p:cNvPr id="25" name="Rectangle 24">
                <a:extLst>
                  <a:ext uri="{FF2B5EF4-FFF2-40B4-BE49-F238E27FC236}">
                    <a16:creationId xmlns:a16="http://schemas.microsoft.com/office/drawing/2014/main" id="{9D380BB5-3327-B335-02BF-56BF2A822980}"/>
                  </a:ext>
                </a:extLst>
              </p:cNvPr>
              <p:cNvSpPr>
                <a:spLocks noRot="1" noChangeAspect="1" noMove="1" noResize="1" noEditPoints="1" noAdjustHandles="1" noChangeArrowheads="1" noChangeShapeType="1" noTextEdit="1"/>
              </p:cNvSpPr>
              <p:nvPr/>
            </p:nvSpPr>
            <p:spPr>
              <a:xfrm>
                <a:off x="6477000" y="1371600"/>
                <a:ext cx="5181600" cy="4800600"/>
              </a:xfrm>
              <a:prstGeom prst="rect">
                <a:avLst/>
              </a:prstGeom>
              <a:blipFill>
                <a:blip r:embed="rId8"/>
                <a:stretch>
                  <a:fillRect l="-820" t="-379" r="-70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7435CD63-BDEA-D0B8-5ECF-A34A071C0159}"/>
                  </a:ext>
                </a:extLst>
              </p:cNvPr>
              <p:cNvSpPr txBox="1"/>
              <p:nvPr/>
            </p:nvSpPr>
            <p:spPr>
              <a:xfrm>
                <a:off x="7627620" y="2079737"/>
                <a:ext cx="2880360" cy="64819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s-CO" i="1" smtClean="0">
                              <a:latin typeface="Cambria Math" panose="02040503050406030204" pitchFamily="18" charset="0"/>
                            </a:rPr>
                          </m:ctrlPr>
                        </m:mPr>
                        <m:mr>
                          <m:e>
                            <m:f>
                              <m:fPr>
                                <m:ctrlPr>
                                  <a:rPr lang="es-CO" i="1">
                                    <a:latin typeface="Cambria Math" panose="02040503050406030204" pitchFamily="18" charset="0"/>
                                  </a:rPr>
                                </m:ctrlPr>
                              </m:fPr>
                              <m:num>
                                <m:sSup>
                                  <m:sSupPr>
                                    <m:ctrlPr>
                                      <a:rPr lang="es-CO" i="1">
                                        <a:latin typeface="Cambria Math" panose="02040503050406030204" pitchFamily="18" charset="0"/>
                                      </a:rPr>
                                    </m:ctrlPr>
                                  </m:sSupPr>
                                  <m:e>
                                    <m:r>
                                      <a:rPr lang="es-CO" i="1">
                                        <a:latin typeface="Cambria Math" panose="02040503050406030204" pitchFamily="18" charset="0"/>
                                      </a:rPr>
                                      <m:t>𝑑</m:t>
                                    </m:r>
                                  </m:e>
                                  <m:sup>
                                    <m:r>
                                      <a:rPr lang="es-CO" i="0">
                                        <a:latin typeface="Cambria Math" panose="02040503050406030204" pitchFamily="18" charset="0"/>
                                      </a:rPr>
                                      <m:t>2</m:t>
                                    </m:r>
                                  </m:sup>
                                </m:sSup>
                                <m:sSub>
                                  <m:sSubPr>
                                    <m:ctrlPr>
                                      <a:rPr lang="es-CO" i="1">
                                        <a:latin typeface="Cambria Math" panose="02040503050406030204" pitchFamily="18" charset="0"/>
                                      </a:rPr>
                                    </m:ctrlPr>
                                  </m:sSubPr>
                                  <m:e>
                                    <m:r>
                                      <a:rPr lang="es-CO" i="1">
                                        <a:latin typeface="Cambria Math" panose="02040503050406030204" pitchFamily="18" charset="0"/>
                                      </a:rPr>
                                      <m:t>𝑛</m:t>
                                    </m:r>
                                  </m:e>
                                  <m:sub>
                                    <m:r>
                                      <m:rPr>
                                        <m:sty m:val="p"/>
                                      </m:rPr>
                                      <a:rPr lang="es-CO" i="0">
                                        <a:latin typeface="Cambria Math" panose="02040503050406030204" pitchFamily="18" charset="0"/>
                                      </a:rPr>
                                      <m:t>eff</m:t>
                                    </m:r>
                                  </m:sub>
                                </m:sSub>
                              </m:num>
                              <m:den>
                                <m:r>
                                  <a:rPr lang="es-CO" i="1">
                                    <a:latin typeface="Cambria Math" panose="02040503050406030204" pitchFamily="18" charset="0"/>
                                  </a:rPr>
                                  <m:t>𝑑</m:t>
                                </m:r>
                                <m:sSup>
                                  <m:sSupPr>
                                    <m:ctrlPr>
                                      <a:rPr lang="es-CO" i="1">
                                        <a:latin typeface="Cambria Math" panose="02040503050406030204" pitchFamily="18" charset="0"/>
                                      </a:rPr>
                                    </m:ctrlPr>
                                  </m:sSupPr>
                                  <m:e>
                                    <m:r>
                                      <a:rPr lang="es-CO" i="1">
                                        <a:latin typeface="Cambria Math" panose="02040503050406030204" pitchFamily="18" charset="0"/>
                                      </a:rPr>
                                      <m:t>𝜆</m:t>
                                    </m:r>
                                  </m:e>
                                  <m:sup>
                                    <m:r>
                                      <a:rPr lang="es-CO" i="0">
                                        <a:latin typeface="Cambria Math" panose="02040503050406030204" pitchFamily="18" charset="0"/>
                                      </a:rPr>
                                      <m:t>2</m:t>
                                    </m:r>
                                  </m:sup>
                                </m:sSup>
                              </m:den>
                            </m:f>
                            <m:r>
                              <a:rPr lang="es-CO" i="0">
                                <a:latin typeface="Cambria Math" panose="02040503050406030204" pitchFamily="18" charset="0"/>
                              </a:rPr>
                              <m:t>=</m:t>
                            </m:r>
                            <m:r>
                              <a:rPr lang="es-CO" i="0">
                                <a:latin typeface="Cambria Math" panose="02040503050406030204" pitchFamily="18" charset="0"/>
                              </a:rPr>
                              <m:t>2</m:t>
                            </m:r>
                            <m:sSub>
                              <m:sSubPr>
                                <m:ctrlPr>
                                  <a:rPr lang="es-CO" i="1">
                                    <a:latin typeface="Cambria Math" panose="02040503050406030204" pitchFamily="18" charset="0"/>
                                  </a:rPr>
                                </m:ctrlPr>
                              </m:sSubPr>
                              <m:e>
                                <m:r>
                                  <a:rPr lang="es-CO" i="1">
                                    <a:latin typeface="Cambria Math" panose="02040503050406030204" pitchFamily="18" charset="0"/>
                                  </a:rPr>
                                  <m:t>𝑛</m:t>
                                </m:r>
                              </m:e>
                              <m:sub>
                                <m:r>
                                  <a:rPr lang="es-CO" i="0">
                                    <a:latin typeface="Cambria Math" panose="02040503050406030204" pitchFamily="18" charset="0"/>
                                  </a:rPr>
                                  <m:t>3</m:t>
                                </m:r>
                              </m:sub>
                            </m:sSub>
                          </m:e>
                        </m:mr>
                      </m:m>
                    </m:oMath>
                  </m:oMathPara>
                </a14:m>
                <a:endParaRPr lang="es-CO" dirty="0"/>
              </a:p>
            </p:txBody>
          </p:sp>
        </mc:Choice>
        <mc:Fallback>
          <p:sp>
            <p:nvSpPr>
              <p:cNvPr id="15" name="TextBox 14">
                <a:extLst>
                  <a:ext uri="{FF2B5EF4-FFF2-40B4-BE49-F238E27FC236}">
                    <a16:creationId xmlns:a16="http://schemas.microsoft.com/office/drawing/2014/main" id="{7435CD63-BDEA-D0B8-5ECF-A34A071C0159}"/>
                  </a:ext>
                </a:extLst>
              </p:cNvPr>
              <p:cNvSpPr txBox="1">
                <a:spLocks noRot="1" noChangeAspect="1" noMove="1" noResize="1" noEditPoints="1" noAdjustHandles="1" noChangeArrowheads="1" noChangeShapeType="1" noTextEdit="1"/>
              </p:cNvSpPr>
              <p:nvPr/>
            </p:nvSpPr>
            <p:spPr>
              <a:xfrm>
                <a:off x="7627620" y="2079737"/>
                <a:ext cx="2880360" cy="648191"/>
              </a:xfrm>
              <a:prstGeom prst="rect">
                <a:avLst/>
              </a:prstGeom>
              <a:blipFill>
                <a:blip r:embed="rId9"/>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7AD19F35-16CA-66E6-9A60-D1BB63DD645F}"/>
                  </a:ext>
                </a:extLst>
              </p:cNvPr>
              <p:cNvSpPr txBox="1"/>
              <p:nvPr/>
            </p:nvSpPr>
            <p:spPr>
              <a:xfrm>
                <a:off x="7741920" y="3477777"/>
                <a:ext cx="2453640" cy="64819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s-CO" i="1" smtClean="0">
                              <a:latin typeface="Cambria Math" panose="02040503050406030204" pitchFamily="18" charset="0"/>
                            </a:rPr>
                          </m:ctrlPr>
                        </m:mPr>
                        <m:mr>
                          <m:e>
                            <m:r>
                              <a:rPr lang="es-CO" i="1">
                                <a:latin typeface="Cambria Math" panose="02040503050406030204" pitchFamily="18" charset="0"/>
                              </a:rPr>
                              <m:t>𝐷</m:t>
                            </m:r>
                            <m:r>
                              <a:rPr lang="es-CO" i="0">
                                <a:latin typeface="Cambria Math" panose="02040503050406030204" pitchFamily="18" charset="0"/>
                              </a:rPr>
                              <m:t>=−</m:t>
                            </m:r>
                            <m:f>
                              <m:fPr>
                                <m:ctrlPr>
                                  <a:rPr lang="es-CO" i="1">
                                    <a:latin typeface="Cambria Math" panose="02040503050406030204" pitchFamily="18" charset="0"/>
                                  </a:rPr>
                                </m:ctrlPr>
                              </m:fPr>
                              <m:num>
                                <m:r>
                                  <a:rPr lang="es-CO" i="1">
                                    <a:latin typeface="Cambria Math" panose="02040503050406030204" pitchFamily="18" charset="0"/>
                                  </a:rPr>
                                  <m:t>𝜆</m:t>
                                </m:r>
                              </m:num>
                              <m:den>
                                <m:r>
                                  <a:rPr lang="es-CO" i="1">
                                    <a:latin typeface="Cambria Math" panose="02040503050406030204" pitchFamily="18" charset="0"/>
                                  </a:rPr>
                                  <m:t>𝑐</m:t>
                                </m:r>
                              </m:den>
                            </m:f>
                            <m:f>
                              <m:fPr>
                                <m:ctrlPr>
                                  <a:rPr lang="es-CO" i="1">
                                    <a:latin typeface="Cambria Math" panose="02040503050406030204" pitchFamily="18" charset="0"/>
                                  </a:rPr>
                                </m:ctrlPr>
                              </m:fPr>
                              <m:num>
                                <m:sSup>
                                  <m:sSupPr>
                                    <m:ctrlPr>
                                      <a:rPr lang="es-CO" i="1">
                                        <a:latin typeface="Cambria Math" panose="02040503050406030204" pitchFamily="18" charset="0"/>
                                      </a:rPr>
                                    </m:ctrlPr>
                                  </m:sSupPr>
                                  <m:e>
                                    <m:r>
                                      <a:rPr lang="es-CO" i="1">
                                        <a:latin typeface="Cambria Math" panose="02040503050406030204" pitchFamily="18" charset="0"/>
                                      </a:rPr>
                                      <m:t>𝑑</m:t>
                                    </m:r>
                                  </m:e>
                                  <m:sup>
                                    <m:r>
                                      <a:rPr lang="es-CO" i="0">
                                        <a:latin typeface="Cambria Math" panose="02040503050406030204" pitchFamily="18" charset="0"/>
                                      </a:rPr>
                                      <m:t>2</m:t>
                                    </m:r>
                                  </m:sup>
                                </m:sSup>
                                <m:sSub>
                                  <m:sSubPr>
                                    <m:ctrlPr>
                                      <a:rPr lang="es-CO" i="1">
                                        <a:latin typeface="Cambria Math" panose="02040503050406030204" pitchFamily="18" charset="0"/>
                                      </a:rPr>
                                    </m:ctrlPr>
                                  </m:sSubPr>
                                  <m:e>
                                    <m:r>
                                      <a:rPr lang="es-CO" i="1">
                                        <a:latin typeface="Cambria Math" panose="02040503050406030204" pitchFamily="18" charset="0"/>
                                      </a:rPr>
                                      <m:t>𝑛</m:t>
                                    </m:r>
                                  </m:e>
                                  <m:sub>
                                    <m:r>
                                      <m:rPr>
                                        <m:sty m:val="p"/>
                                      </m:rPr>
                                      <a:rPr lang="es-CO" i="0">
                                        <a:latin typeface="Cambria Math" panose="02040503050406030204" pitchFamily="18" charset="0"/>
                                      </a:rPr>
                                      <m:t>eff</m:t>
                                    </m:r>
                                  </m:sub>
                                </m:sSub>
                              </m:num>
                              <m:den>
                                <m:r>
                                  <a:rPr lang="es-CO" i="1">
                                    <a:latin typeface="Cambria Math" panose="02040503050406030204" pitchFamily="18" charset="0"/>
                                  </a:rPr>
                                  <m:t>𝑑</m:t>
                                </m:r>
                                <m:sSup>
                                  <m:sSupPr>
                                    <m:ctrlPr>
                                      <a:rPr lang="es-CO" i="1">
                                        <a:latin typeface="Cambria Math" panose="02040503050406030204" pitchFamily="18" charset="0"/>
                                      </a:rPr>
                                    </m:ctrlPr>
                                  </m:sSupPr>
                                  <m:e>
                                    <m:r>
                                      <a:rPr lang="es-CO" i="1">
                                        <a:latin typeface="Cambria Math" panose="02040503050406030204" pitchFamily="18" charset="0"/>
                                      </a:rPr>
                                      <m:t>𝜆</m:t>
                                    </m:r>
                                  </m:e>
                                  <m:sup>
                                    <m:r>
                                      <a:rPr lang="es-CO" i="0">
                                        <a:latin typeface="Cambria Math" panose="02040503050406030204" pitchFamily="18" charset="0"/>
                                      </a:rPr>
                                      <m:t>2</m:t>
                                    </m:r>
                                  </m:sup>
                                </m:sSup>
                              </m:den>
                            </m:f>
                          </m:e>
                        </m:mr>
                      </m:m>
                    </m:oMath>
                  </m:oMathPara>
                </a14:m>
                <a:endParaRPr lang="es-CO" dirty="0"/>
              </a:p>
            </p:txBody>
          </p:sp>
        </mc:Choice>
        <mc:Fallback>
          <p:sp>
            <p:nvSpPr>
              <p:cNvPr id="27" name="TextBox 26">
                <a:extLst>
                  <a:ext uri="{FF2B5EF4-FFF2-40B4-BE49-F238E27FC236}">
                    <a16:creationId xmlns:a16="http://schemas.microsoft.com/office/drawing/2014/main" id="{7AD19F35-16CA-66E6-9A60-D1BB63DD645F}"/>
                  </a:ext>
                </a:extLst>
              </p:cNvPr>
              <p:cNvSpPr txBox="1">
                <a:spLocks noRot="1" noChangeAspect="1" noMove="1" noResize="1" noEditPoints="1" noAdjustHandles="1" noChangeArrowheads="1" noChangeShapeType="1" noTextEdit="1"/>
              </p:cNvSpPr>
              <p:nvPr/>
            </p:nvSpPr>
            <p:spPr>
              <a:xfrm>
                <a:off x="7741920" y="3477777"/>
                <a:ext cx="2453640" cy="648191"/>
              </a:xfrm>
              <a:prstGeom prst="rect">
                <a:avLst/>
              </a:prstGeom>
              <a:blipFill>
                <a:blip r:embed="rId10"/>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73CFECAE-56C3-9992-5A18-B8573B9750DE}"/>
                  </a:ext>
                </a:extLst>
              </p:cNvPr>
              <p:cNvSpPr txBox="1"/>
              <p:nvPr/>
            </p:nvSpPr>
            <p:spPr>
              <a:xfrm>
                <a:off x="7726680" y="4333451"/>
                <a:ext cx="2453640" cy="61837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s-CO" i="1" smtClean="0">
                              <a:latin typeface="Cambria Math" panose="02040503050406030204" pitchFamily="18" charset="0"/>
                            </a:rPr>
                          </m:ctrlPr>
                        </m:mPr>
                        <m:mr>
                          <m:e>
                            <m:r>
                              <a:rPr lang="es-CO" i="1">
                                <a:latin typeface="Cambria Math" panose="02040503050406030204" pitchFamily="18" charset="0"/>
                              </a:rPr>
                              <m:t>𝐷</m:t>
                            </m:r>
                            <m:r>
                              <a:rPr lang="es-CO" i="0">
                                <a:latin typeface="Cambria Math" panose="02040503050406030204" pitchFamily="18" charset="0"/>
                              </a:rPr>
                              <m:t>=−</m:t>
                            </m:r>
                            <m:f>
                              <m:fPr>
                                <m:ctrlPr>
                                  <a:rPr lang="es-CO" i="1">
                                    <a:latin typeface="Cambria Math" panose="02040503050406030204" pitchFamily="18" charset="0"/>
                                  </a:rPr>
                                </m:ctrlPr>
                              </m:fPr>
                              <m:num>
                                <m:r>
                                  <a:rPr lang="es-MX" b="0" i="1" smtClean="0">
                                    <a:latin typeface="Cambria Math" panose="02040503050406030204" pitchFamily="18" charset="0"/>
                                  </a:rPr>
                                  <m:t>2</m:t>
                                </m:r>
                                <m:r>
                                  <a:rPr lang="es-CO" i="1">
                                    <a:latin typeface="Cambria Math" panose="02040503050406030204" pitchFamily="18" charset="0"/>
                                  </a:rPr>
                                  <m:t>𝜆</m:t>
                                </m:r>
                              </m:num>
                              <m:den>
                                <m:r>
                                  <a:rPr lang="es-CO" i="1">
                                    <a:latin typeface="Cambria Math" panose="02040503050406030204" pitchFamily="18" charset="0"/>
                                  </a:rPr>
                                  <m:t>𝑐</m:t>
                                </m:r>
                              </m:den>
                            </m:f>
                            <m:sSub>
                              <m:sSubPr>
                                <m:ctrlPr>
                                  <a:rPr lang="es-CO" i="1">
                                    <a:latin typeface="Cambria Math" panose="02040503050406030204" pitchFamily="18" charset="0"/>
                                  </a:rPr>
                                </m:ctrlPr>
                              </m:sSubPr>
                              <m:e>
                                <m:r>
                                  <a:rPr lang="es-CO" i="1">
                                    <a:latin typeface="Cambria Math" panose="02040503050406030204" pitchFamily="18" charset="0"/>
                                  </a:rPr>
                                  <m:t>𝑛</m:t>
                                </m:r>
                              </m:e>
                              <m:sub>
                                <m:r>
                                  <a:rPr lang="es-CO">
                                    <a:latin typeface="Cambria Math" panose="02040503050406030204" pitchFamily="18" charset="0"/>
                                  </a:rPr>
                                  <m:t>3</m:t>
                                </m:r>
                              </m:sub>
                            </m:sSub>
                          </m:e>
                        </m:mr>
                      </m:m>
                    </m:oMath>
                  </m:oMathPara>
                </a14:m>
                <a:endParaRPr lang="es-CO" dirty="0"/>
              </a:p>
            </p:txBody>
          </p:sp>
        </mc:Choice>
        <mc:Fallback>
          <p:sp>
            <p:nvSpPr>
              <p:cNvPr id="28" name="TextBox 27">
                <a:extLst>
                  <a:ext uri="{FF2B5EF4-FFF2-40B4-BE49-F238E27FC236}">
                    <a16:creationId xmlns:a16="http://schemas.microsoft.com/office/drawing/2014/main" id="{73CFECAE-56C3-9992-5A18-B8573B9750DE}"/>
                  </a:ext>
                </a:extLst>
              </p:cNvPr>
              <p:cNvSpPr txBox="1">
                <a:spLocks noRot="1" noChangeAspect="1" noMove="1" noResize="1" noEditPoints="1" noAdjustHandles="1" noChangeArrowheads="1" noChangeShapeType="1" noTextEdit="1"/>
              </p:cNvSpPr>
              <p:nvPr/>
            </p:nvSpPr>
            <p:spPr>
              <a:xfrm>
                <a:off x="7726680" y="4333451"/>
                <a:ext cx="2453640" cy="618374"/>
              </a:xfrm>
              <a:prstGeom prst="rect">
                <a:avLst/>
              </a:prstGeom>
              <a:blipFill>
                <a:blip r:embed="rId11"/>
                <a:stretch>
                  <a:fillRect/>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9" name="object 16">
                <a:extLst>
                  <a:ext uri="{FF2B5EF4-FFF2-40B4-BE49-F238E27FC236}">
                    <a16:creationId xmlns:a16="http://schemas.microsoft.com/office/drawing/2014/main" id="{6BCE33EE-58DE-364F-FD8F-5EA4175B887B}"/>
                  </a:ext>
                </a:extLst>
              </p:cNvPr>
              <p:cNvSpPr txBox="1">
                <a:spLocks noGrp="1"/>
              </p:cNvSpPr>
              <p:nvPr>
                <p:ph type="title"/>
              </p:nvPr>
            </p:nvSpPr>
            <p:spPr>
              <a:xfrm>
                <a:off x="560695" y="149274"/>
                <a:ext cx="10994410" cy="107125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Waveguide compact model</a:t>
                </a:r>
                <a:br>
                  <a:rPr lang="en-US" sz="2500" spc="-5" dirty="0">
                    <a:latin typeface="+mj-lt"/>
                    <a:cs typeface="Lucida Sans"/>
                  </a:rPr>
                </a:br>
                <a:r>
                  <a:rPr lang="en-US" b="0" dirty="0"/>
                  <a:t>Let’s model the waveguide using a second order polynomial: </a:t>
                </a:r>
                <a:br>
                  <a:rPr lang="en-US" b="0" dirty="0"/>
                </a:br>
                <a14:m>
                  <m:oMathPara xmlns:m="http://schemas.openxmlformats.org/officeDocument/2006/math">
                    <m:oMathParaPr>
                      <m:jc m:val="centerGroup"/>
                    </m:oMathParaPr>
                    <m:oMath xmlns:m="http://schemas.openxmlformats.org/officeDocument/2006/math">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𝑒𝑓𝑓</m:t>
                          </m:r>
                        </m:sub>
                      </m:sSub>
                      <m:d>
                        <m:dPr>
                          <m:ctrlPr>
                            <a:rPr lang="es-ES" b="0" i="1" smtClean="0">
                              <a:latin typeface="Cambria Math" panose="02040503050406030204" pitchFamily="18" charset="0"/>
                            </a:rPr>
                          </m:ctrlPr>
                        </m:dPr>
                        <m:e>
                          <m:r>
                            <a:rPr lang="es-ES" b="0" i="1" smtClean="0">
                              <a:latin typeface="Cambria Math" panose="02040503050406030204" pitchFamily="18" charset="0"/>
                            </a:rPr>
                            <m:t>𝜆</m:t>
                          </m:r>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1</m:t>
                          </m:r>
                        </m:sub>
                      </m:sSub>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2</m:t>
                          </m:r>
                        </m:sub>
                      </m:sSub>
                      <m:d>
                        <m:dPr>
                          <m:ctrlPr>
                            <a:rPr lang="es-ES" b="0" i="1" smtClean="0">
                              <a:latin typeface="Cambria Math" panose="02040503050406030204" pitchFamily="18" charset="0"/>
                            </a:rPr>
                          </m:ctrlPr>
                        </m:dPr>
                        <m:e>
                          <m:r>
                            <a:rPr lang="es-ES" b="0" i="1" smtClean="0">
                              <a:latin typeface="Cambria Math" panose="02040503050406030204" pitchFamily="18" charset="0"/>
                            </a:rPr>
                            <m:t>𝜆</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𝜆</m:t>
                              </m:r>
                            </m:e>
                            <m:sub>
                              <m:r>
                                <a:rPr lang="es-ES" b="0" i="1" smtClean="0">
                                  <a:latin typeface="Cambria Math" panose="02040503050406030204" pitchFamily="18" charset="0"/>
                                </a:rPr>
                                <m:t>0</m:t>
                              </m:r>
                            </m:sub>
                          </m:sSub>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3</m:t>
                          </m:r>
                        </m:sub>
                      </m:sSub>
                      <m:sSup>
                        <m:sSupPr>
                          <m:ctrlPr>
                            <a:rPr lang="es-ES" b="0" i="1" smtClean="0">
                              <a:latin typeface="Cambria Math" panose="02040503050406030204" pitchFamily="18" charset="0"/>
                            </a:rPr>
                          </m:ctrlPr>
                        </m:sSupPr>
                        <m:e>
                          <m:d>
                            <m:dPr>
                              <m:ctrlPr>
                                <a:rPr lang="es-ES" b="0" i="1" smtClean="0">
                                  <a:latin typeface="Cambria Math" panose="02040503050406030204" pitchFamily="18" charset="0"/>
                                </a:rPr>
                              </m:ctrlPr>
                            </m:dPr>
                            <m:e>
                              <m:r>
                                <a:rPr lang="es-ES" b="0" i="1" smtClean="0">
                                  <a:latin typeface="Cambria Math" panose="02040503050406030204" pitchFamily="18" charset="0"/>
                                </a:rPr>
                                <m:t>𝜆</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𝜆</m:t>
                                  </m:r>
                                </m:e>
                                <m:sub>
                                  <m:r>
                                    <a:rPr lang="es-ES" b="0" i="1" smtClean="0">
                                      <a:latin typeface="Cambria Math" panose="02040503050406030204" pitchFamily="18" charset="0"/>
                                    </a:rPr>
                                    <m:t>0</m:t>
                                  </m:r>
                                </m:sub>
                              </m:sSub>
                            </m:e>
                          </m:d>
                        </m:e>
                        <m:sup>
                          <m:r>
                            <a:rPr lang="es-ES" b="0" i="1" smtClean="0">
                              <a:latin typeface="Cambria Math" panose="02040503050406030204" pitchFamily="18" charset="0"/>
                            </a:rPr>
                            <m:t>2</m:t>
                          </m:r>
                        </m:sup>
                      </m:sSup>
                    </m:oMath>
                  </m:oMathPara>
                </a14:m>
                <a:br>
                  <a:rPr lang="en-US" b="0" dirty="0"/>
                </a:br>
                <a:endParaRPr lang="en-US" sz="2500" b="0" dirty="0">
                  <a:latin typeface="+mj-lt"/>
                  <a:cs typeface="Lucida Sans"/>
                </a:endParaRPr>
              </a:p>
            </p:txBody>
          </p:sp>
        </mc:Choice>
        <mc:Fallback>
          <p:sp>
            <p:nvSpPr>
              <p:cNvPr id="29" name="object 16">
                <a:extLst>
                  <a:ext uri="{FF2B5EF4-FFF2-40B4-BE49-F238E27FC236}">
                    <a16:creationId xmlns:a16="http://schemas.microsoft.com/office/drawing/2014/main" id="{6BCE33EE-58DE-364F-FD8F-5EA4175B887B}"/>
                  </a:ext>
                </a:extLst>
              </p:cNvPr>
              <p:cNvSpPr txBox="1">
                <a:spLocks noGrp="1" noRot="1" noChangeAspect="1" noMove="1" noResize="1" noEditPoints="1" noAdjustHandles="1" noChangeArrowheads="1" noChangeShapeType="1" noTextEdit="1"/>
              </p:cNvSpPr>
              <p:nvPr>
                <p:ph type="title"/>
              </p:nvPr>
            </p:nvSpPr>
            <p:spPr>
              <a:xfrm>
                <a:off x="560695" y="149274"/>
                <a:ext cx="10994410" cy="1071255"/>
              </a:xfrm>
              <a:prstGeom prst="rect">
                <a:avLst/>
              </a:prstGeom>
              <a:blipFill>
                <a:blip r:embed="rId12"/>
                <a:stretch>
                  <a:fillRect l="-1663" t="-6818" b="-4545"/>
                </a:stretch>
              </a:blipFill>
            </p:spPr>
            <p:txBody>
              <a:bodyPr/>
              <a:lstStyle/>
              <a:p>
                <a:r>
                  <a:rPr lang="es-CO">
                    <a:noFill/>
                  </a:rPr>
                  <a:t> </a:t>
                </a:r>
              </a:p>
            </p:txBody>
          </p:sp>
        </mc:Fallback>
      </mc:AlternateContent>
    </p:spTree>
    <p:extLst>
      <p:ext uri="{BB962C8B-B14F-4D97-AF65-F5344CB8AC3E}">
        <p14:creationId xmlns:p14="http://schemas.microsoft.com/office/powerpoint/2010/main" val="3313194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p:pic>
        <p:nvPicPr>
          <p:cNvPr id="19" name="Picture 18">
            <a:extLst>
              <a:ext uri="{FF2B5EF4-FFF2-40B4-BE49-F238E27FC236}">
                <a16:creationId xmlns:a16="http://schemas.microsoft.com/office/drawing/2014/main" id="{71014351-C0C5-D62A-F7B5-A414E9C930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1254" y="1379216"/>
            <a:ext cx="5340107" cy="4023368"/>
          </a:xfrm>
          <a:prstGeom prst="rect">
            <a:avLst/>
          </a:prstGeom>
        </p:spPr>
      </p:pic>
      <p:pic>
        <p:nvPicPr>
          <p:cNvPr id="17" name="Picture 16">
            <a:extLst>
              <a:ext uri="{FF2B5EF4-FFF2-40B4-BE49-F238E27FC236}">
                <a16:creationId xmlns:a16="http://schemas.microsoft.com/office/drawing/2014/main" id="{8E3262C1-CC6C-E16C-8DCD-60563B936A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94649" y="1379216"/>
            <a:ext cx="5340107" cy="4023368"/>
          </a:xfrm>
          <a:prstGeom prst="rect">
            <a:avLst/>
          </a:prstGeom>
        </p:spPr>
      </p:pic>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07125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Waveguide compact model</a:t>
                </a:r>
                <a:br>
                  <a:rPr lang="en-US" sz="2500" spc="-5" dirty="0">
                    <a:latin typeface="+mj-lt"/>
                    <a:cs typeface="Lucida Sans"/>
                  </a:rPr>
                </a:br>
                <a:r>
                  <a:rPr lang="en-US" b="0" dirty="0"/>
                  <a:t>Let’s model the waveguide using a second order polynomial: </a:t>
                </a:r>
                <a:br>
                  <a:rPr lang="en-US" b="0" dirty="0"/>
                </a:br>
                <a14:m>
                  <m:oMathPara xmlns:m="http://schemas.openxmlformats.org/officeDocument/2006/math">
                    <m:oMathParaPr>
                      <m:jc m:val="centerGroup"/>
                    </m:oMathParaPr>
                    <m:oMath xmlns:m="http://schemas.openxmlformats.org/officeDocument/2006/math">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𝑒𝑓𝑓</m:t>
                          </m:r>
                        </m:sub>
                      </m:sSub>
                      <m:d>
                        <m:dPr>
                          <m:ctrlPr>
                            <a:rPr lang="es-ES" b="0" i="1" smtClean="0">
                              <a:latin typeface="Cambria Math" panose="02040503050406030204" pitchFamily="18" charset="0"/>
                            </a:rPr>
                          </m:ctrlPr>
                        </m:dPr>
                        <m:e>
                          <m:r>
                            <a:rPr lang="es-ES" b="0" i="1" smtClean="0">
                              <a:latin typeface="Cambria Math" panose="02040503050406030204" pitchFamily="18" charset="0"/>
                            </a:rPr>
                            <m:t>𝜆</m:t>
                          </m:r>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1</m:t>
                          </m:r>
                        </m:sub>
                      </m:sSub>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2</m:t>
                          </m:r>
                        </m:sub>
                      </m:sSub>
                      <m:d>
                        <m:dPr>
                          <m:ctrlPr>
                            <a:rPr lang="es-ES" b="0" i="1" smtClean="0">
                              <a:latin typeface="Cambria Math" panose="02040503050406030204" pitchFamily="18" charset="0"/>
                            </a:rPr>
                          </m:ctrlPr>
                        </m:dPr>
                        <m:e>
                          <m:r>
                            <a:rPr lang="es-ES" b="0" i="1" smtClean="0">
                              <a:latin typeface="Cambria Math" panose="02040503050406030204" pitchFamily="18" charset="0"/>
                            </a:rPr>
                            <m:t>𝜆</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𝜆</m:t>
                              </m:r>
                            </m:e>
                            <m:sub>
                              <m:r>
                                <a:rPr lang="es-ES" b="0" i="1" smtClean="0">
                                  <a:latin typeface="Cambria Math" panose="02040503050406030204" pitchFamily="18" charset="0"/>
                                </a:rPr>
                                <m:t>0</m:t>
                              </m:r>
                            </m:sub>
                          </m:sSub>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3</m:t>
                          </m:r>
                        </m:sub>
                      </m:sSub>
                      <m:sSup>
                        <m:sSupPr>
                          <m:ctrlPr>
                            <a:rPr lang="es-ES" b="0" i="1" smtClean="0">
                              <a:latin typeface="Cambria Math" panose="02040503050406030204" pitchFamily="18" charset="0"/>
                            </a:rPr>
                          </m:ctrlPr>
                        </m:sSupPr>
                        <m:e>
                          <m:d>
                            <m:dPr>
                              <m:ctrlPr>
                                <a:rPr lang="es-ES" b="0" i="1" smtClean="0">
                                  <a:latin typeface="Cambria Math" panose="02040503050406030204" pitchFamily="18" charset="0"/>
                                </a:rPr>
                              </m:ctrlPr>
                            </m:dPr>
                            <m:e>
                              <m:r>
                                <a:rPr lang="es-ES" b="0" i="1" smtClean="0">
                                  <a:latin typeface="Cambria Math" panose="02040503050406030204" pitchFamily="18" charset="0"/>
                                </a:rPr>
                                <m:t>𝜆</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𝜆</m:t>
                                  </m:r>
                                </m:e>
                                <m:sub>
                                  <m:r>
                                    <a:rPr lang="es-ES" b="0" i="1" smtClean="0">
                                      <a:latin typeface="Cambria Math" panose="02040503050406030204" pitchFamily="18" charset="0"/>
                                    </a:rPr>
                                    <m:t>0</m:t>
                                  </m:r>
                                </m:sub>
                              </m:sSub>
                            </m:e>
                          </m:d>
                        </m:e>
                        <m:sup>
                          <m:r>
                            <a:rPr lang="es-ES" b="0" i="1" smtClean="0">
                              <a:latin typeface="Cambria Math" panose="02040503050406030204" pitchFamily="18" charset="0"/>
                            </a:rPr>
                            <m:t>2</m:t>
                          </m:r>
                        </m:sup>
                      </m:sSup>
                    </m:oMath>
                  </m:oMathPara>
                </a14:m>
                <a:br>
                  <a:rPr lang="en-US" b="0" dirty="0"/>
                </a:br>
                <a:endParaRPr lang="en-US" sz="2500" b="0" dirty="0">
                  <a:latin typeface="+mj-lt"/>
                  <a:cs typeface="Lucida Sans"/>
                </a:endParaRPr>
              </a:p>
            </p:txBody>
          </p:sp>
        </mc:Choice>
        <mc:Fallback xmlns="">
          <p:sp>
            <p:nvSpPr>
              <p:cNvPr id="16" name="object 16">
                <a:extLst>
                  <a:ext uri="{FF2B5EF4-FFF2-40B4-BE49-F238E27FC236}">
                    <a16:creationId xmlns:a16="http://schemas.microsoft.com/office/drawing/2014/main" id="{394400B4-EE16-8E85-AB54-E82FE3B29345}"/>
                  </a:ext>
                </a:extLst>
              </p:cNvPr>
              <p:cNvSpPr txBox="1">
                <a:spLocks noGrp="1" noRot="1" noChangeAspect="1" noMove="1" noResize="1" noEditPoints="1" noAdjustHandles="1" noChangeArrowheads="1" noChangeShapeType="1" noTextEdit="1"/>
              </p:cNvSpPr>
              <p:nvPr>
                <p:ph type="title"/>
              </p:nvPr>
            </p:nvSpPr>
            <p:spPr>
              <a:xfrm>
                <a:off x="685800" y="408883"/>
                <a:ext cx="10994410" cy="1071255"/>
              </a:xfrm>
              <a:prstGeom prst="rect">
                <a:avLst/>
              </a:prstGeom>
              <a:blipFill>
                <a:blip r:embed="rId5"/>
                <a:stretch>
                  <a:fillRect l="-1664" t="-7386" b="-4545"/>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Rectángulo 4">
            <a:extLst>
              <a:ext uri="{FF2B5EF4-FFF2-40B4-BE49-F238E27FC236}">
                <a16:creationId xmlns:a16="http://schemas.microsoft.com/office/drawing/2014/main" id="{A6B92C76-6772-2E00-346F-532321092C04}"/>
              </a:ext>
            </a:extLst>
          </p:cNvPr>
          <p:cNvSpPr/>
          <p:nvPr/>
        </p:nvSpPr>
        <p:spPr>
          <a:xfrm>
            <a:off x="609441" y="1447800"/>
            <a:ext cx="5486559" cy="38862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2886628E-6E58-1F7E-B6C6-432B9A228397}"/>
              </a:ext>
            </a:extLst>
          </p:cNvPr>
          <p:cNvSpPr/>
          <p:nvPr/>
        </p:nvSpPr>
        <p:spPr>
          <a:xfrm>
            <a:off x="6321424" y="1447800"/>
            <a:ext cx="5486559" cy="38862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 name="CuadroTexto 9">
                <a:extLst>
                  <a:ext uri="{FF2B5EF4-FFF2-40B4-BE49-F238E27FC236}">
                    <a16:creationId xmlns:a16="http://schemas.microsoft.com/office/drawing/2014/main" id="{9BFD227C-0C00-4526-20C1-AF41442D36AE}"/>
                  </a:ext>
                </a:extLst>
              </p:cNvPr>
              <p:cNvSpPr txBox="1"/>
              <p:nvPr/>
            </p:nvSpPr>
            <p:spPr>
              <a:xfrm>
                <a:off x="608013" y="5419470"/>
                <a:ext cx="5486560" cy="679930"/>
              </a:xfrm>
              <a:prstGeom prst="rect">
                <a:avLst/>
              </a:prstGeom>
              <a:solidFill>
                <a:schemeClr val="bg1">
                  <a:lumMod val="95000"/>
                </a:schemeClr>
              </a:solidFill>
              <a:ln w="28575">
                <a:solidFill>
                  <a:srgbClr val="E0700D"/>
                </a:solidFill>
              </a:ln>
            </p:spPr>
            <p:txBody>
              <a:bodyPr wrap="square" rtlCol="0">
                <a:spAutoFit/>
              </a:bodyPr>
              <a:lstStyle/>
              <a:p>
                <a:pPr algn="ctr"/>
                <a14:m>
                  <m:oMath xmlns:m="http://schemas.openxmlformats.org/officeDocument/2006/math">
                    <m:sSub>
                      <m:sSubPr>
                        <m:ctrlPr>
                          <a:rPr lang="es-ES" sz="1200" i="1" smtClean="0">
                            <a:latin typeface="Cambria Math" panose="02040503050406030204" pitchFamily="18" charset="0"/>
                          </a:rPr>
                        </m:ctrlPr>
                      </m:sSubPr>
                      <m:e>
                        <m:r>
                          <a:rPr lang="es-ES" sz="1200" i="1">
                            <a:latin typeface="Cambria Math" panose="02040503050406030204" pitchFamily="18" charset="0"/>
                          </a:rPr>
                          <m:t>𝑛</m:t>
                        </m:r>
                      </m:e>
                      <m:sub>
                        <m:r>
                          <a:rPr lang="es-ES" sz="1200" i="1">
                            <a:latin typeface="Cambria Math" panose="02040503050406030204" pitchFamily="18" charset="0"/>
                          </a:rPr>
                          <m:t>𝑒𝑓𝑓</m:t>
                        </m:r>
                      </m:sub>
                    </m:sSub>
                    <m:d>
                      <m:dPr>
                        <m:ctrlPr>
                          <a:rPr lang="es-ES" sz="1200" i="1">
                            <a:latin typeface="Cambria Math" panose="02040503050406030204" pitchFamily="18" charset="0"/>
                          </a:rPr>
                        </m:ctrlPr>
                      </m:dPr>
                      <m:e>
                        <m:r>
                          <a:rPr lang="es-ES" sz="1200" i="1">
                            <a:latin typeface="Cambria Math" panose="02040503050406030204" pitchFamily="18" charset="0"/>
                          </a:rPr>
                          <m:t>𝜆</m:t>
                        </m:r>
                      </m:e>
                    </m:d>
                    <m:r>
                      <a:rPr lang="es-ES" sz="1200" i="1">
                        <a:latin typeface="Cambria Math" panose="02040503050406030204" pitchFamily="18" charset="0"/>
                      </a:rPr>
                      <m:t>=</m:t>
                    </m:r>
                    <m:r>
                      <a:rPr lang="es-MX" sz="1200" b="0" i="1" smtClean="0">
                        <a:latin typeface="Cambria Math" panose="02040503050406030204" pitchFamily="18" charset="0"/>
                      </a:rPr>
                      <m:t>1</m:t>
                    </m:r>
                    <m:r>
                      <a:rPr lang="es-MX" sz="1200" b="0" i="1" smtClean="0">
                        <a:latin typeface="Cambria Math" panose="02040503050406030204" pitchFamily="18" charset="0"/>
                      </a:rPr>
                      <m:t>,</m:t>
                    </m:r>
                    <m:r>
                      <a:rPr lang="es-MX" sz="1200" b="0" i="1" smtClean="0">
                        <a:latin typeface="Cambria Math" panose="02040503050406030204" pitchFamily="18" charset="0"/>
                      </a:rPr>
                      <m:t>60</m:t>
                    </m:r>
                    <m:r>
                      <a:rPr lang="es-MX" sz="1200" b="0" i="1" smtClean="0">
                        <a:latin typeface="Cambria Math" panose="02040503050406030204" pitchFamily="18" charset="0"/>
                      </a:rPr>
                      <m:t>−</m:t>
                    </m:r>
                    <m:r>
                      <a:rPr lang="es-MX" sz="1200" b="0" i="1" smtClean="0">
                        <a:latin typeface="Cambria Math" panose="02040503050406030204" pitchFamily="18" charset="0"/>
                      </a:rPr>
                      <m:t>0</m:t>
                    </m:r>
                    <m:r>
                      <a:rPr lang="es-MX" sz="1200" b="0" i="1" smtClean="0">
                        <a:latin typeface="Cambria Math" panose="02040503050406030204" pitchFamily="18" charset="0"/>
                      </a:rPr>
                      <m:t>,</m:t>
                    </m:r>
                    <m:r>
                      <a:rPr lang="es-MX" sz="1200" b="0" i="1" smtClean="0">
                        <a:latin typeface="Cambria Math" panose="02040503050406030204" pitchFamily="18" charset="0"/>
                      </a:rPr>
                      <m:t>22</m:t>
                    </m:r>
                    <m:d>
                      <m:dPr>
                        <m:ctrlPr>
                          <a:rPr lang="es-ES" sz="1200" i="1">
                            <a:latin typeface="Cambria Math" panose="02040503050406030204" pitchFamily="18" charset="0"/>
                          </a:rPr>
                        </m:ctrlPr>
                      </m:dPr>
                      <m:e>
                        <m:r>
                          <a:rPr lang="es-ES" sz="1200" i="1">
                            <a:latin typeface="Cambria Math" panose="02040503050406030204" pitchFamily="18" charset="0"/>
                          </a:rPr>
                          <m:t>𝜆</m:t>
                        </m:r>
                        <m:r>
                          <a:rPr lang="es-ES" sz="1200" i="1">
                            <a:latin typeface="Cambria Math" panose="02040503050406030204" pitchFamily="18" charset="0"/>
                          </a:rPr>
                          <m:t>−</m:t>
                        </m:r>
                        <m:sSub>
                          <m:sSubPr>
                            <m:ctrlPr>
                              <a:rPr lang="es-ES" sz="1200" i="1">
                                <a:latin typeface="Cambria Math" panose="02040503050406030204" pitchFamily="18" charset="0"/>
                              </a:rPr>
                            </m:ctrlPr>
                          </m:sSubPr>
                          <m:e>
                            <m:r>
                              <a:rPr lang="es-ES" sz="1200" i="1">
                                <a:latin typeface="Cambria Math" panose="02040503050406030204" pitchFamily="18" charset="0"/>
                              </a:rPr>
                              <m:t>𝜆</m:t>
                            </m:r>
                          </m:e>
                          <m:sub>
                            <m:r>
                              <a:rPr lang="es-ES" sz="1200" i="1">
                                <a:latin typeface="Cambria Math" panose="02040503050406030204" pitchFamily="18" charset="0"/>
                              </a:rPr>
                              <m:t>0</m:t>
                            </m:r>
                          </m:sub>
                        </m:sSub>
                      </m:e>
                    </m:d>
                    <m:r>
                      <a:rPr lang="es-ES" sz="1200" i="1">
                        <a:latin typeface="Cambria Math" panose="02040503050406030204" pitchFamily="18" charset="0"/>
                      </a:rPr>
                      <m:t>+</m:t>
                    </m:r>
                    <m:r>
                      <a:rPr lang="es-MX" sz="1200" b="0" i="1" smtClean="0">
                        <a:latin typeface="Cambria Math" panose="02040503050406030204" pitchFamily="18" charset="0"/>
                      </a:rPr>
                      <m:t>0</m:t>
                    </m:r>
                    <m:r>
                      <a:rPr lang="es-MX" sz="1200" b="0" i="1" smtClean="0">
                        <a:latin typeface="Cambria Math" panose="02040503050406030204" pitchFamily="18" charset="0"/>
                      </a:rPr>
                      <m:t>,</m:t>
                    </m:r>
                    <m:r>
                      <a:rPr lang="es-MX" sz="1200" b="0" i="1" smtClean="0">
                        <a:latin typeface="Cambria Math" panose="02040503050406030204" pitchFamily="18" charset="0"/>
                      </a:rPr>
                      <m:t>10</m:t>
                    </m:r>
                    <m:sSup>
                      <m:sSupPr>
                        <m:ctrlPr>
                          <a:rPr lang="es-ES" sz="1200" i="1">
                            <a:latin typeface="Cambria Math" panose="02040503050406030204" pitchFamily="18" charset="0"/>
                          </a:rPr>
                        </m:ctrlPr>
                      </m:sSupPr>
                      <m:e>
                        <m:d>
                          <m:dPr>
                            <m:ctrlPr>
                              <a:rPr lang="es-ES" sz="1200" i="1">
                                <a:latin typeface="Cambria Math" panose="02040503050406030204" pitchFamily="18" charset="0"/>
                              </a:rPr>
                            </m:ctrlPr>
                          </m:dPr>
                          <m:e>
                            <m:r>
                              <a:rPr lang="es-ES" sz="1200" i="1">
                                <a:latin typeface="Cambria Math" panose="02040503050406030204" pitchFamily="18" charset="0"/>
                              </a:rPr>
                              <m:t>𝜆</m:t>
                            </m:r>
                            <m:r>
                              <a:rPr lang="es-ES" sz="1200" i="1">
                                <a:latin typeface="Cambria Math" panose="02040503050406030204" pitchFamily="18" charset="0"/>
                              </a:rPr>
                              <m:t>−</m:t>
                            </m:r>
                            <m:sSub>
                              <m:sSubPr>
                                <m:ctrlPr>
                                  <a:rPr lang="es-ES" sz="1200" i="1">
                                    <a:latin typeface="Cambria Math" panose="02040503050406030204" pitchFamily="18" charset="0"/>
                                  </a:rPr>
                                </m:ctrlPr>
                              </m:sSubPr>
                              <m:e>
                                <m:r>
                                  <a:rPr lang="es-ES" sz="1200" i="1">
                                    <a:latin typeface="Cambria Math" panose="02040503050406030204" pitchFamily="18" charset="0"/>
                                  </a:rPr>
                                  <m:t>𝜆</m:t>
                                </m:r>
                              </m:e>
                              <m:sub>
                                <m:r>
                                  <a:rPr lang="es-ES" sz="1200" i="1">
                                    <a:latin typeface="Cambria Math" panose="02040503050406030204" pitchFamily="18" charset="0"/>
                                  </a:rPr>
                                  <m:t>0</m:t>
                                </m:r>
                              </m:sub>
                            </m:sSub>
                          </m:e>
                        </m:d>
                      </m:e>
                      <m:sup>
                        <m:r>
                          <a:rPr lang="es-ES" sz="1200" i="1">
                            <a:latin typeface="Cambria Math" panose="02040503050406030204" pitchFamily="18" charset="0"/>
                          </a:rPr>
                          <m:t>2</m:t>
                        </m:r>
                      </m:sup>
                    </m:sSup>
                  </m:oMath>
                </a14:m>
                <a:r>
                  <a:rPr lang="es-CO" sz="1200" dirty="0"/>
                  <a:t> </a:t>
                </a:r>
              </a:p>
              <a:p>
                <a:pPr algn="ctr"/>
                <a14:m>
                  <m:oMath xmlns:m="http://schemas.openxmlformats.org/officeDocument/2006/math">
                    <m:sSub>
                      <m:sSubPr>
                        <m:ctrlPr>
                          <a:rPr lang="es-CO" sz="1200" i="1">
                            <a:latin typeface="Cambria Math" panose="02040503050406030204" pitchFamily="18" charset="0"/>
                          </a:rPr>
                        </m:ctrlPr>
                      </m:sSubPr>
                      <m:e>
                        <m:r>
                          <a:rPr lang="es-CO" sz="1200" i="1">
                            <a:latin typeface="Cambria Math" panose="02040503050406030204" pitchFamily="18" charset="0"/>
                          </a:rPr>
                          <m:t>𝑛</m:t>
                        </m:r>
                      </m:e>
                      <m:sub>
                        <m:r>
                          <a:rPr lang="es-CO" sz="1200" i="1">
                            <a:latin typeface="Cambria Math" panose="02040503050406030204" pitchFamily="18" charset="0"/>
                          </a:rPr>
                          <m:t>𝑔</m:t>
                        </m:r>
                      </m:sub>
                    </m:sSub>
                    <m:r>
                      <a:rPr lang="es-CO" sz="1200">
                        <a:latin typeface="Cambria Math" panose="02040503050406030204" pitchFamily="18" charset="0"/>
                      </a:rPr>
                      <m:t>=</m:t>
                    </m:r>
                  </m:oMath>
                </a14:m>
                <a:r>
                  <a:rPr lang="es-CO" sz="1200" dirty="0"/>
                  <a:t> 1,94</a:t>
                </a:r>
              </a:p>
              <a:p>
                <a:pPr algn="ct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s-CO" sz="1200" dirty="0" smtClean="0">
                              <a:latin typeface="Cambria Math" panose="02040503050406030204" pitchFamily="18" charset="0"/>
                            </a:rPr>
                          </m:ctrlPr>
                        </m:mPr>
                        <m:mr>
                          <m:e>
                            <m:r>
                              <m:rPr>
                                <m:sty m:val="p"/>
                              </m:rPr>
                              <a:rPr lang="es-MX" sz="1200" b="0" i="0" dirty="0" smtClean="0">
                                <a:latin typeface="Cambria Math" panose="02040503050406030204" pitchFamily="18" charset="0"/>
                              </a:rPr>
                              <m:t>D</m:t>
                            </m:r>
                            <m:r>
                              <a:rPr lang="es-MX" sz="1200" b="0" i="0" dirty="0" smtClean="0">
                                <a:latin typeface="Cambria Math" panose="02040503050406030204" pitchFamily="18" charset="0"/>
                              </a:rPr>
                              <m:t>=−</m:t>
                            </m:r>
                            <m:r>
                              <a:rPr lang="es-CO" sz="1200" i="0" dirty="0" smtClean="0">
                                <a:latin typeface="Cambria Math" panose="02040503050406030204" pitchFamily="18" charset="0"/>
                              </a:rPr>
                              <m:t>1</m:t>
                            </m:r>
                            <m:r>
                              <a:rPr lang="es-CO" sz="1200" i="0" dirty="0" smtClean="0">
                                <a:latin typeface="Cambria Math" panose="02040503050406030204" pitchFamily="18" charset="0"/>
                              </a:rPr>
                              <m:t>.</m:t>
                            </m:r>
                            <m:r>
                              <a:rPr lang="es-CO" sz="1200" i="0" dirty="0" smtClean="0">
                                <a:latin typeface="Cambria Math" panose="02040503050406030204" pitchFamily="18" charset="0"/>
                              </a:rPr>
                              <m:t>01</m:t>
                            </m:r>
                            <m:r>
                              <a:rPr lang="es-CO" sz="1200" i="0" dirty="0" smtClean="0">
                                <a:latin typeface="Cambria Math" panose="02040503050406030204" pitchFamily="18" charset="0"/>
                              </a:rPr>
                              <m:t>×</m:t>
                            </m:r>
                            <m:sSup>
                              <m:sSupPr>
                                <m:ctrlPr>
                                  <a:rPr lang="es-CO" sz="1200" i="1" dirty="0" smtClean="0">
                                    <a:latin typeface="Cambria Math" panose="02040503050406030204" pitchFamily="18" charset="0"/>
                                  </a:rPr>
                                </m:ctrlPr>
                              </m:sSupPr>
                              <m:e>
                                <m:r>
                                  <a:rPr lang="es-CO" sz="1200" i="0" dirty="0" smtClean="0">
                                    <a:latin typeface="Cambria Math" panose="02040503050406030204" pitchFamily="18" charset="0"/>
                                  </a:rPr>
                                  <m:t>10</m:t>
                                </m:r>
                              </m:e>
                              <m:sup>
                                <m:r>
                                  <a:rPr lang="es-CO" sz="1200" i="0" dirty="0" smtClean="0">
                                    <a:latin typeface="Cambria Math" panose="02040503050406030204" pitchFamily="18" charset="0"/>
                                  </a:rPr>
                                  <m:t>−</m:t>
                                </m:r>
                                <m:r>
                                  <a:rPr lang="es-CO" sz="1200" i="0" dirty="0" smtClean="0">
                                    <a:latin typeface="Cambria Math" panose="02040503050406030204" pitchFamily="18" charset="0"/>
                                  </a:rPr>
                                  <m:t>9</m:t>
                                </m:r>
                              </m:sup>
                            </m:sSup>
                          </m:e>
                        </m:mr>
                      </m:m>
                    </m:oMath>
                  </m:oMathPara>
                </a14:m>
                <a:endParaRPr lang="es-CO" sz="1200" dirty="0"/>
              </a:p>
            </p:txBody>
          </p:sp>
        </mc:Choice>
        <mc:Fallback>
          <p:sp>
            <p:nvSpPr>
              <p:cNvPr id="4" name="CuadroTexto 9">
                <a:extLst>
                  <a:ext uri="{FF2B5EF4-FFF2-40B4-BE49-F238E27FC236}">
                    <a16:creationId xmlns:a16="http://schemas.microsoft.com/office/drawing/2014/main" id="{9BFD227C-0C00-4526-20C1-AF41442D36AE}"/>
                  </a:ext>
                </a:extLst>
              </p:cNvPr>
              <p:cNvSpPr txBox="1">
                <a:spLocks noRot="1" noChangeAspect="1" noMove="1" noResize="1" noEditPoints="1" noAdjustHandles="1" noChangeArrowheads="1" noChangeShapeType="1" noTextEdit="1"/>
              </p:cNvSpPr>
              <p:nvPr/>
            </p:nvSpPr>
            <p:spPr>
              <a:xfrm>
                <a:off x="608013" y="5419470"/>
                <a:ext cx="5486560" cy="679930"/>
              </a:xfrm>
              <a:prstGeom prst="rect">
                <a:avLst/>
              </a:prstGeom>
              <a:blipFill>
                <a:blip r:embed="rId8"/>
                <a:stretch>
                  <a:fillRect/>
                </a:stretch>
              </a:blipFill>
              <a:ln w="28575">
                <a:solidFill>
                  <a:srgbClr val="E0700D"/>
                </a:solidFill>
              </a:ln>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4" name="CuadroTexto 9">
                <a:extLst>
                  <a:ext uri="{FF2B5EF4-FFF2-40B4-BE49-F238E27FC236}">
                    <a16:creationId xmlns:a16="http://schemas.microsoft.com/office/drawing/2014/main" id="{E6CC9CC3-F4F9-1E0A-BD80-34581AECA2DA}"/>
                  </a:ext>
                </a:extLst>
              </p:cNvPr>
              <p:cNvSpPr txBox="1"/>
              <p:nvPr/>
            </p:nvSpPr>
            <p:spPr>
              <a:xfrm>
                <a:off x="6313803" y="5419470"/>
                <a:ext cx="5486560" cy="679930"/>
              </a:xfrm>
              <a:prstGeom prst="rect">
                <a:avLst/>
              </a:prstGeom>
              <a:solidFill>
                <a:schemeClr val="bg1">
                  <a:lumMod val="95000"/>
                </a:schemeClr>
              </a:solidFill>
              <a:ln w="28575">
                <a:solidFill>
                  <a:srgbClr val="E0700D"/>
                </a:solid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s-ES" sz="1200" i="1">
                              <a:latin typeface="Cambria Math" panose="02040503050406030204" pitchFamily="18" charset="0"/>
                            </a:rPr>
                          </m:ctrlPr>
                        </m:sSubPr>
                        <m:e>
                          <m:r>
                            <a:rPr lang="es-ES" sz="1200" i="1">
                              <a:latin typeface="Cambria Math" panose="02040503050406030204" pitchFamily="18" charset="0"/>
                            </a:rPr>
                            <m:t>𝑛</m:t>
                          </m:r>
                        </m:e>
                        <m:sub>
                          <m:r>
                            <a:rPr lang="es-ES" sz="1200" i="1">
                              <a:latin typeface="Cambria Math" panose="02040503050406030204" pitchFamily="18" charset="0"/>
                            </a:rPr>
                            <m:t>𝑒𝑓𝑓</m:t>
                          </m:r>
                        </m:sub>
                      </m:sSub>
                      <m:d>
                        <m:dPr>
                          <m:ctrlPr>
                            <a:rPr lang="es-ES" sz="1200" i="1">
                              <a:latin typeface="Cambria Math" panose="02040503050406030204" pitchFamily="18" charset="0"/>
                            </a:rPr>
                          </m:ctrlPr>
                        </m:dPr>
                        <m:e>
                          <m:r>
                            <a:rPr lang="es-ES" sz="1200" i="1">
                              <a:latin typeface="Cambria Math" panose="02040503050406030204" pitchFamily="18" charset="0"/>
                            </a:rPr>
                            <m:t>𝜆</m:t>
                          </m:r>
                        </m:e>
                      </m:d>
                      <m:r>
                        <a:rPr lang="es-ES" sz="1200" i="1">
                          <a:latin typeface="Cambria Math" panose="02040503050406030204" pitchFamily="18" charset="0"/>
                        </a:rPr>
                        <m:t>=</m:t>
                      </m:r>
                      <m:r>
                        <a:rPr lang="es-MX" sz="1200" i="1">
                          <a:latin typeface="Cambria Math" panose="02040503050406030204" pitchFamily="18" charset="0"/>
                        </a:rPr>
                        <m:t>1</m:t>
                      </m:r>
                      <m:r>
                        <a:rPr lang="es-MX" sz="1200" i="1">
                          <a:latin typeface="Cambria Math" panose="02040503050406030204" pitchFamily="18" charset="0"/>
                        </a:rPr>
                        <m:t>,</m:t>
                      </m:r>
                      <m:r>
                        <a:rPr lang="es-MX" sz="1200" b="0" i="1" smtClean="0">
                          <a:latin typeface="Cambria Math" panose="02040503050406030204" pitchFamily="18" charset="0"/>
                        </a:rPr>
                        <m:t>53</m:t>
                      </m:r>
                      <m:r>
                        <a:rPr lang="es-MX" sz="1200" i="1">
                          <a:latin typeface="Cambria Math" panose="02040503050406030204" pitchFamily="18" charset="0"/>
                        </a:rPr>
                        <m:t>−</m:t>
                      </m:r>
                      <m:r>
                        <a:rPr lang="es-MX" sz="1200" i="1">
                          <a:latin typeface="Cambria Math" panose="02040503050406030204" pitchFamily="18" charset="0"/>
                        </a:rPr>
                        <m:t>0</m:t>
                      </m:r>
                      <m:r>
                        <a:rPr lang="es-MX" sz="1200" i="1">
                          <a:latin typeface="Cambria Math" panose="02040503050406030204" pitchFamily="18" charset="0"/>
                        </a:rPr>
                        <m:t>,</m:t>
                      </m:r>
                      <m:r>
                        <a:rPr lang="es-MX" sz="1200" b="0" i="1" smtClean="0">
                          <a:latin typeface="Cambria Math" panose="02040503050406030204" pitchFamily="18" charset="0"/>
                        </a:rPr>
                        <m:t>16</m:t>
                      </m:r>
                      <m:d>
                        <m:dPr>
                          <m:ctrlPr>
                            <a:rPr lang="es-ES" sz="1200" i="1">
                              <a:latin typeface="Cambria Math" panose="02040503050406030204" pitchFamily="18" charset="0"/>
                            </a:rPr>
                          </m:ctrlPr>
                        </m:dPr>
                        <m:e>
                          <m:r>
                            <a:rPr lang="es-ES" sz="1200" i="1">
                              <a:latin typeface="Cambria Math" panose="02040503050406030204" pitchFamily="18" charset="0"/>
                            </a:rPr>
                            <m:t>𝜆</m:t>
                          </m:r>
                          <m:r>
                            <a:rPr lang="es-ES" sz="1200" i="1">
                              <a:latin typeface="Cambria Math" panose="02040503050406030204" pitchFamily="18" charset="0"/>
                            </a:rPr>
                            <m:t>−</m:t>
                          </m:r>
                          <m:sSub>
                            <m:sSubPr>
                              <m:ctrlPr>
                                <a:rPr lang="es-ES" sz="1200" i="1">
                                  <a:latin typeface="Cambria Math" panose="02040503050406030204" pitchFamily="18" charset="0"/>
                                </a:rPr>
                              </m:ctrlPr>
                            </m:sSubPr>
                            <m:e>
                              <m:r>
                                <a:rPr lang="es-ES" sz="1200" i="1">
                                  <a:latin typeface="Cambria Math" panose="02040503050406030204" pitchFamily="18" charset="0"/>
                                </a:rPr>
                                <m:t>𝜆</m:t>
                              </m:r>
                            </m:e>
                            <m:sub>
                              <m:r>
                                <a:rPr lang="es-ES" sz="1200" i="1">
                                  <a:latin typeface="Cambria Math" panose="02040503050406030204" pitchFamily="18" charset="0"/>
                                </a:rPr>
                                <m:t>0</m:t>
                              </m:r>
                            </m:sub>
                          </m:sSub>
                        </m:e>
                      </m:d>
                      <m:r>
                        <a:rPr lang="es-ES" sz="1200" i="1">
                          <a:latin typeface="Cambria Math" panose="02040503050406030204" pitchFamily="18" charset="0"/>
                        </a:rPr>
                        <m:t>+</m:t>
                      </m:r>
                      <m:r>
                        <a:rPr lang="es-MX" sz="1200" i="1">
                          <a:latin typeface="Cambria Math" panose="02040503050406030204" pitchFamily="18" charset="0"/>
                        </a:rPr>
                        <m:t>0</m:t>
                      </m:r>
                      <m:r>
                        <a:rPr lang="es-MX" sz="1200" i="1">
                          <a:latin typeface="Cambria Math" panose="02040503050406030204" pitchFamily="18" charset="0"/>
                        </a:rPr>
                        <m:t>,</m:t>
                      </m:r>
                      <m:r>
                        <a:rPr lang="es-MX" sz="1200" i="1">
                          <a:latin typeface="Cambria Math" panose="02040503050406030204" pitchFamily="18" charset="0"/>
                        </a:rPr>
                        <m:t>15</m:t>
                      </m:r>
                      <m:sSup>
                        <m:sSupPr>
                          <m:ctrlPr>
                            <a:rPr lang="es-ES" sz="1200" i="1">
                              <a:latin typeface="Cambria Math" panose="02040503050406030204" pitchFamily="18" charset="0"/>
                            </a:rPr>
                          </m:ctrlPr>
                        </m:sSupPr>
                        <m:e>
                          <m:d>
                            <m:dPr>
                              <m:ctrlPr>
                                <a:rPr lang="es-ES" sz="1200" i="1">
                                  <a:latin typeface="Cambria Math" panose="02040503050406030204" pitchFamily="18" charset="0"/>
                                </a:rPr>
                              </m:ctrlPr>
                            </m:dPr>
                            <m:e>
                              <m:r>
                                <a:rPr lang="es-ES" sz="1200" i="1">
                                  <a:latin typeface="Cambria Math" panose="02040503050406030204" pitchFamily="18" charset="0"/>
                                </a:rPr>
                                <m:t>𝜆</m:t>
                              </m:r>
                              <m:r>
                                <a:rPr lang="es-ES" sz="1200" i="1">
                                  <a:latin typeface="Cambria Math" panose="02040503050406030204" pitchFamily="18" charset="0"/>
                                </a:rPr>
                                <m:t>−</m:t>
                              </m:r>
                              <m:sSub>
                                <m:sSubPr>
                                  <m:ctrlPr>
                                    <a:rPr lang="es-ES" sz="1200" i="1">
                                      <a:latin typeface="Cambria Math" panose="02040503050406030204" pitchFamily="18" charset="0"/>
                                    </a:rPr>
                                  </m:ctrlPr>
                                </m:sSubPr>
                                <m:e>
                                  <m:r>
                                    <a:rPr lang="es-ES" sz="1200" i="1">
                                      <a:latin typeface="Cambria Math" panose="02040503050406030204" pitchFamily="18" charset="0"/>
                                    </a:rPr>
                                    <m:t>𝜆</m:t>
                                  </m:r>
                                </m:e>
                                <m:sub>
                                  <m:r>
                                    <a:rPr lang="es-ES" sz="1200" i="1">
                                      <a:latin typeface="Cambria Math" panose="02040503050406030204" pitchFamily="18" charset="0"/>
                                    </a:rPr>
                                    <m:t>0</m:t>
                                  </m:r>
                                </m:sub>
                              </m:sSub>
                            </m:e>
                          </m:d>
                        </m:e>
                        <m:sup>
                          <m:r>
                            <a:rPr lang="es-ES" sz="1200" i="1">
                              <a:latin typeface="Cambria Math" panose="02040503050406030204" pitchFamily="18" charset="0"/>
                            </a:rPr>
                            <m:t>2</m:t>
                          </m:r>
                        </m:sup>
                      </m:sSup>
                      <m:r>
                        <m:rPr>
                          <m:nor/>
                        </m:rPr>
                        <a:rPr lang="es-CO" sz="1200" dirty="0"/>
                        <m:t> </m:t>
                      </m:r>
                    </m:oMath>
                  </m:oMathPara>
                </a14:m>
                <a:endParaRPr lang="es-CO" sz="1200" dirty="0"/>
              </a:p>
              <a:p>
                <a:pPr algn="ctr"/>
                <a14:m>
                  <m:oMathPara xmlns:m="http://schemas.openxmlformats.org/officeDocument/2006/math">
                    <m:oMathParaPr>
                      <m:jc m:val="centerGroup"/>
                    </m:oMathParaPr>
                    <m:oMath xmlns:m="http://schemas.openxmlformats.org/officeDocument/2006/math">
                      <m:sSub>
                        <m:sSubPr>
                          <m:ctrlPr>
                            <a:rPr lang="es-CO" sz="1200" i="1">
                              <a:latin typeface="Cambria Math" panose="02040503050406030204" pitchFamily="18" charset="0"/>
                            </a:rPr>
                          </m:ctrlPr>
                        </m:sSubPr>
                        <m:e>
                          <m:r>
                            <a:rPr lang="es-CO" sz="1200" i="1">
                              <a:latin typeface="Cambria Math" panose="02040503050406030204" pitchFamily="18" charset="0"/>
                            </a:rPr>
                            <m:t>𝑛</m:t>
                          </m:r>
                        </m:e>
                        <m:sub>
                          <m:r>
                            <a:rPr lang="es-CO" sz="1200" i="1">
                              <a:latin typeface="Cambria Math" panose="02040503050406030204" pitchFamily="18" charset="0"/>
                            </a:rPr>
                            <m:t>𝑔</m:t>
                          </m:r>
                        </m:sub>
                      </m:sSub>
                      <m:r>
                        <a:rPr lang="es-CO" sz="1200">
                          <a:latin typeface="Cambria Math" panose="02040503050406030204" pitchFamily="18" charset="0"/>
                        </a:rPr>
                        <m:t>=</m:t>
                      </m:r>
                      <m:r>
                        <m:rPr>
                          <m:nor/>
                        </m:rPr>
                        <a:rPr lang="es-CO" sz="1200" dirty="0"/>
                        <m:t> 1</m:t>
                      </m:r>
                      <m:r>
                        <m:rPr>
                          <m:nor/>
                        </m:rPr>
                        <a:rPr lang="es-CO" sz="1200" dirty="0"/>
                        <m:t>,</m:t>
                      </m:r>
                      <m:r>
                        <m:rPr>
                          <m:nor/>
                        </m:rPr>
                        <a:rPr lang="es-MX" sz="1200" b="0" i="0" dirty="0" smtClean="0"/>
                        <m:t>77</m:t>
                      </m:r>
                    </m:oMath>
                  </m:oMathPara>
                </a14:m>
                <a:endParaRPr lang="es-CO" sz="1200" dirty="0"/>
              </a:p>
              <a:p>
                <a:pPr algn="ct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s-CO" sz="1200" i="1" dirty="0">
                              <a:latin typeface="Cambria Math" panose="02040503050406030204" pitchFamily="18" charset="0"/>
                            </a:rPr>
                          </m:ctrlPr>
                        </m:mPr>
                        <m:mr>
                          <m:e>
                            <m:r>
                              <m:rPr>
                                <m:sty m:val="p"/>
                              </m:rPr>
                              <a:rPr lang="es-MX" sz="1200" dirty="0">
                                <a:latin typeface="Cambria Math" panose="02040503050406030204" pitchFamily="18" charset="0"/>
                              </a:rPr>
                              <m:t>D</m:t>
                            </m:r>
                            <m:r>
                              <a:rPr lang="es-MX" sz="1200" dirty="0">
                                <a:latin typeface="Cambria Math" panose="02040503050406030204" pitchFamily="18" charset="0"/>
                              </a:rPr>
                              <m:t>=−</m:t>
                            </m:r>
                            <m:r>
                              <a:rPr lang="es-MX" sz="1200" dirty="0">
                                <a:latin typeface="Cambria Math" panose="02040503050406030204" pitchFamily="18" charset="0"/>
                              </a:rPr>
                              <m:t>1</m:t>
                            </m:r>
                            <m:r>
                              <a:rPr lang="es-CO" sz="1200" dirty="0">
                                <a:latin typeface="Cambria Math" panose="02040503050406030204" pitchFamily="18" charset="0"/>
                              </a:rPr>
                              <m:t>.</m:t>
                            </m:r>
                            <m:r>
                              <a:rPr lang="es-MX" sz="1200" b="0" i="0" dirty="0" smtClean="0">
                                <a:latin typeface="Cambria Math" panose="02040503050406030204" pitchFamily="18" charset="0"/>
                              </a:rPr>
                              <m:t>59</m:t>
                            </m:r>
                            <m:r>
                              <a:rPr lang="es-CO" sz="1200" dirty="0">
                                <a:latin typeface="Cambria Math" panose="02040503050406030204" pitchFamily="18" charset="0"/>
                              </a:rPr>
                              <m:t>×</m:t>
                            </m:r>
                            <m:sSup>
                              <m:sSupPr>
                                <m:ctrlPr>
                                  <a:rPr lang="es-CO" sz="1200" i="1" dirty="0">
                                    <a:latin typeface="Cambria Math" panose="02040503050406030204" pitchFamily="18" charset="0"/>
                                  </a:rPr>
                                </m:ctrlPr>
                              </m:sSupPr>
                              <m:e>
                                <m:r>
                                  <a:rPr lang="es-CO" sz="1200" dirty="0">
                                    <a:latin typeface="Cambria Math" panose="02040503050406030204" pitchFamily="18" charset="0"/>
                                  </a:rPr>
                                  <m:t>10</m:t>
                                </m:r>
                              </m:e>
                              <m:sup>
                                <m:r>
                                  <a:rPr lang="es-CO" sz="1200" dirty="0">
                                    <a:latin typeface="Cambria Math" panose="02040503050406030204" pitchFamily="18" charset="0"/>
                                  </a:rPr>
                                  <m:t>−</m:t>
                                </m:r>
                                <m:r>
                                  <a:rPr lang="es-CO" sz="1200" dirty="0">
                                    <a:latin typeface="Cambria Math" panose="02040503050406030204" pitchFamily="18" charset="0"/>
                                  </a:rPr>
                                  <m:t>9</m:t>
                                </m:r>
                              </m:sup>
                            </m:sSup>
                          </m:e>
                        </m:mr>
                      </m:m>
                    </m:oMath>
                  </m:oMathPara>
                </a14:m>
                <a:endParaRPr lang="es-CO" sz="1200" dirty="0"/>
              </a:p>
            </p:txBody>
          </p:sp>
        </mc:Choice>
        <mc:Fallback>
          <p:sp>
            <p:nvSpPr>
              <p:cNvPr id="14" name="CuadroTexto 9">
                <a:extLst>
                  <a:ext uri="{FF2B5EF4-FFF2-40B4-BE49-F238E27FC236}">
                    <a16:creationId xmlns:a16="http://schemas.microsoft.com/office/drawing/2014/main" id="{E6CC9CC3-F4F9-1E0A-BD80-34581AECA2DA}"/>
                  </a:ext>
                </a:extLst>
              </p:cNvPr>
              <p:cNvSpPr txBox="1">
                <a:spLocks noRot="1" noChangeAspect="1" noMove="1" noResize="1" noEditPoints="1" noAdjustHandles="1" noChangeArrowheads="1" noChangeShapeType="1" noTextEdit="1"/>
              </p:cNvSpPr>
              <p:nvPr/>
            </p:nvSpPr>
            <p:spPr>
              <a:xfrm>
                <a:off x="6313803" y="5419470"/>
                <a:ext cx="5486560" cy="679930"/>
              </a:xfrm>
              <a:prstGeom prst="rect">
                <a:avLst/>
              </a:prstGeom>
              <a:blipFill>
                <a:blip r:embed="rId9"/>
                <a:stretch>
                  <a:fillRect/>
                </a:stretch>
              </a:blipFill>
              <a:ln w="28575">
                <a:solidFill>
                  <a:srgbClr val="E0700D"/>
                </a:solidFill>
              </a:ln>
            </p:spPr>
            <p:txBody>
              <a:bodyPr/>
              <a:lstStyle/>
              <a:p>
                <a:r>
                  <a:rPr lang="es-CO">
                    <a:noFill/>
                  </a:rPr>
                  <a:t> </a:t>
                </a:r>
              </a:p>
            </p:txBody>
          </p:sp>
        </mc:Fallback>
      </mc:AlternateContent>
    </p:spTree>
    <p:extLst>
      <p:ext uri="{BB962C8B-B14F-4D97-AF65-F5344CB8AC3E}">
        <p14:creationId xmlns:p14="http://schemas.microsoft.com/office/powerpoint/2010/main" val="2360544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621DA4-5661-22C4-96E6-40B79652641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6" name="object 16">
                <a:extLst>
                  <a:ext uri="{FF2B5EF4-FFF2-40B4-BE49-F238E27FC236}">
                    <a16:creationId xmlns:a16="http://schemas.microsoft.com/office/drawing/2014/main" id="{3C3470C6-55CF-956B-5D5C-065F21239785}"/>
                  </a:ext>
                </a:extLst>
              </p:cNvPr>
              <p:cNvSpPr txBox="1">
                <a:spLocks noGrp="1"/>
              </p:cNvSpPr>
              <p:nvPr>
                <p:ph type="title"/>
              </p:nvPr>
            </p:nvSpPr>
            <p:spPr>
              <a:xfrm>
                <a:off x="685800" y="408883"/>
                <a:ext cx="10994410" cy="107125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Waveguide compact model</a:t>
                </a:r>
                <a:br>
                  <a:rPr lang="en-US" sz="2500" spc="-5" dirty="0">
                    <a:latin typeface="+mj-lt"/>
                    <a:cs typeface="Lucida Sans"/>
                  </a:rPr>
                </a:br>
                <a:r>
                  <a:rPr lang="en-US" b="0" dirty="0"/>
                  <a:t>Let’s model the waveguide using a second order polynomial: </a:t>
                </a:r>
                <a:br>
                  <a:rPr lang="en-US" b="0" dirty="0"/>
                </a:br>
                <a14:m>
                  <m:oMathPara xmlns:m="http://schemas.openxmlformats.org/officeDocument/2006/math">
                    <m:oMathParaPr>
                      <m:jc m:val="centerGroup"/>
                    </m:oMathParaPr>
                    <m:oMath xmlns:m="http://schemas.openxmlformats.org/officeDocument/2006/math">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𝑒𝑓𝑓</m:t>
                          </m:r>
                        </m:sub>
                      </m:sSub>
                      <m:d>
                        <m:dPr>
                          <m:ctrlPr>
                            <a:rPr lang="es-ES" b="0" i="1" smtClean="0">
                              <a:latin typeface="Cambria Math" panose="02040503050406030204" pitchFamily="18" charset="0"/>
                            </a:rPr>
                          </m:ctrlPr>
                        </m:dPr>
                        <m:e>
                          <m:r>
                            <a:rPr lang="es-ES" b="0" i="1" smtClean="0">
                              <a:latin typeface="Cambria Math" panose="02040503050406030204" pitchFamily="18" charset="0"/>
                            </a:rPr>
                            <m:t>𝜆</m:t>
                          </m:r>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1</m:t>
                          </m:r>
                        </m:sub>
                      </m:sSub>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2</m:t>
                          </m:r>
                        </m:sub>
                      </m:sSub>
                      <m:d>
                        <m:dPr>
                          <m:ctrlPr>
                            <a:rPr lang="es-ES" b="0" i="1" smtClean="0">
                              <a:latin typeface="Cambria Math" panose="02040503050406030204" pitchFamily="18" charset="0"/>
                            </a:rPr>
                          </m:ctrlPr>
                        </m:dPr>
                        <m:e>
                          <m:r>
                            <a:rPr lang="es-ES" b="0" i="1" smtClean="0">
                              <a:latin typeface="Cambria Math" panose="02040503050406030204" pitchFamily="18" charset="0"/>
                            </a:rPr>
                            <m:t>𝜆</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𝜆</m:t>
                              </m:r>
                            </m:e>
                            <m:sub>
                              <m:r>
                                <a:rPr lang="es-ES" b="0" i="1" smtClean="0">
                                  <a:latin typeface="Cambria Math" panose="02040503050406030204" pitchFamily="18" charset="0"/>
                                </a:rPr>
                                <m:t>0</m:t>
                              </m:r>
                            </m:sub>
                          </m:sSub>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3</m:t>
                          </m:r>
                        </m:sub>
                      </m:sSub>
                      <m:sSup>
                        <m:sSupPr>
                          <m:ctrlPr>
                            <a:rPr lang="es-ES" b="0" i="1" smtClean="0">
                              <a:latin typeface="Cambria Math" panose="02040503050406030204" pitchFamily="18" charset="0"/>
                            </a:rPr>
                          </m:ctrlPr>
                        </m:sSupPr>
                        <m:e>
                          <m:d>
                            <m:dPr>
                              <m:ctrlPr>
                                <a:rPr lang="es-ES" b="0" i="1" smtClean="0">
                                  <a:latin typeface="Cambria Math" panose="02040503050406030204" pitchFamily="18" charset="0"/>
                                </a:rPr>
                              </m:ctrlPr>
                            </m:dPr>
                            <m:e>
                              <m:r>
                                <a:rPr lang="es-ES" b="0" i="1" smtClean="0">
                                  <a:latin typeface="Cambria Math" panose="02040503050406030204" pitchFamily="18" charset="0"/>
                                </a:rPr>
                                <m:t>𝜆</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𝜆</m:t>
                                  </m:r>
                                </m:e>
                                <m:sub>
                                  <m:r>
                                    <a:rPr lang="es-ES" b="0" i="1" smtClean="0">
                                      <a:latin typeface="Cambria Math" panose="02040503050406030204" pitchFamily="18" charset="0"/>
                                    </a:rPr>
                                    <m:t>0</m:t>
                                  </m:r>
                                </m:sub>
                              </m:sSub>
                            </m:e>
                          </m:d>
                        </m:e>
                        <m:sup>
                          <m:r>
                            <a:rPr lang="es-ES" b="0" i="1" smtClean="0">
                              <a:latin typeface="Cambria Math" panose="02040503050406030204" pitchFamily="18" charset="0"/>
                            </a:rPr>
                            <m:t>2</m:t>
                          </m:r>
                        </m:sup>
                      </m:sSup>
                    </m:oMath>
                  </m:oMathPara>
                </a14:m>
                <a:br>
                  <a:rPr lang="en-US" b="0" dirty="0"/>
                </a:br>
                <a:endParaRPr lang="en-US" sz="2500" b="0" dirty="0">
                  <a:latin typeface="+mj-lt"/>
                  <a:cs typeface="Lucida Sans"/>
                </a:endParaRPr>
              </a:p>
            </p:txBody>
          </p:sp>
        </mc:Choice>
        <mc:Fallback>
          <p:sp>
            <p:nvSpPr>
              <p:cNvPr id="16" name="object 16">
                <a:extLst>
                  <a:ext uri="{FF2B5EF4-FFF2-40B4-BE49-F238E27FC236}">
                    <a16:creationId xmlns:a16="http://schemas.microsoft.com/office/drawing/2014/main" id="{3C3470C6-55CF-956B-5D5C-065F21239785}"/>
                  </a:ext>
                </a:extLst>
              </p:cNvPr>
              <p:cNvSpPr txBox="1">
                <a:spLocks noGrp="1" noRot="1" noChangeAspect="1" noMove="1" noResize="1" noEditPoints="1" noAdjustHandles="1" noChangeArrowheads="1" noChangeShapeType="1" noTextEdit="1"/>
              </p:cNvSpPr>
              <p:nvPr>
                <p:ph type="title"/>
              </p:nvPr>
            </p:nvSpPr>
            <p:spPr>
              <a:xfrm>
                <a:off x="685800" y="408883"/>
                <a:ext cx="10994410" cy="1071255"/>
              </a:xfrm>
              <a:prstGeom prst="rect">
                <a:avLst/>
              </a:prstGeom>
              <a:blipFill>
                <a:blip r:embed="rId3"/>
                <a:stretch>
                  <a:fillRect l="-1664" t="-7386" b="-4545"/>
                </a:stretch>
              </a:blipFill>
            </p:spPr>
            <p:txBody>
              <a:bodyPr/>
              <a:lstStyle/>
              <a:p>
                <a:r>
                  <a:rPr lang="es-CO">
                    <a:noFill/>
                  </a:rPr>
                  <a:t> </a:t>
                </a:r>
              </a:p>
            </p:txBody>
          </p:sp>
        </mc:Fallback>
      </mc:AlternateContent>
      <p:pic>
        <p:nvPicPr>
          <p:cNvPr id="83" name="Gráfico 82">
            <a:extLst>
              <a:ext uri="{FF2B5EF4-FFF2-40B4-BE49-F238E27FC236}">
                <a16:creationId xmlns:a16="http://schemas.microsoft.com/office/drawing/2014/main" id="{F40F4851-113B-BF28-FE9A-D0F138BB84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8A087237-CB95-B232-3B76-8470F899DD76}"/>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FD91F836-46F5-3A0E-7399-671BB59DA629}"/>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8" name="CuadroTexto 7">
            <a:extLst>
              <a:ext uri="{FF2B5EF4-FFF2-40B4-BE49-F238E27FC236}">
                <a16:creationId xmlns:a16="http://schemas.microsoft.com/office/drawing/2014/main" id="{18001B43-002B-1A59-42BF-6D76A0BC9F0D}"/>
              </a:ext>
            </a:extLst>
          </p:cNvPr>
          <p:cNvSpPr txBox="1"/>
          <p:nvPr/>
        </p:nvSpPr>
        <p:spPr>
          <a:xfrm>
            <a:off x="6347361" y="4498712"/>
            <a:ext cx="5486560" cy="276999"/>
          </a:xfrm>
          <a:prstGeom prst="rect">
            <a:avLst/>
          </a:prstGeom>
          <a:noFill/>
        </p:spPr>
        <p:txBody>
          <a:bodyPr wrap="square">
            <a:spAutoFit/>
          </a:bodyPr>
          <a:lstStyle/>
          <a:p>
            <a:pPr algn="r"/>
            <a:r>
              <a:rPr lang="en-US" sz="1200" b="1" dirty="0">
                <a:solidFill>
                  <a:schemeClr val="tx1"/>
                </a:solidFill>
                <a:latin typeface="Arial" panose="020B0604020202020204" pitchFamily="34" charset="0"/>
                <a:cs typeface="Arial" panose="020B0604020202020204" pitchFamily="34" charset="0"/>
              </a:rPr>
              <a:t>slab: 150nm</a:t>
            </a:r>
            <a:endParaRPr lang="en-US" sz="1200" dirty="0">
              <a:solidFill>
                <a:schemeClr val="tx1"/>
              </a:solidFill>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4" name="CuadroTexto 9">
                <a:extLst>
                  <a:ext uri="{FF2B5EF4-FFF2-40B4-BE49-F238E27FC236}">
                    <a16:creationId xmlns:a16="http://schemas.microsoft.com/office/drawing/2014/main" id="{7091D5EE-B315-A510-9C62-0747D28B0FB0}"/>
                  </a:ext>
                </a:extLst>
              </p:cNvPr>
              <p:cNvSpPr txBox="1"/>
              <p:nvPr/>
            </p:nvSpPr>
            <p:spPr>
              <a:xfrm>
                <a:off x="608013" y="5419470"/>
                <a:ext cx="5486560" cy="679930"/>
              </a:xfrm>
              <a:prstGeom prst="rect">
                <a:avLst/>
              </a:prstGeom>
              <a:solidFill>
                <a:schemeClr val="bg1">
                  <a:lumMod val="95000"/>
                </a:schemeClr>
              </a:solidFill>
              <a:ln w="28575">
                <a:solidFill>
                  <a:srgbClr val="E0700D"/>
                </a:solidFill>
              </a:ln>
            </p:spPr>
            <p:txBody>
              <a:bodyPr wrap="square" rtlCol="0">
                <a:spAutoFit/>
              </a:bodyPr>
              <a:lstStyle/>
              <a:p>
                <a:pPr algn="ctr"/>
                <a14:m>
                  <m:oMath xmlns:m="http://schemas.openxmlformats.org/officeDocument/2006/math">
                    <m:sSub>
                      <m:sSubPr>
                        <m:ctrlPr>
                          <a:rPr lang="es-ES" sz="1200" i="1" smtClean="0">
                            <a:latin typeface="Cambria Math" panose="02040503050406030204" pitchFamily="18" charset="0"/>
                          </a:rPr>
                        </m:ctrlPr>
                      </m:sSubPr>
                      <m:e>
                        <m:r>
                          <a:rPr lang="es-ES" sz="1200" i="1">
                            <a:latin typeface="Cambria Math" panose="02040503050406030204" pitchFamily="18" charset="0"/>
                          </a:rPr>
                          <m:t>𝑛</m:t>
                        </m:r>
                      </m:e>
                      <m:sub>
                        <m:r>
                          <a:rPr lang="es-ES" sz="1200" i="1">
                            <a:latin typeface="Cambria Math" panose="02040503050406030204" pitchFamily="18" charset="0"/>
                          </a:rPr>
                          <m:t>𝑒𝑓𝑓</m:t>
                        </m:r>
                      </m:sub>
                    </m:sSub>
                    <m:d>
                      <m:dPr>
                        <m:ctrlPr>
                          <a:rPr lang="es-ES" sz="1200" i="1">
                            <a:latin typeface="Cambria Math" panose="02040503050406030204" pitchFamily="18" charset="0"/>
                          </a:rPr>
                        </m:ctrlPr>
                      </m:dPr>
                      <m:e>
                        <m:r>
                          <a:rPr lang="es-ES" sz="1200" i="1">
                            <a:latin typeface="Cambria Math" panose="02040503050406030204" pitchFamily="18" charset="0"/>
                          </a:rPr>
                          <m:t>𝜆</m:t>
                        </m:r>
                      </m:e>
                    </m:d>
                    <m:r>
                      <a:rPr lang="es-ES" sz="1200" i="1">
                        <a:latin typeface="Cambria Math" panose="02040503050406030204" pitchFamily="18" charset="0"/>
                      </a:rPr>
                      <m:t>=</m:t>
                    </m:r>
                    <m:r>
                      <a:rPr lang="es-MX" sz="1200" b="0" i="1" smtClean="0">
                        <a:latin typeface="Cambria Math" panose="02040503050406030204" pitchFamily="18" charset="0"/>
                      </a:rPr>
                      <m:t>1</m:t>
                    </m:r>
                    <m:r>
                      <a:rPr lang="es-MX" sz="1200" b="0" i="1" smtClean="0">
                        <a:latin typeface="Cambria Math" panose="02040503050406030204" pitchFamily="18" charset="0"/>
                      </a:rPr>
                      <m:t>,</m:t>
                    </m:r>
                    <m:r>
                      <a:rPr lang="es-MX" sz="1200" b="0" i="1" smtClean="0">
                        <a:latin typeface="Cambria Math" panose="02040503050406030204" pitchFamily="18" charset="0"/>
                      </a:rPr>
                      <m:t>62</m:t>
                    </m:r>
                    <m:r>
                      <a:rPr lang="es-MX" sz="1200" b="0" i="1" smtClean="0">
                        <a:latin typeface="Cambria Math" panose="02040503050406030204" pitchFamily="18" charset="0"/>
                      </a:rPr>
                      <m:t>−</m:t>
                    </m:r>
                    <m:r>
                      <a:rPr lang="es-MX" sz="1200" b="0" i="1" smtClean="0">
                        <a:latin typeface="Cambria Math" panose="02040503050406030204" pitchFamily="18" charset="0"/>
                      </a:rPr>
                      <m:t>0</m:t>
                    </m:r>
                    <m:r>
                      <a:rPr lang="es-MX" sz="1200" b="0" i="1" smtClean="0">
                        <a:latin typeface="Cambria Math" panose="02040503050406030204" pitchFamily="18" charset="0"/>
                      </a:rPr>
                      <m:t>,</m:t>
                    </m:r>
                    <m:r>
                      <a:rPr lang="es-MX" sz="1200" b="0" i="1" smtClean="0">
                        <a:latin typeface="Cambria Math" panose="02040503050406030204" pitchFamily="18" charset="0"/>
                      </a:rPr>
                      <m:t>19</m:t>
                    </m:r>
                    <m:d>
                      <m:dPr>
                        <m:ctrlPr>
                          <a:rPr lang="es-ES" sz="1200" i="1">
                            <a:latin typeface="Cambria Math" panose="02040503050406030204" pitchFamily="18" charset="0"/>
                          </a:rPr>
                        </m:ctrlPr>
                      </m:dPr>
                      <m:e>
                        <m:r>
                          <a:rPr lang="es-ES" sz="1200" i="1">
                            <a:latin typeface="Cambria Math" panose="02040503050406030204" pitchFamily="18" charset="0"/>
                          </a:rPr>
                          <m:t>𝜆</m:t>
                        </m:r>
                        <m:r>
                          <a:rPr lang="es-ES" sz="1200" i="1">
                            <a:latin typeface="Cambria Math" panose="02040503050406030204" pitchFamily="18" charset="0"/>
                          </a:rPr>
                          <m:t>−</m:t>
                        </m:r>
                        <m:sSub>
                          <m:sSubPr>
                            <m:ctrlPr>
                              <a:rPr lang="es-ES" sz="1200" i="1">
                                <a:latin typeface="Cambria Math" panose="02040503050406030204" pitchFamily="18" charset="0"/>
                              </a:rPr>
                            </m:ctrlPr>
                          </m:sSubPr>
                          <m:e>
                            <m:r>
                              <a:rPr lang="es-ES" sz="1200" i="1">
                                <a:latin typeface="Cambria Math" panose="02040503050406030204" pitchFamily="18" charset="0"/>
                              </a:rPr>
                              <m:t>𝜆</m:t>
                            </m:r>
                          </m:e>
                          <m:sub>
                            <m:r>
                              <a:rPr lang="es-ES" sz="1200" i="1">
                                <a:latin typeface="Cambria Math" panose="02040503050406030204" pitchFamily="18" charset="0"/>
                              </a:rPr>
                              <m:t>0</m:t>
                            </m:r>
                          </m:sub>
                        </m:sSub>
                      </m:e>
                    </m:d>
                    <m:r>
                      <a:rPr lang="es-ES" sz="1200" i="1">
                        <a:latin typeface="Cambria Math" panose="02040503050406030204" pitchFamily="18" charset="0"/>
                      </a:rPr>
                      <m:t>+</m:t>
                    </m:r>
                    <m:r>
                      <a:rPr lang="es-MX" sz="1200" b="0" i="1" smtClean="0">
                        <a:latin typeface="Cambria Math" panose="02040503050406030204" pitchFamily="18" charset="0"/>
                      </a:rPr>
                      <m:t>0</m:t>
                    </m:r>
                    <m:r>
                      <a:rPr lang="es-MX" sz="1200" b="0" i="1" smtClean="0">
                        <a:latin typeface="Cambria Math" panose="02040503050406030204" pitchFamily="18" charset="0"/>
                      </a:rPr>
                      <m:t>,</m:t>
                    </m:r>
                    <m:r>
                      <a:rPr lang="es-MX" sz="1200" b="0" i="1" smtClean="0">
                        <a:latin typeface="Cambria Math" panose="02040503050406030204" pitchFamily="18" charset="0"/>
                      </a:rPr>
                      <m:t>10</m:t>
                    </m:r>
                    <m:sSup>
                      <m:sSupPr>
                        <m:ctrlPr>
                          <a:rPr lang="es-ES" sz="1200" i="1">
                            <a:latin typeface="Cambria Math" panose="02040503050406030204" pitchFamily="18" charset="0"/>
                          </a:rPr>
                        </m:ctrlPr>
                      </m:sSupPr>
                      <m:e>
                        <m:d>
                          <m:dPr>
                            <m:ctrlPr>
                              <a:rPr lang="es-ES" sz="1200" i="1">
                                <a:latin typeface="Cambria Math" panose="02040503050406030204" pitchFamily="18" charset="0"/>
                              </a:rPr>
                            </m:ctrlPr>
                          </m:dPr>
                          <m:e>
                            <m:r>
                              <a:rPr lang="es-ES" sz="1200" i="1">
                                <a:latin typeface="Cambria Math" panose="02040503050406030204" pitchFamily="18" charset="0"/>
                              </a:rPr>
                              <m:t>𝜆</m:t>
                            </m:r>
                            <m:r>
                              <a:rPr lang="es-ES" sz="1200" i="1">
                                <a:latin typeface="Cambria Math" panose="02040503050406030204" pitchFamily="18" charset="0"/>
                              </a:rPr>
                              <m:t>−</m:t>
                            </m:r>
                            <m:sSub>
                              <m:sSubPr>
                                <m:ctrlPr>
                                  <a:rPr lang="es-ES" sz="1200" i="1">
                                    <a:latin typeface="Cambria Math" panose="02040503050406030204" pitchFamily="18" charset="0"/>
                                  </a:rPr>
                                </m:ctrlPr>
                              </m:sSubPr>
                              <m:e>
                                <m:r>
                                  <a:rPr lang="es-ES" sz="1200" i="1">
                                    <a:latin typeface="Cambria Math" panose="02040503050406030204" pitchFamily="18" charset="0"/>
                                  </a:rPr>
                                  <m:t>𝜆</m:t>
                                </m:r>
                              </m:e>
                              <m:sub>
                                <m:r>
                                  <a:rPr lang="es-ES" sz="1200" i="1">
                                    <a:latin typeface="Cambria Math" panose="02040503050406030204" pitchFamily="18" charset="0"/>
                                  </a:rPr>
                                  <m:t>0</m:t>
                                </m:r>
                              </m:sub>
                            </m:sSub>
                          </m:e>
                        </m:d>
                      </m:e>
                      <m:sup>
                        <m:r>
                          <a:rPr lang="es-ES" sz="1200" i="1">
                            <a:latin typeface="Cambria Math" panose="02040503050406030204" pitchFamily="18" charset="0"/>
                          </a:rPr>
                          <m:t>2</m:t>
                        </m:r>
                      </m:sup>
                    </m:sSup>
                  </m:oMath>
                </a14:m>
                <a:r>
                  <a:rPr lang="es-CO" sz="1200" dirty="0"/>
                  <a:t> </a:t>
                </a:r>
              </a:p>
              <a:p>
                <a:pPr algn="ctr"/>
                <a14:m>
                  <m:oMath xmlns:m="http://schemas.openxmlformats.org/officeDocument/2006/math">
                    <m:sSub>
                      <m:sSubPr>
                        <m:ctrlPr>
                          <a:rPr lang="es-CO" sz="1200" i="1">
                            <a:latin typeface="Cambria Math" panose="02040503050406030204" pitchFamily="18" charset="0"/>
                          </a:rPr>
                        </m:ctrlPr>
                      </m:sSubPr>
                      <m:e>
                        <m:r>
                          <a:rPr lang="es-CO" sz="1200" i="1">
                            <a:latin typeface="Cambria Math" panose="02040503050406030204" pitchFamily="18" charset="0"/>
                          </a:rPr>
                          <m:t>𝑛</m:t>
                        </m:r>
                      </m:e>
                      <m:sub>
                        <m:r>
                          <a:rPr lang="es-CO" sz="1200" i="1">
                            <a:latin typeface="Cambria Math" panose="02040503050406030204" pitchFamily="18" charset="0"/>
                          </a:rPr>
                          <m:t>𝑔</m:t>
                        </m:r>
                      </m:sub>
                    </m:sSub>
                    <m:r>
                      <a:rPr lang="es-CO" sz="1200">
                        <a:latin typeface="Cambria Math" panose="02040503050406030204" pitchFamily="18" charset="0"/>
                      </a:rPr>
                      <m:t>=</m:t>
                    </m:r>
                  </m:oMath>
                </a14:m>
                <a:r>
                  <a:rPr lang="es-CO" sz="1200" dirty="0"/>
                  <a:t> 1,92</a:t>
                </a:r>
              </a:p>
              <a:p>
                <a:pPr algn="ct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s-CO" sz="1200" dirty="0" smtClean="0">
                              <a:latin typeface="Cambria Math" panose="02040503050406030204" pitchFamily="18" charset="0"/>
                            </a:rPr>
                          </m:ctrlPr>
                        </m:mPr>
                        <m:mr>
                          <m:e>
                            <m:r>
                              <m:rPr>
                                <m:sty m:val="p"/>
                              </m:rPr>
                              <a:rPr lang="es-MX" sz="1200" b="0" i="0" dirty="0" smtClean="0">
                                <a:latin typeface="Cambria Math" panose="02040503050406030204" pitchFamily="18" charset="0"/>
                              </a:rPr>
                              <m:t>D</m:t>
                            </m:r>
                            <m:r>
                              <a:rPr lang="es-MX" sz="1200" b="0" i="0" dirty="0" smtClean="0">
                                <a:latin typeface="Cambria Math" panose="02040503050406030204" pitchFamily="18" charset="0"/>
                              </a:rPr>
                              <m:t>=−</m:t>
                            </m:r>
                            <m:r>
                              <a:rPr lang="es-MX" sz="1200" b="0" i="0" dirty="0" smtClean="0">
                                <a:latin typeface="Cambria Math" panose="02040503050406030204" pitchFamily="18" charset="0"/>
                              </a:rPr>
                              <m:t>9</m:t>
                            </m:r>
                            <m:r>
                              <a:rPr lang="es-MX" sz="1200" b="0" i="0" dirty="0" smtClean="0">
                                <a:latin typeface="Cambria Math" panose="02040503050406030204" pitchFamily="18" charset="0"/>
                              </a:rPr>
                              <m:t>,</m:t>
                            </m:r>
                            <m:r>
                              <a:rPr lang="es-MX" sz="1200" b="0" i="0" dirty="0" smtClean="0">
                                <a:latin typeface="Cambria Math" panose="02040503050406030204" pitchFamily="18" charset="0"/>
                              </a:rPr>
                              <m:t>89</m:t>
                            </m:r>
                            <m:r>
                              <a:rPr lang="es-CO" sz="1200" i="0" dirty="0" smtClean="0">
                                <a:latin typeface="Cambria Math" panose="02040503050406030204" pitchFamily="18" charset="0"/>
                              </a:rPr>
                              <m:t>×</m:t>
                            </m:r>
                            <m:sSup>
                              <m:sSupPr>
                                <m:ctrlPr>
                                  <a:rPr lang="es-CO" sz="1200" i="1" dirty="0" smtClean="0">
                                    <a:latin typeface="Cambria Math" panose="02040503050406030204" pitchFamily="18" charset="0"/>
                                  </a:rPr>
                                </m:ctrlPr>
                              </m:sSupPr>
                              <m:e>
                                <m:r>
                                  <a:rPr lang="es-CO" sz="1200" i="0" dirty="0" smtClean="0">
                                    <a:latin typeface="Cambria Math" panose="02040503050406030204" pitchFamily="18" charset="0"/>
                                  </a:rPr>
                                  <m:t>10</m:t>
                                </m:r>
                              </m:e>
                              <m:sup>
                                <m:r>
                                  <a:rPr lang="es-CO" sz="1200" i="0" dirty="0" smtClean="0">
                                    <a:latin typeface="Cambria Math" panose="02040503050406030204" pitchFamily="18" charset="0"/>
                                  </a:rPr>
                                  <m:t>−</m:t>
                                </m:r>
                                <m:r>
                                  <a:rPr lang="es-MX" sz="1200" b="0" i="1" dirty="0" smtClean="0">
                                    <a:latin typeface="Cambria Math" panose="02040503050406030204" pitchFamily="18" charset="0"/>
                                  </a:rPr>
                                  <m:t>10</m:t>
                                </m:r>
                              </m:sup>
                            </m:sSup>
                          </m:e>
                        </m:mr>
                      </m:m>
                    </m:oMath>
                  </m:oMathPara>
                </a14:m>
                <a:endParaRPr lang="es-CO" sz="1200" dirty="0"/>
              </a:p>
            </p:txBody>
          </p:sp>
        </mc:Choice>
        <mc:Fallback>
          <p:sp>
            <p:nvSpPr>
              <p:cNvPr id="4" name="CuadroTexto 9">
                <a:extLst>
                  <a:ext uri="{FF2B5EF4-FFF2-40B4-BE49-F238E27FC236}">
                    <a16:creationId xmlns:a16="http://schemas.microsoft.com/office/drawing/2014/main" id="{7091D5EE-B315-A510-9C62-0747D28B0FB0}"/>
                  </a:ext>
                </a:extLst>
              </p:cNvPr>
              <p:cNvSpPr txBox="1">
                <a:spLocks noRot="1" noChangeAspect="1" noMove="1" noResize="1" noEditPoints="1" noAdjustHandles="1" noChangeArrowheads="1" noChangeShapeType="1" noTextEdit="1"/>
              </p:cNvSpPr>
              <p:nvPr/>
            </p:nvSpPr>
            <p:spPr>
              <a:xfrm>
                <a:off x="608013" y="5419470"/>
                <a:ext cx="5486560" cy="679930"/>
              </a:xfrm>
              <a:prstGeom prst="rect">
                <a:avLst/>
              </a:prstGeom>
              <a:blipFill>
                <a:blip r:embed="rId6"/>
                <a:stretch>
                  <a:fillRect/>
                </a:stretch>
              </a:blipFill>
              <a:ln w="28575">
                <a:solidFill>
                  <a:srgbClr val="E0700D"/>
                </a:solidFill>
              </a:ln>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 name="CuadroTexto 9">
                <a:extLst>
                  <a:ext uri="{FF2B5EF4-FFF2-40B4-BE49-F238E27FC236}">
                    <a16:creationId xmlns:a16="http://schemas.microsoft.com/office/drawing/2014/main" id="{A23DF1DD-6403-776E-412F-7DF4435BEFA1}"/>
                  </a:ext>
                </a:extLst>
              </p:cNvPr>
              <p:cNvSpPr txBox="1"/>
              <p:nvPr/>
            </p:nvSpPr>
            <p:spPr>
              <a:xfrm>
                <a:off x="6321420" y="5416070"/>
                <a:ext cx="5486560" cy="679930"/>
              </a:xfrm>
              <a:prstGeom prst="rect">
                <a:avLst/>
              </a:prstGeom>
              <a:solidFill>
                <a:schemeClr val="bg1">
                  <a:lumMod val="95000"/>
                </a:schemeClr>
              </a:solidFill>
              <a:ln w="28575">
                <a:solidFill>
                  <a:srgbClr val="E0700D"/>
                </a:solidFill>
              </a:ln>
            </p:spPr>
            <p:txBody>
              <a:bodyPr wrap="square" rtlCol="0">
                <a:spAutoFit/>
              </a:bodyPr>
              <a:lstStyle/>
              <a:p>
                <a:pPr algn="ctr"/>
                <a14:m>
                  <m:oMath xmlns:m="http://schemas.openxmlformats.org/officeDocument/2006/math">
                    <m:sSub>
                      <m:sSubPr>
                        <m:ctrlPr>
                          <a:rPr lang="es-ES" sz="1200" i="1" smtClean="0">
                            <a:latin typeface="Cambria Math" panose="02040503050406030204" pitchFamily="18" charset="0"/>
                          </a:rPr>
                        </m:ctrlPr>
                      </m:sSubPr>
                      <m:e>
                        <m:r>
                          <a:rPr lang="es-ES" sz="1200" i="1">
                            <a:latin typeface="Cambria Math" panose="02040503050406030204" pitchFamily="18" charset="0"/>
                          </a:rPr>
                          <m:t>𝑛</m:t>
                        </m:r>
                      </m:e>
                      <m:sub>
                        <m:r>
                          <a:rPr lang="es-ES" sz="1200" i="1">
                            <a:latin typeface="Cambria Math" panose="02040503050406030204" pitchFamily="18" charset="0"/>
                          </a:rPr>
                          <m:t>𝑒𝑓𝑓</m:t>
                        </m:r>
                      </m:sub>
                    </m:sSub>
                    <m:d>
                      <m:dPr>
                        <m:ctrlPr>
                          <a:rPr lang="es-ES" sz="1200" i="1">
                            <a:latin typeface="Cambria Math" panose="02040503050406030204" pitchFamily="18" charset="0"/>
                          </a:rPr>
                        </m:ctrlPr>
                      </m:dPr>
                      <m:e>
                        <m:r>
                          <a:rPr lang="es-ES" sz="1200" i="1">
                            <a:latin typeface="Cambria Math" panose="02040503050406030204" pitchFamily="18" charset="0"/>
                          </a:rPr>
                          <m:t>𝜆</m:t>
                        </m:r>
                      </m:e>
                    </m:d>
                    <m:r>
                      <a:rPr lang="es-ES" sz="1200" i="1">
                        <a:latin typeface="Cambria Math" panose="02040503050406030204" pitchFamily="18" charset="0"/>
                      </a:rPr>
                      <m:t>=</m:t>
                    </m:r>
                    <m:r>
                      <a:rPr lang="es-MX" sz="1200" b="0" i="1" smtClean="0">
                        <a:latin typeface="Cambria Math" panose="02040503050406030204" pitchFamily="18" charset="0"/>
                      </a:rPr>
                      <m:t>1</m:t>
                    </m:r>
                    <m:r>
                      <a:rPr lang="es-MX" sz="1200" b="0" i="1" smtClean="0">
                        <a:latin typeface="Cambria Math" panose="02040503050406030204" pitchFamily="18" charset="0"/>
                      </a:rPr>
                      <m:t>,</m:t>
                    </m:r>
                    <m:r>
                      <a:rPr lang="es-MX" sz="1200" b="0" i="1" smtClean="0">
                        <a:latin typeface="Cambria Math" panose="02040503050406030204" pitchFamily="18" charset="0"/>
                      </a:rPr>
                      <m:t>54</m:t>
                    </m:r>
                    <m:r>
                      <a:rPr lang="es-MX" sz="1200" b="0" i="1" smtClean="0">
                        <a:latin typeface="Cambria Math" panose="02040503050406030204" pitchFamily="18" charset="0"/>
                      </a:rPr>
                      <m:t>−</m:t>
                    </m:r>
                    <m:r>
                      <a:rPr lang="es-MX" sz="1200" b="0" i="1" smtClean="0">
                        <a:latin typeface="Cambria Math" panose="02040503050406030204" pitchFamily="18" charset="0"/>
                      </a:rPr>
                      <m:t>0</m:t>
                    </m:r>
                    <m:r>
                      <a:rPr lang="es-MX" sz="1200" b="0" i="1" smtClean="0">
                        <a:latin typeface="Cambria Math" panose="02040503050406030204" pitchFamily="18" charset="0"/>
                      </a:rPr>
                      <m:t>,</m:t>
                    </m:r>
                    <m:r>
                      <a:rPr lang="es-MX" sz="1200" b="0" i="1" smtClean="0">
                        <a:latin typeface="Cambria Math" panose="02040503050406030204" pitchFamily="18" charset="0"/>
                      </a:rPr>
                      <m:t>13</m:t>
                    </m:r>
                    <m:d>
                      <m:dPr>
                        <m:ctrlPr>
                          <a:rPr lang="es-ES" sz="1200" i="1">
                            <a:latin typeface="Cambria Math" panose="02040503050406030204" pitchFamily="18" charset="0"/>
                          </a:rPr>
                        </m:ctrlPr>
                      </m:dPr>
                      <m:e>
                        <m:r>
                          <a:rPr lang="es-ES" sz="1200" i="1">
                            <a:latin typeface="Cambria Math" panose="02040503050406030204" pitchFamily="18" charset="0"/>
                          </a:rPr>
                          <m:t>𝜆</m:t>
                        </m:r>
                        <m:r>
                          <a:rPr lang="es-ES" sz="1200" i="1">
                            <a:latin typeface="Cambria Math" panose="02040503050406030204" pitchFamily="18" charset="0"/>
                          </a:rPr>
                          <m:t>−</m:t>
                        </m:r>
                        <m:sSub>
                          <m:sSubPr>
                            <m:ctrlPr>
                              <a:rPr lang="es-ES" sz="1200" i="1">
                                <a:latin typeface="Cambria Math" panose="02040503050406030204" pitchFamily="18" charset="0"/>
                              </a:rPr>
                            </m:ctrlPr>
                          </m:sSubPr>
                          <m:e>
                            <m:r>
                              <a:rPr lang="es-ES" sz="1200" i="1">
                                <a:latin typeface="Cambria Math" panose="02040503050406030204" pitchFamily="18" charset="0"/>
                              </a:rPr>
                              <m:t>𝜆</m:t>
                            </m:r>
                          </m:e>
                          <m:sub>
                            <m:r>
                              <a:rPr lang="es-ES" sz="1200" i="1">
                                <a:latin typeface="Cambria Math" panose="02040503050406030204" pitchFamily="18" charset="0"/>
                              </a:rPr>
                              <m:t>0</m:t>
                            </m:r>
                          </m:sub>
                        </m:sSub>
                      </m:e>
                    </m:d>
                    <m:r>
                      <a:rPr lang="es-ES" sz="1200" i="1">
                        <a:latin typeface="Cambria Math" panose="02040503050406030204" pitchFamily="18" charset="0"/>
                      </a:rPr>
                      <m:t>+</m:t>
                    </m:r>
                    <m:r>
                      <a:rPr lang="es-MX" sz="1200" b="0" i="1" smtClean="0">
                        <a:latin typeface="Cambria Math" panose="02040503050406030204" pitchFamily="18" charset="0"/>
                      </a:rPr>
                      <m:t>0</m:t>
                    </m:r>
                    <m:r>
                      <a:rPr lang="es-MX" sz="1200" b="0" i="1" smtClean="0">
                        <a:latin typeface="Cambria Math" panose="02040503050406030204" pitchFamily="18" charset="0"/>
                      </a:rPr>
                      <m:t>,</m:t>
                    </m:r>
                    <m:r>
                      <a:rPr lang="es-MX" sz="1200" b="0" i="1" smtClean="0">
                        <a:latin typeface="Cambria Math" panose="02040503050406030204" pitchFamily="18" charset="0"/>
                      </a:rPr>
                      <m:t>15</m:t>
                    </m:r>
                    <m:sSup>
                      <m:sSupPr>
                        <m:ctrlPr>
                          <a:rPr lang="es-ES" sz="1200" i="1">
                            <a:latin typeface="Cambria Math" panose="02040503050406030204" pitchFamily="18" charset="0"/>
                          </a:rPr>
                        </m:ctrlPr>
                      </m:sSupPr>
                      <m:e>
                        <m:d>
                          <m:dPr>
                            <m:ctrlPr>
                              <a:rPr lang="es-ES" sz="1200" i="1">
                                <a:latin typeface="Cambria Math" panose="02040503050406030204" pitchFamily="18" charset="0"/>
                              </a:rPr>
                            </m:ctrlPr>
                          </m:dPr>
                          <m:e>
                            <m:r>
                              <a:rPr lang="es-ES" sz="1200" i="1">
                                <a:latin typeface="Cambria Math" panose="02040503050406030204" pitchFamily="18" charset="0"/>
                              </a:rPr>
                              <m:t>𝜆</m:t>
                            </m:r>
                            <m:r>
                              <a:rPr lang="es-ES" sz="1200" i="1">
                                <a:latin typeface="Cambria Math" panose="02040503050406030204" pitchFamily="18" charset="0"/>
                              </a:rPr>
                              <m:t>−</m:t>
                            </m:r>
                            <m:sSub>
                              <m:sSubPr>
                                <m:ctrlPr>
                                  <a:rPr lang="es-ES" sz="1200" i="1">
                                    <a:latin typeface="Cambria Math" panose="02040503050406030204" pitchFamily="18" charset="0"/>
                                  </a:rPr>
                                </m:ctrlPr>
                              </m:sSubPr>
                              <m:e>
                                <m:r>
                                  <a:rPr lang="es-ES" sz="1200" i="1">
                                    <a:latin typeface="Cambria Math" panose="02040503050406030204" pitchFamily="18" charset="0"/>
                                  </a:rPr>
                                  <m:t>𝜆</m:t>
                                </m:r>
                              </m:e>
                              <m:sub>
                                <m:r>
                                  <a:rPr lang="es-ES" sz="1200" i="1">
                                    <a:latin typeface="Cambria Math" panose="02040503050406030204" pitchFamily="18" charset="0"/>
                                  </a:rPr>
                                  <m:t>0</m:t>
                                </m:r>
                              </m:sub>
                            </m:sSub>
                          </m:e>
                        </m:d>
                      </m:e>
                      <m:sup>
                        <m:r>
                          <a:rPr lang="es-ES" sz="1200" i="1">
                            <a:latin typeface="Cambria Math" panose="02040503050406030204" pitchFamily="18" charset="0"/>
                          </a:rPr>
                          <m:t>2</m:t>
                        </m:r>
                      </m:sup>
                    </m:sSup>
                  </m:oMath>
                </a14:m>
                <a:r>
                  <a:rPr lang="es-CO" sz="1200" dirty="0"/>
                  <a:t> </a:t>
                </a:r>
              </a:p>
              <a:p>
                <a:pPr algn="ctr"/>
                <a14:m>
                  <m:oMath xmlns:m="http://schemas.openxmlformats.org/officeDocument/2006/math">
                    <m:sSub>
                      <m:sSubPr>
                        <m:ctrlPr>
                          <a:rPr lang="es-CO" sz="1200" i="1">
                            <a:latin typeface="Cambria Math" panose="02040503050406030204" pitchFamily="18" charset="0"/>
                          </a:rPr>
                        </m:ctrlPr>
                      </m:sSubPr>
                      <m:e>
                        <m:r>
                          <a:rPr lang="es-CO" sz="1200" i="1">
                            <a:latin typeface="Cambria Math" panose="02040503050406030204" pitchFamily="18" charset="0"/>
                          </a:rPr>
                          <m:t>𝑛</m:t>
                        </m:r>
                      </m:e>
                      <m:sub>
                        <m:r>
                          <a:rPr lang="es-CO" sz="1200" i="1">
                            <a:latin typeface="Cambria Math" panose="02040503050406030204" pitchFamily="18" charset="0"/>
                          </a:rPr>
                          <m:t>𝑔</m:t>
                        </m:r>
                      </m:sub>
                    </m:sSub>
                    <m:r>
                      <a:rPr lang="es-CO" sz="1200">
                        <a:latin typeface="Cambria Math" panose="02040503050406030204" pitchFamily="18" charset="0"/>
                      </a:rPr>
                      <m:t>=</m:t>
                    </m:r>
                  </m:oMath>
                </a14:m>
                <a:r>
                  <a:rPr lang="es-CO" sz="1200" dirty="0"/>
                  <a:t> 1,75</a:t>
                </a:r>
              </a:p>
              <a:p>
                <a:pPr algn="ctr"/>
                <a14:m>
                  <m:oMathPara xmlns:m="http://schemas.openxmlformats.org/officeDocument/2006/math">
                    <m:oMathParaPr>
                      <m:jc m:val="centerGroup"/>
                    </m:oMathParaPr>
                    <m:oMath xmlns:m="http://schemas.openxmlformats.org/officeDocument/2006/math">
                      <m:m>
                        <m:mPr>
                          <m:plcHide m:val="on"/>
                          <m:mcs>
                            <m:mc>
                              <m:mcPr>
                                <m:count m:val="1"/>
                                <m:mcJc m:val="center"/>
                              </m:mcPr>
                            </m:mc>
                          </m:mcs>
                          <m:ctrlPr>
                            <a:rPr lang="es-CO" sz="1200" dirty="0" smtClean="0">
                              <a:latin typeface="Cambria Math" panose="02040503050406030204" pitchFamily="18" charset="0"/>
                            </a:rPr>
                          </m:ctrlPr>
                        </m:mPr>
                        <m:mr>
                          <m:e>
                            <m:r>
                              <m:rPr>
                                <m:sty m:val="p"/>
                              </m:rPr>
                              <a:rPr lang="es-MX" sz="1200" b="0" i="0" dirty="0" smtClean="0">
                                <a:latin typeface="Cambria Math" panose="02040503050406030204" pitchFamily="18" charset="0"/>
                              </a:rPr>
                              <m:t>D</m:t>
                            </m:r>
                            <m:r>
                              <a:rPr lang="es-MX" sz="1200" b="0" i="0" dirty="0" smtClean="0">
                                <a:latin typeface="Cambria Math" panose="02040503050406030204" pitchFamily="18" charset="0"/>
                              </a:rPr>
                              <m:t>=−</m:t>
                            </m:r>
                            <m:r>
                              <a:rPr lang="es-CO" sz="1200" i="0" dirty="0" smtClean="0">
                                <a:latin typeface="Cambria Math" panose="02040503050406030204" pitchFamily="18" charset="0"/>
                              </a:rPr>
                              <m:t>1</m:t>
                            </m:r>
                            <m:r>
                              <a:rPr lang="es-CO" sz="1200" i="0" dirty="0" smtClean="0">
                                <a:latin typeface="Cambria Math" panose="02040503050406030204" pitchFamily="18" charset="0"/>
                              </a:rPr>
                              <m:t>.</m:t>
                            </m:r>
                            <m:r>
                              <a:rPr lang="es-MX" sz="1200" b="0" i="0" dirty="0" smtClean="0">
                                <a:latin typeface="Cambria Math" panose="02040503050406030204" pitchFamily="18" charset="0"/>
                              </a:rPr>
                              <m:t>53</m:t>
                            </m:r>
                            <m:r>
                              <a:rPr lang="es-MX" sz="1200" b="0" i="0" dirty="0" smtClean="0">
                                <a:latin typeface="Cambria Math" panose="02040503050406030204" pitchFamily="18" charset="0"/>
                              </a:rPr>
                              <m:t>,×</m:t>
                            </m:r>
                            <m:sSup>
                              <m:sSupPr>
                                <m:ctrlPr>
                                  <a:rPr lang="es-CO" sz="1200" i="1" dirty="0" smtClean="0">
                                    <a:latin typeface="Cambria Math" panose="02040503050406030204" pitchFamily="18" charset="0"/>
                                  </a:rPr>
                                </m:ctrlPr>
                              </m:sSupPr>
                              <m:e>
                                <m:r>
                                  <a:rPr lang="es-CO" sz="1200" i="0" dirty="0" smtClean="0">
                                    <a:latin typeface="Cambria Math" panose="02040503050406030204" pitchFamily="18" charset="0"/>
                                  </a:rPr>
                                  <m:t>10</m:t>
                                </m:r>
                              </m:e>
                              <m:sup>
                                <m:r>
                                  <a:rPr lang="es-CO" sz="1200" i="0" dirty="0" smtClean="0">
                                    <a:latin typeface="Cambria Math" panose="02040503050406030204" pitchFamily="18" charset="0"/>
                                  </a:rPr>
                                  <m:t>−</m:t>
                                </m:r>
                                <m:r>
                                  <a:rPr lang="es-CO" sz="1200" i="0" dirty="0" smtClean="0">
                                    <a:latin typeface="Cambria Math" panose="02040503050406030204" pitchFamily="18" charset="0"/>
                                  </a:rPr>
                                  <m:t>9</m:t>
                                </m:r>
                              </m:sup>
                            </m:sSup>
                          </m:e>
                        </m:mr>
                      </m:m>
                    </m:oMath>
                  </m:oMathPara>
                </a14:m>
                <a:endParaRPr lang="es-CO" sz="1200" dirty="0"/>
              </a:p>
            </p:txBody>
          </p:sp>
        </mc:Choice>
        <mc:Fallback>
          <p:sp>
            <p:nvSpPr>
              <p:cNvPr id="7" name="CuadroTexto 9">
                <a:extLst>
                  <a:ext uri="{FF2B5EF4-FFF2-40B4-BE49-F238E27FC236}">
                    <a16:creationId xmlns:a16="http://schemas.microsoft.com/office/drawing/2014/main" id="{A23DF1DD-6403-776E-412F-7DF4435BEFA1}"/>
                  </a:ext>
                </a:extLst>
              </p:cNvPr>
              <p:cNvSpPr txBox="1">
                <a:spLocks noRot="1" noChangeAspect="1" noMove="1" noResize="1" noEditPoints="1" noAdjustHandles="1" noChangeArrowheads="1" noChangeShapeType="1" noTextEdit="1"/>
              </p:cNvSpPr>
              <p:nvPr/>
            </p:nvSpPr>
            <p:spPr>
              <a:xfrm>
                <a:off x="6321420" y="5416070"/>
                <a:ext cx="5486560" cy="679930"/>
              </a:xfrm>
              <a:prstGeom prst="rect">
                <a:avLst/>
              </a:prstGeom>
              <a:blipFill>
                <a:blip r:embed="rId7"/>
                <a:stretch>
                  <a:fillRect/>
                </a:stretch>
              </a:blipFill>
              <a:ln w="28575">
                <a:solidFill>
                  <a:srgbClr val="E0700D"/>
                </a:solidFill>
              </a:ln>
            </p:spPr>
            <p:txBody>
              <a:bodyPr/>
              <a:lstStyle/>
              <a:p>
                <a:r>
                  <a:rPr lang="es-CO">
                    <a:noFill/>
                  </a:rPr>
                  <a:t> </a:t>
                </a:r>
              </a:p>
            </p:txBody>
          </p:sp>
        </mc:Fallback>
      </mc:AlternateContent>
      <p:pic>
        <p:nvPicPr>
          <p:cNvPr id="11" name="Picture 10">
            <a:extLst>
              <a:ext uri="{FF2B5EF4-FFF2-40B4-BE49-F238E27FC236}">
                <a16:creationId xmlns:a16="http://schemas.microsoft.com/office/drawing/2014/main" id="{C5D75C20-3C84-A63D-BE18-5CFFADDE38C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347723" y="1402072"/>
            <a:ext cx="5340107" cy="4023368"/>
          </a:xfrm>
          <a:prstGeom prst="rect">
            <a:avLst/>
          </a:prstGeom>
        </p:spPr>
      </p:pic>
      <p:pic>
        <p:nvPicPr>
          <p:cNvPr id="12" name="Picture 11">
            <a:extLst>
              <a:ext uri="{FF2B5EF4-FFF2-40B4-BE49-F238E27FC236}">
                <a16:creationId xmlns:a16="http://schemas.microsoft.com/office/drawing/2014/main" id="{4FB439BE-286A-0F65-3D6B-383EA1F64B1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78180" y="1386832"/>
            <a:ext cx="5340107" cy="4023368"/>
          </a:xfrm>
          <a:prstGeom prst="rect">
            <a:avLst/>
          </a:prstGeom>
        </p:spPr>
      </p:pic>
      <p:sp>
        <p:nvSpPr>
          <p:cNvPr id="13" name="Rectángulo 4">
            <a:extLst>
              <a:ext uri="{FF2B5EF4-FFF2-40B4-BE49-F238E27FC236}">
                <a16:creationId xmlns:a16="http://schemas.microsoft.com/office/drawing/2014/main" id="{7981359F-1B27-5785-DFDD-B663D2AB8F9E}"/>
              </a:ext>
            </a:extLst>
          </p:cNvPr>
          <p:cNvSpPr/>
          <p:nvPr/>
        </p:nvSpPr>
        <p:spPr>
          <a:xfrm>
            <a:off x="609441" y="1447800"/>
            <a:ext cx="5486559" cy="38862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ángulo 5">
            <a:extLst>
              <a:ext uri="{FF2B5EF4-FFF2-40B4-BE49-F238E27FC236}">
                <a16:creationId xmlns:a16="http://schemas.microsoft.com/office/drawing/2014/main" id="{7DD93676-71D9-C083-4073-01A0A20B3D57}"/>
              </a:ext>
            </a:extLst>
          </p:cNvPr>
          <p:cNvSpPr/>
          <p:nvPr/>
        </p:nvSpPr>
        <p:spPr>
          <a:xfrm>
            <a:off x="6321424" y="1447800"/>
            <a:ext cx="5486559" cy="388620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233876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Bend waveguide radius vs. loss – deep</a:t>
            </a:r>
            <a:br>
              <a:rPr lang="en-US" sz="2500" dirty="0"/>
            </a:br>
            <a:r>
              <a:rPr lang="en-US" b="0" dirty="0"/>
              <a:t>Find  neff_TE0 for </a:t>
            </a:r>
            <a:r>
              <a:rPr lang="en-US" b="0" dirty="0" err="1"/>
              <a:t>wvl</a:t>
            </a:r>
            <a:r>
              <a:rPr lang="en-US" b="0" dirty="0"/>
              <a:t> 1.55 µm, width 1.0 µm for R=25,50,75,100, 125,150 µm</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which is the safe radius, consider safe means less than 0.1 dB/90º.</a:t>
            </a:r>
          </a:p>
          <a:p>
            <a:pPr algn="just"/>
            <a:endParaRPr lang="en-U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409FBBBB-69CA-B7E5-7176-8227F2788CF5}"/>
                  </a:ext>
                </a:extLst>
              </p:cNvPr>
              <p:cNvSpPr txBox="1"/>
              <p:nvPr/>
            </p:nvSpPr>
            <p:spPr>
              <a:xfrm>
                <a:off x="9941529" y="4179383"/>
                <a:ext cx="1856534" cy="439608"/>
              </a:xfrm>
              <a:prstGeom prst="rect">
                <a:avLst/>
              </a:prstGeom>
              <a:noFill/>
            </p:spPr>
            <p:txBody>
              <a:bodyPr wrap="none" lIns="0" tIns="0" rIns="0" bIns="0" rtlCol="0">
                <a:spAutoFit/>
              </a:bodyPr>
              <a:lstStyle/>
              <a:p>
                <a14:m>
                  <m:oMath xmlns:m="http://schemas.openxmlformats.org/officeDocument/2006/math">
                    <m:r>
                      <a:rPr lang="es-ES" sz="1800" b="0" i="1" smtClean="0">
                        <a:latin typeface="Cambria Math" panose="02040503050406030204" pitchFamily="18" charset="0"/>
                      </a:rPr>
                      <m:t>𝛼</m:t>
                    </m:r>
                    <m:d>
                      <m:dPr>
                        <m:begChr m:val="["/>
                        <m:endChr m:val="]"/>
                        <m:ctrlPr>
                          <a:rPr lang="es-ES" sz="1800" b="0" i="1" smtClean="0">
                            <a:latin typeface="Cambria Math" panose="02040503050406030204" pitchFamily="18" charset="0"/>
                          </a:rPr>
                        </m:ctrlPr>
                      </m:dPr>
                      <m:e>
                        <m:f>
                          <m:fPr>
                            <m:ctrlPr>
                              <a:rPr lang="es-ES" sz="1800" b="0" i="1" smtClean="0">
                                <a:latin typeface="Cambria Math" panose="02040503050406030204" pitchFamily="18" charset="0"/>
                              </a:rPr>
                            </m:ctrlPr>
                          </m:fPr>
                          <m:num>
                            <m:r>
                              <a:rPr lang="es-ES" sz="1800" b="0" i="1" smtClean="0">
                                <a:latin typeface="Cambria Math" panose="02040503050406030204" pitchFamily="18" charset="0"/>
                              </a:rPr>
                              <m:t>𝑑𝐵</m:t>
                            </m:r>
                          </m:num>
                          <m:den>
                            <m:r>
                              <a:rPr lang="es-ES" sz="1800" b="0" i="1" smtClean="0">
                                <a:latin typeface="Cambria Math" panose="02040503050406030204" pitchFamily="18" charset="0"/>
                              </a:rPr>
                              <m:t>90</m:t>
                            </m:r>
                            <m:r>
                              <a:rPr lang="es-ES" sz="1800" b="0" i="1" smtClean="0">
                                <a:latin typeface="Cambria Math" panose="02040503050406030204" pitchFamily="18" charset="0"/>
                                <a:ea typeface="Cambria Math" panose="02040503050406030204" pitchFamily="18" charset="0"/>
                              </a:rPr>
                              <m:t>°</m:t>
                            </m:r>
                          </m:den>
                        </m:f>
                      </m:e>
                    </m:d>
                    <m:r>
                      <a:rPr lang="es-ES" sz="1800" b="0" i="1" smtClean="0">
                        <a:latin typeface="Cambria Math" panose="02040503050406030204" pitchFamily="18" charset="0"/>
                      </a:rPr>
                      <m:t>=</m:t>
                    </m:r>
                  </m:oMath>
                </a14:m>
                <a:r>
                  <a:rPr lang="es-ES" sz="1800" dirty="0"/>
                  <a:t> </a:t>
                </a:r>
                <a14:m>
                  <m:oMath xmlns:m="http://schemas.openxmlformats.org/officeDocument/2006/math">
                    <m:r>
                      <m:rPr>
                        <m:sty m:val="p"/>
                      </m:rPr>
                      <a:rPr lang="es-ES" sz="1800" b="0" i="0" smtClean="0">
                        <a:latin typeface="Cambria Math" panose="02040503050406030204" pitchFamily="18" charset="0"/>
                      </a:rPr>
                      <m:t>R</m:t>
                    </m:r>
                    <m:f>
                      <m:fPr>
                        <m:ctrlPr>
                          <a:rPr lang="es-ES" sz="1800" b="0" i="1" smtClean="0">
                            <a:latin typeface="Cambria Math" panose="02040503050406030204" pitchFamily="18" charset="0"/>
                          </a:rPr>
                        </m:ctrlPr>
                      </m:fPr>
                      <m:num>
                        <m:r>
                          <a:rPr lang="es-ES" sz="1800" b="0" i="1" smtClean="0">
                            <a:latin typeface="Cambria Math" panose="02040503050406030204" pitchFamily="18" charset="0"/>
                          </a:rPr>
                          <m:t>𝜋</m:t>
                        </m:r>
                      </m:num>
                      <m:den>
                        <m:r>
                          <a:rPr lang="es-ES" sz="1800" b="0" i="1" smtClean="0">
                            <a:latin typeface="Cambria Math" panose="02040503050406030204" pitchFamily="18" charset="0"/>
                          </a:rPr>
                          <m:t>2</m:t>
                        </m:r>
                      </m:den>
                    </m:f>
                    <m:r>
                      <a:rPr lang="es-ES" sz="1800" i="1">
                        <a:latin typeface="Cambria Math" panose="02040503050406030204" pitchFamily="18" charset="0"/>
                      </a:rPr>
                      <m:t>𝛼</m:t>
                    </m:r>
                    <m:d>
                      <m:dPr>
                        <m:begChr m:val="["/>
                        <m:endChr m:val="]"/>
                        <m:ctrlPr>
                          <a:rPr lang="es-ES" sz="1800" i="1">
                            <a:latin typeface="Cambria Math" panose="02040503050406030204" pitchFamily="18" charset="0"/>
                          </a:rPr>
                        </m:ctrlPr>
                      </m:dPr>
                      <m:e>
                        <m:f>
                          <m:fPr>
                            <m:ctrlPr>
                              <a:rPr lang="es-ES" sz="1800" i="1">
                                <a:latin typeface="Cambria Math" panose="02040503050406030204" pitchFamily="18" charset="0"/>
                              </a:rPr>
                            </m:ctrlPr>
                          </m:fPr>
                          <m:num>
                            <m:r>
                              <a:rPr lang="es-ES" sz="1800" i="1">
                                <a:latin typeface="Cambria Math" panose="02040503050406030204" pitchFamily="18" charset="0"/>
                              </a:rPr>
                              <m:t>𝑑𝐵</m:t>
                            </m:r>
                          </m:num>
                          <m:den>
                            <m:r>
                              <a:rPr lang="es-ES" sz="1800" i="1">
                                <a:latin typeface="Cambria Math" panose="02040503050406030204" pitchFamily="18" charset="0"/>
                              </a:rPr>
                              <m:t>µ</m:t>
                            </m:r>
                            <m:r>
                              <a:rPr lang="es-ES" sz="1800" i="1">
                                <a:latin typeface="Cambria Math" panose="02040503050406030204" pitchFamily="18" charset="0"/>
                              </a:rPr>
                              <m:t>𝑚</m:t>
                            </m:r>
                          </m:den>
                        </m:f>
                      </m:e>
                    </m:d>
                  </m:oMath>
                </a14:m>
                <a:endParaRPr lang="en-US" sz="1800" dirty="0"/>
              </a:p>
            </p:txBody>
          </p:sp>
        </mc:Choice>
        <mc:Fallback xmlns="">
          <p:sp>
            <p:nvSpPr>
              <p:cNvPr id="6" name="CuadroTexto 5">
                <a:extLst>
                  <a:ext uri="{FF2B5EF4-FFF2-40B4-BE49-F238E27FC236}">
                    <a16:creationId xmlns:a16="http://schemas.microsoft.com/office/drawing/2014/main" id="{409FBBBB-69CA-B7E5-7176-8227F2788CF5}"/>
                  </a:ext>
                </a:extLst>
              </p:cNvPr>
              <p:cNvSpPr txBox="1">
                <a:spLocks noRot="1" noChangeAspect="1" noMove="1" noResize="1" noEditPoints="1" noAdjustHandles="1" noChangeArrowheads="1" noChangeShapeType="1" noTextEdit="1"/>
              </p:cNvSpPr>
              <p:nvPr/>
            </p:nvSpPr>
            <p:spPr>
              <a:xfrm>
                <a:off x="9941529" y="4179383"/>
                <a:ext cx="1856534" cy="439608"/>
              </a:xfrm>
              <a:prstGeom prst="rect">
                <a:avLst/>
              </a:prstGeom>
              <a:blipFill>
                <a:blip r:embed="rId5"/>
                <a:stretch>
                  <a:fillRect l="-3289" b="-13889"/>
                </a:stretch>
              </a:blipFill>
            </p:spPr>
            <p:txBody>
              <a:bodyPr/>
              <a:lstStyle/>
              <a:p>
                <a:r>
                  <a:rPr lang="es-ES">
                    <a:noFill/>
                  </a:rPr>
                  <a:t> </a:t>
                </a:r>
              </a:p>
            </p:txBody>
          </p:sp>
        </mc:Fallback>
      </mc:AlternateContent>
      <p:sp>
        <p:nvSpPr>
          <p:cNvPr id="7" name="Rectángulo 6">
            <a:extLst>
              <a:ext uri="{FF2B5EF4-FFF2-40B4-BE49-F238E27FC236}">
                <a16:creationId xmlns:a16="http://schemas.microsoft.com/office/drawing/2014/main" id="{B5FE8755-B0BF-14B7-64E6-4BBB2560B9A6}"/>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331EBD86-BA6C-68C9-2D38-FC8CFBA7ADC4}"/>
              </a:ext>
            </a:extLst>
          </p:cNvPr>
          <p:cNvSpPr txBox="1"/>
          <p:nvPr/>
        </p:nvSpPr>
        <p:spPr>
          <a:xfrm>
            <a:off x="2978141" y="2784355"/>
            <a:ext cx="6235717"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dB/90º neff_TE0 &amp; neff_TM0 vs R</a:t>
            </a:r>
          </a:p>
        </p:txBody>
      </p:sp>
    </p:spTree>
    <p:extLst>
      <p:ext uri="{BB962C8B-B14F-4D97-AF65-F5344CB8AC3E}">
        <p14:creationId xmlns:p14="http://schemas.microsoft.com/office/powerpoint/2010/main" val="36604382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B29FD2FF-21A0-0794-10A3-A2E2456C49FC}"/>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Slide Number Placeholder 4">
            <a:extLst>
              <a:ext uri="{FF2B5EF4-FFF2-40B4-BE49-F238E27FC236}">
                <a16:creationId xmlns:a16="http://schemas.microsoft.com/office/drawing/2014/main" id="{8E90FDAE-F86B-C2EB-5701-7575E72FDC11}"/>
              </a:ext>
            </a:extLst>
          </p:cNvPr>
          <p:cNvSpPr>
            <a:spLocks noGrp="1"/>
          </p:cNvSpPr>
          <p:nvPr>
            <p:ph type="sldNum" sz="quarter" idx="7"/>
          </p:nvPr>
        </p:nvSpPr>
        <p:spPr/>
        <p:txBody>
          <a:bodyPr/>
          <a:lstStyle/>
          <a:p>
            <a:fld id="{B6F15528-21DE-4FAA-801E-634DDDAF4B2B}" type="slidenum">
              <a:rPr lang="es-CO" smtClean="0"/>
              <a:t>9</a:t>
            </a:fld>
            <a:endParaRPr lang="es-CO"/>
          </a:p>
        </p:txBody>
      </p:sp>
      <p:sp>
        <p:nvSpPr>
          <p:cNvPr id="6" name="object 3">
            <a:extLst>
              <a:ext uri="{FF2B5EF4-FFF2-40B4-BE49-F238E27FC236}">
                <a16:creationId xmlns:a16="http://schemas.microsoft.com/office/drawing/2014/main" id="{DAE5BB78-9D88-4FD5-45EA-A86D69257267}"/>
              </a:ext>
            </a:extLst>
          </p:cNvPr>
          <p:cNvSpPr txBox="1"/>
          <p:nvPr/>
        </p:nvSpPr>
        <p:spPr>
          <a:xfrm>
            <a:off x="5372100" y="2743200"/>
            <a:ext cx="1447800" cy="513715"/>
          </a:xfrm>
          <a:prstGeom prst="rect">
            <a:avLst/>
          </a:prstGeom>
        </p:spPr>
        <p:txBody>
          <a:bodyPr vert="horz" wrap="square" lIns="0" tIns="12700" rIns="0" bIns="0" rtlCol="0">
            <a:spAutoFit/>
          </a:bodyPr>
          <a:lstStyle/>
          <a:p>
            <a:pPr marL="12700" algn="ctr">
              <a:lnSpc>
                <a:spcPct val="100000"/>
              </a:lnSpc>
              <a:spcBef>
                <a:spcPts val="100"/>
              </a:spcBef>
            </a:pPr>
            <a:r>
              <a:rPr lang="es-ES" sz="3200" b="1" dirty="0">
                <a:latin typeface="Lucida Sans"/>
                <a:cs typeface="Lucida Sans"/>
              </a:rPr>
              <a:t>Extras</a:t>
            </a:r>
            <a:endParaRPr sz="3200" dirty="0">
              <a:latin typeface="Lucida Sans"/>
              <a:cs typeface="Lucida Sans"/>
            </a:endParaRPr>
          </a:p>
        </p:txBody>
      </p:sp>
    </p:spTree>
    <p:extLst>
      <p:ext uri="{BB962C8B-B14F-4D97-AF65-F5344CB8AC3E}">
        <p14:creationId xmlns:p14="http://schemas.microsoft.com/office/powerpoint/2010/main" val="9057258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3C3E0-CAD1-131E-0737-1520FF60D6B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7DBF6FD-DC4F-75C4-3B08-9D173C2837DF}"/>
              </a:ext>
            </a:extLst>
          </p:cNvPr>
          <p:cNvSpPr txBox="1">
            <a:spLocks noGrp="1"/>
          </p:cNvSpPr>
          <p:nvPr>
            <p:ph type="title"/>
          </p:nvPr>
        </p:nvSpPr>
        <p:spPr>
          <a:xfrm>
            <a:off x="685800" y="228600"/>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Convergence tests</a:t>
            </a:r>
            <a:br>
              <a:rPr lang="en-US" sz="2500" dirty="0"/>
            </a:br>
            <a:r>
              <a:rPr lang="nl-NL" b="0" dirty="0"/>
              <a:t>DE waveguide, w = 0.5 µm, neff_TE0, wvl 1.55 µm. </a:t>
            </a:r>
            <a:endParaRPr sz="2500" b="0" dirty="0">
              <a:latin typeface="+mj-lt"/>
              <a:cs typeface="Lucida Sans"/>
            </a:endParaRPr>
          </a:p>
        </p:txBody>
      </p:sp>
      <p:pic>
        <p:nvPicPr>
          <p:cNvPr id="83" name="Gráfico 82">
            <a:extLst>
              <a:ext uri="{FF2B5EF4-FFF2-40B4-BE49-F238E27FC236}">
                <a16:creationId xmlns:a16="http://schemas.microsoft.com/office/drawing/2014/main" id="{EA44E7AE-DDEB-8AB7-22B4-6377EDD020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947DA0A-552A-A57F-3B30-BEC5AEA4AEB6}"/>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0EB8AECE-898D-724C-4EC8-9D4C9C8D892E}"/>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8" name="CuadroTexto 7">
            <a:extLst>
              <a:ext uri="{FF2B5EF4-FFF2-40B4-BE49-F238E27FC236}">
                <a16:creationId xmlns:a16="http://schemas.microsoft.com/office/drawing/2014/main" id="{808D4E70-0666-5046-7C69-E521529B5891}"/>
              </a:ext>
            </a:extLst>
          </p:cNvPr>
          <p:cNvSpPr txBox="1"/>
          <p:nvPr/>
        </p:nvSpPr>
        <p:spPr>
          <a:xfrm>
            <a:off x="1079403" y="2528813"/>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neff_TE0 vs </a:t>
            </a:r>
            <a:r>
              <a:rPr lang="en-US" dirty="0" err="1"/>
              <a:t>grid_resolution</a:t>
            </a:r>
            <a:r>
              <a:rPr lang="en-US" dirty="0"/>
              <a:t> plot here</a:t>
            </a:r>
          </a:p>
        </p:txBody>
      </p:sp>
      <mc:AlternateContent xmlns:mc="http://schemas.openxmlformats.org/markup-compatibility/2006">
        <mc:Choice xmlns:a14="http://schemas.microsoft.com/office/drawing/2010/main" Requires="a14">
          <p:sp>
            <p:nvSpPr>
              <p:cNvPr id="10" name="CuadroTexto 9">
                <a:extLst>
                  <a:ext uri="{FF2B5EF4-FFF2-40B4-BE49-F238E27FC236}">
                    <a16:creationId xmlns:a16="http://schemas.microsoft.com/office/drawing/2014/main" id="{4D35888E-3128-E6DD-BF91-8F58E33F7931}"/>
                  </a:ext>
                </a:extLst>
              </p:cNvPr>
              <p:cNvSpPr txBox="1"/>
              <p:nvPr/>
            </p:nvSpPr>
            <p:spPr>
              <a:xfrm>
                <a:off x="601313" y="4993620"/>
                <a:ext cx="11199971" cy="1407180"/>
              </a:xfrm>
              <a:prstGeom prst="rect">
                <a:avLst/>
              </a:prstGeom>
              <a:solidFill>
                <a:schemeClr val="bg1">
                  <a:lumMod val="95000"/>
                </a:schemeClr>
              </a:solidFill>
              <a:ln w="28575">
                <a:solidFill>
                  <a:srgbClr val="E0700D"/>
                </a:solidFill>
              </a:ln>
            </p:spPr>
            <p:txBody>
              <a:bodyPr wrap="square" rtlCol="0">
                <a:spAutoFit/>
              </a:bodyPr>
              <a:lstStyle/>
              <a:p>
                <a:pPr algn="just"/>
                <a:r>
                  <a:rPr lang="es-CO" sz="1200" dirty="0"/>
                  <a:t>The </a:t>
                </a:r>
                <a:r>
                  <a:rPr lang="es-CO" sz="1200" dirty="0" err="1"/>
                  <a:t>simulated</a:t>
                </a:r>
                <a:r>
                  <a:rPr lang="es-CO" sz="1200" dirty="0"/>
                  <a:t> </a:t>
                </a:r>
                <a:r>
                  <a:rPr lang="es-CO" sz="1200" dirty="0" err="1"/>
                  <a:t>waveguide</a:t>
                </a:r>
                <a:r>
                  <a:rPr lang="es-CO" sz="1200" dirty="0"/>
                  <a:t> </a:t>
                </a:r>
                <a:r>
                  <a:rPr lang="es-CO" sz="1200" dirty="0" err="1"/>
                  <a:t>is</a:t>
                </a:r>
                <a:r>
                  <a:rPr lang="es-CO" sz="1200" dirty="0"/>
                  <a:t> </a:t>
                </a:r>
                <a:r>
                  <a:rPr lang="es-CO" sz="1200" dirty="0" err="1"/>
                  <a:t>based</a:t>
                </a:r>
                <a:r>
                  <a:rPr lang="es-CO" sz="1200" dirty="0"/>
                  <a:t> </a:t>
                </a:r>
                <a:r>
                  <a:rPr lang="es-CO" sz="1200" dirty="0" err="1"/>
                  <a:t>on</a:t>
                </a:r>
                <a:r>
                  <a:rPr lang="es-CO" sz="1200" dirty="0"/>
                  <a:t> SOI (Silicon-</a:t>
                </a:r>
                <a:r>
                  <a:rPr lang="es-CO" sz="1200" dirty="0" err="1"/>
                  <a:t>on</a:t>
                </a:r>
                <a:r>
                  <a:rPr lang="es-CO" sz="1200" dirty="0"/>
                  <a:t>-</a:t>
                </a:r>
                <a:r>
                  <a:rPr lang="es-CO" sz="1200" dirty="0" err="1"/>
                  <a:t>Insulator</a:t>
                </a:r>
                <a:r>
                  <a:rPr lang="es-CO" sz="1200" dirty="0"/>
                  <a:t>) </a:t>
                </a:r>
                <a:r>
                  <a:rPr lang="es-CO" sz="1200" dirty="0" err="1"/>
                  <a:t>technology</a:t>
                </a:r>
                <a:r>
                  <a:rPr lang="es-CO" sz="1200" dirty="0"/>
                  <a:t>, </a:t>
                </a:r>
                <a:r>
                  <a:rPr lang="es-CO" sz="1200" dirty="0" err="1"/>
                  <a:t>with</a:t>
                </a:r>
                <a:r>
                  <a:rPr lang="es-CO" sz="1200" dirty="0"/>
                  <a:t> </a:t>
                </a:r>
                <a:r>
                  <a:rPr lang="es-CO" sz="1200" dirty="0" err="1"/>
                  <a:t>dimensions</a:t>
                </a:r>
                <a:r>
                  <a:rPr lang="es-CO" sz="1200" dirty="0"/>
                  <a:t> </a:t>
                </a:r>
                <a:r>
                  <a:rPr lang="es-CO" sz="1200" dirty="0" err="1"/>
                  <a:t>of</a:t>
                </a:r>
                <a:r>
                  <a:rPr lang="es-CO" sz="1200" dirty="0"/>
                  <a:t> 220 nm </a:t>
                </a:r>
                <a:r>
                  <a:rPr lang="es-CO" sz="1200" dirty="0" err="1"/>
                  <a:t>height</a:t>
                </a:r>
                <a:r>
                  <a:rPr lang="es-CO" sz="1200" dirty="0"/>
                  <a:t> and 500 nm </a:t>
                </a:r>
                <a:r>
                  <a:rPr lang="es-CO" sz="1200" dirty="0" err="1"/>
                  <a:t>width</a:t>
                </a:r>
                <a:r>
                  <a:rPr lang="es-CO" sz="1200" dirty="0"/>
                  <a:t>. </a:t>
                </a:r>
                <a:r>
                  <a:rPr lang="es-CO" sz="1200" dirty="0" err="1"/>
                  <a:t>By</a:t>
                </a:r>
                <a:r>
                  <a:rPr lang="es-CO" sz="1200" dirty="0"/>
                  <a:t> </a:t>
                </a:r>
                <a:r>
                  <a:rPr lang="es-CO" sz="1200" dirty="0" err="1"/>
                  <a:t>performing</a:t>
                </a:r>
                <a:r>
                  <a:rPr lang="es-CO" sz="1200" dirty="0"/>
                  <a:t> </a:t>
                </a:r>
                <a:r>
                  <a:rPr lang="es-CO" sz="1200" dirty="0" err="1"/>
                  <a:t>simulations</a:t>
                </a:r>
                <a:r>
                  <a:rPr lang="es-CO" sz="1200" dirty="0"/>
                  <a:t> </a:t>
                </a:r>
                <a:r>
                  <a:rPr lang="es-CO" sz="1200" dirty="0" err="1"/>
                  <a:t>with</a:t>
                </a:r>
                <a:r>
                  <a:rPr lang="es-CO" sz="1200" dirty="0"/>
                  <a:t> </a:t>
                </a:r>
                <a:r>
                  <a:rPr lang="es-CO" sz="1200" dirty="0" err="1"/>
                  <a:t>different</a:t>
                </a:r>
                <a:r>
                  <a:rPr lang="es-CO" sz="1200" dirty="0"/>
                  <a:t> </a:t>
                </a:r>
                <a:r>
                  <a:rPr lang="es-CO" sz="1200" dirty="0" err="1"/>
                  <a:t>grid</a:t>
                </a:r>
                <a:r>
                  <a:rPr lang="es-CO" sz="1200" dirty="0"/>
                  <a:t> </a:t>
                </a:r>
                <a:r>
                  <a:rPr lang="es-CO" sz="1200" dirty="0" err="1"/>
                  <a:t>resolutions</a:t>
                </a:r>
                <a:r>
                  <a:rPr lang="es-CO" sz="1200" dirty="0"/>
                  <a:t>, </a:t>
                </a:r>
                <a:r>
                  <a:rPr lang="es-CO" sz="1200" dirty="0" err="1"/>
                  <a:t>it</a:t>
                </a:r>
                <a:r>
                  <a:rPr lang="es-CO" sz="1200" dirty="0"/>
                  <a:t> </a:t>
                </a:r>
                <a:r>
                  <a:rPr lang="es-CO" sz="1200" dirty="0" err="1"/>
                  <a:t>is</a:t>
                </a:r>
                <a:r>
                  <a:rPr lang="es-CO" sz="1200" dirty="0"/>
                  <a:t> </a:t>
                </a:r>
                <a:r>
                  <a:rPr lang="es-CO" sz="1200" dirty="0" err="1"/>
                  <a:t>observed</a:t>
                </a:r>
                <a:r>
                  <a:rPr lang="es-CO" sz="1200" dirty="0"/>
                  <a:t> </a:t>
                </a:r>
                <a:r>
                  <a:rPr lang="es-CO" sz="1200" dirty="0" err="1"/>
                  <a:t>that</a:t>
                </a:r>
                <a:r>
                  <a:rPr lang="es-CO" sz="1200" dirty="0"/>
                  <a:t> </a:t>
                </a:r>
                <a:r>
                  <a:rPr lang="es-CO" sz="1200" dirty="0" err="1"/>
                  <a:t>the</a:t>
                </a:r>
                <a:r>
                  <a:rPr lang="es-CO" sz="1200" dirty="0"/>
                  <a:t> </a:t>
                </a:r>
                <a:r>
                  <a:rPr lang="es-CO" sz="1200" dirty="0" err="1"/>
                  <a:t>effective</a:t>
                </a:r>
                <a:r>
                  <a:rPr lang="es-CO" sz="1200" dirty="0"/>
                  <a:t> refractive </a:t>
                </a:r>
                <a:r>
                  <a:rPr lang="es-CO" sz="1200" dirty="0" err="1"/>
                  <a:t>index</a:t>
                </a:r>
                <a:r>
                  <a:rPr lang="es-CO" sz="1200" dirty="0"/>
                  <a:t> </a:t>
                </a:r>
                <a:r>
                  <a:rPr lang="es-CO" sz="1200" dirty="0" err="1"/>
                  <a:t>stabilizes</a:t>
                </a:r>
                <a:r>
                  <a:rPr lang="es-CO" sz="1200" dirty="0"/>
                  <a:t> </a:t>
                </a:r>
                <a:r>
                  <a:rPr lang="es-CO" sz="1200" dirty="0" err="1"/>
                  <a:t>around</a:t>
                </a:r>
                <a:r>
                  <a:rPr lang="es-CO" sz="1200" dirty="0"/>
                  <a:t> </a:t>
                </a:r>
                <a:r>
                  <a:rPr lang="es-CO" sz="1200" dirty="0" err="1"/>
                  <a:t>an</a:t>
                </a:r>
                <a:r>
                  <a:rPr lang="es-CO" sz="1200" dirty="0"/>
                  <a:t> </a:t>
                </a:r>
                <a:r>
                  <a:rPr lang="es-CO" sz="1200" dirty="0" err="1"/>
                  <a:t>average</a:t>
                </a:r>
                <a:r>
                  <a:rPr lang="es-CO" sz="1200" dirty="0"/>
                  <a:t> </a:t>
                </a:r>
                <a:r>
                  <a:rPr lang="es-CO" sz="1200" dirty="0" err="1"/>
                  <a:t>value</a:t>
                </a:r>
                <a:r>
                  <a:rPr lang="es-CO" sz="1200" dirty="0"/>
                  <a:t> </a:t>
                </a:r>
                <a:r>
                  <a:rPr lang="es-CO" sz="1200" dirty="0" err="1"/>
                  <a:t>of</a:t>
                </a:r>
                <a:r>
                  <a:rPr lang="es-CO" sz="1200" dirty="0"/>
                  <a:t> </a:t>
                </a:r>
                <a14:m>
                  <m:oMath xmlns:m="http://schemas.openxmlformats.org/officeDocument/2006/math">
                    <m:sSub>
                      <m:sSubPr>
                        <m:ctrlPr>
                          <a:rPr lang="ar-AE" sz="1200"/>
                        </m:ctrlPr>
                      </m:sSubPr>
                      <m:e>
                        <m:r>
                          <m:rPr>
                            <m:sty m:val="p"/>
                          </m:rPr>
                          <a:rPr lang="ar-AE" sz="1200" b="0" i="1"/>
                          <m:t>n</m:t>
                        </m:r>
                      </m:e>
                      <m:sub>
                        <m:r>
                          <m:rPr>
                            <m:nor/>
                          </m:rPr>
                          <a:rPr lang="es-CO" sz="1200"/>
                          <m:t>eff</m:t>
                        </m:r>
                      </m:sub>
                    </m:sSub>
                    <m:r>
                      <a:rPr lang="ar-AE" sz="1200" b="0"/>
                      <m:t>≈</m:t>
                    </m:r>
                    <m:r>
                      <a:rPr lang="ar-AE" sz="1200" b="0"/>
                      <m:t>2</m:t>
                    </m:r>
                    <m:r>
                      <a:rPr lang="ar-AE" sz="1200" b="0"/>
                      <m:t>.</m:t>
                    </m:r>
                    <m:r>
                      <a:rPr lang="ar-AE" sz="1200" b="0"/>
                      <m:t>44</m:t>
                    </m:r>
                    <m:r>
                      <a:rPr lang="es-MX" sz="1200" b="0" i="0" smtClean="0">
                        <a:latin typeface="Cambria Math" panose="02040503050406030204" pitchFamily="18" charset="0"/>
                      </a:rPr>
                      <m:t>3</m:t>
                    </m:r>
                  </m:oMath>
                </a14:m>
                <a:r>
                  <a:rPr lang="ar-AE" sz="1200" dirty="0"/>
                  <a:t>. </a:t>
                </a:r>
                <a:endParaRPr lang="es-MX" sz="1200" dirty="0"/>
              </a:p>
              <a:p>
                <a:pPr algn="just"/>
                <a:r>
                  <a:rPr lang="en-US" sz="1200" dirty="0"/>
                  <a:t>For the grid resolution parameter, a larger value subdivides the computational cell into smaller elements, which increases numerical accuracy but also raises the computational cost. Since the objective is to reduce the simulation time a grid resolution of 40 points per micron is selected.</a:t>
                </a:r>
              </a:p>
              <a:p>
                <a:pPr algn="just"/>
                <a:r>
                  <a:rPr lang="en-US" sz="1200" dirty="0"/>
                  <a:t>For the variation of </a:t>
                </a:r>
                <a:r>
                  <a:rPr lang="en-US" sz="1200" dirty="0" err="1"/>
                  <a:t>max_grid_scaling</a:t>
                </a:r>
                <a:r>
                  <a:rPr lang="en-US" sz="1200" dirty="0"/>
                  <a:t>, the grid resolution was fixed at 40, an average effective index of </a:t>
                </a:r>
                <a14:m>
                  <m:oMath xmlns:m="http://schemas.openxmlformats.org/officeDocument/2006/math">
                    <m:sSub>
                      <m:sSubPr>
                        <m:ctrlPr>
                          <a:rPr lang="es-CO" sz="1200"/>
                        </m:ctrlPr>
                      </m:sSubPr>
                      <m:e>
                        <m:r>
                          <a:rPr lang="es-CO" sz="1200"/>
                          <m:t>𝑛</m:t>
                        </m:r>
                      </m:e>
                      <m:sub>
                        <m:r>
                          <m:rPr>
                            <m:nor/>
                          </m:rPr>
                          <a:rPr lang="en-US" sz="1200"/>
                          <m:t>eff</m:t>
                        </m:r>
                      </m:sub>
                    </m:sSub>
                    <m:r>
                      <a:rPr lang="en-US" sz="1200"/>
                      <m:t>≈</m:t>
                    </m:r>
                  </m:oMath>
                </a14:m>
                <a:r>
                  <a:rPr lang="en-US" sz="1200" dirty="0"/>
                  <a:t>2.478 is obtained in the region where the response stabilizes. In this case, a smaller value of </a:t>
                </a:r>
                <a:r>
                  <a:rPr lang="en-US" sz="1200" dirty="0" err="1"/>
                  <a:t>max_grid_scaling</a:t>
                </a:r>
                <a:r>
                  <a:rPr lang="en-US" sz="1200" dirty="0"/>
                  <a:t> results in a finer mesh near material interfaces, improving accuracy but increasing the simulation time. To reduce the computational cost a value of 1.6 was selected.</a:t>
                </a:r>
                <a:endParaRPr lang="es-CO" sz="1200" dirty="0"/>
              </a:p>
            </p:txBody>
          </p:sp>
        </mc:Choice>
        <mc:Fallback>
          <p:sp>
            <p:nvSpPr>
              <p:cNvPr id="10" name="CuadroTexto 9">
                <a:extLst>
                  <a:ext uri="{FF2B5EF4-FFF2-40B4-BE49-F238E27FC236}">
                    <a16:creationId xmlns:a16="http://schemas.microsoft.com/office/drawing/2014/main" id="{4D35888E-3128-E6DD-BF91-8F58E33F7931}"/>
                  </a:ext>
                </a:extLst>
              </p:cNvPr>
              <p:cNvSpPr txBox="1">
                <a:spLocks noRot="1" noChangeAspect="1" noMove="1" noResize="1" noEditPoints="1" noAdjustHandles="1" noChangeArrowheads="1" noChangeShapeType="1" noTextEdit="1"/>
              </p:cNvSpPr>
              <p:nvPr/>
            </p:nvSpPr>
            <p:spPr>
              <a:xfrm>
                <a:off x="601313" y="4993620"/>
                <a:ext cx="11199971" cy="1407180"/>
              </a:xfrm>
              <a:prstGeom prst="rect">
                <a:avLst/>
              </a:prstGeom>
              <a:blipFill>
                <a:blip r:embed="rId5"/>
                <a:stretch>
                  <a:fillRect b="-1271"/>
                </a:stretch>
              </a:blipFill>
              <a:ln w="28575">
                <a:solidFill>
                  <a:srgbClr val="E0700D"/>
                </a:solidFill>
              </a:ln>
            </p:spPr>
            <p:txBody>
              <a:bodyPr/>
              <a:lstStyle/>
              <a:p>
                <a:r>
                  <a:rPr lang="es-CO">
                    <a:noFill/>
                  </a:rPr>
                  <a:t> </a:t>
                </a:r>
              </a:p>
            </p:txBody>
          </p:sp>
        </mc:Fallback>
      </mc:AlternateContent>
      <p:sp>
        <p:nvSpPr>
          <p:cNvPr id="4" name="CuadroTexto 3">
            <a:extLst>
              <a:ext uri="{FF2B5EF4-FFF2-40B4-BE49-F238E27FC236}">
                <a16:creationId xmlns:a16="http://schemas.microsoft.com/office/drawing/2014/main" id="{53C3C539-B749-A81F-D386-8E045E7BD068}"/>
              </a:ext>
            </a:extLst>
          </p:cNvPr>
          <p:cNvSpPr txBox="1"/>
          <p:nvPr/>
        </p:nvSpPr>
        <p:spPr>
          <a:xfrm>
            <a:off x="6792815" y="2518668"/>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neff_TE0 vs </a:t>
            </a:r>
            <a:r>
              <a:rPr lang="en-US" dirty="0" err="1"/>
              <a:t>max_grid_scaling</a:t>
            </a:r>
            <a:r>
              <a:rPr lang="en-US" dirty="0"/>
              <a:t> plot here</a:t>
            </a:r>
          </a:p>
        </p:txBody>
      </p:sp>
      <p:pic>
        <p:nvPicPr>
          <p:cNvPr id="7" name="Picture 6">
            <a:extLst>
              <a:ext uri="{FF2B5EF4-FFF2-40B4-BE49-F238E27FC236}">
                <a16:creationId xmlns:a16="http://schemas.microsoft.com/office/drawing/2014/main" id="{6F829E8C-7F1D-56E2-F252-36E6095521B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8094" y="933450"/>
            <a:ext cx="5349251" cy="4023368"/>
          </a:xfrm>
          <a:prstGeom prst="rect">
            <a:avLst/>
          </a:prstGeom>
        </p:spPr>
      </p:pic>
      <p:sp>
        <p:nvSpPr>
          <p:cNvPr id="6" name="Rectángulo 5">
            <a:extLst>
              <a:ext uri="{FF2B5EF4-FFF2-40B4-BE49-F238E27FC236}">
                <a16:creationId xmlns:a16="http://schemas.microsoft.com/office/drawing/2014/main" id="{1E35CD35-CE32-257D-C368-73A058347163}"/>
              </a:ext>
            </a:extLst>
          </p:cNvPr>
          <p:cNvSpPr/>
          <p:nvPr/>
        </p:nvSpPr>
        <p:spPr>
          <a:xfrm>
            <a:off x="601313" y="914400"/>
            <a:ext cx="5486559" cy="40370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D72D6E9D-FA1C-FD4D-4F2C-71286AF6DC0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324600" y="933450"/>
            <a:ext cx="5440691" cy="4023368"/>
          </a:xfrm>
          <a:prstGeom prst="rect">
            <a:avLst/>
          </a:prstGeom>
        </p:spPr>
      </p:pic>
      <p:sp>
        <p:nvSpPr>
          <p:cNvPr id="13" name="Rectángulo 5">
            <a:extLst>
              <a:ext uri="{FF2B5EF4-FFF2-40B4-BE49-F238E27FC236}">
                <a16:creationId xmlns:a16="http://schemas.microsoft.com/office/drawing/2014/main" id="{09D930E7-805D-1907-0781-EE088CE13B64}"/>
              </a:ext>
            </a:extLst>
          </p:cNvPr>
          <p:cNvSpPr/>
          <p:nvPr/>
        </p:nvSpPr>
        <p:spPr>
          <a:xfrm>
            <a:off x="6324441" y="915910"/>
            <a:ext cx="5486559" cy="40370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885154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ABAA4-6266-7FD4-6E85-790EBFC2F812}"/>
            </a:ext>
          </a:extLst>
        </p:cNvPr>
        <p:cNvGrpSpPr/>
        <p:nvPr/>
      </p:nvGrpSpPr>
      <p:grpSpPr>
        <a:xfrm>
          <a:off x="0" y="0"/>
          <a:ext cx="0" cy="0"/>
          <a:chOff x="0" y="0"/>
          <a:chExt cx="0" cy="0"/>
        </a:xfrm>
      </p:grpSpPr>
      <p:pic>
        <p:nvPicPr>
          <p:cNvPr id="83" name="Gráfico 82">
            <a:extLst>
              <a:ext uri="{FF2B5EF4-FFF2-40B4-BE49-F238E27FC236}">
                <a16:creationId xmlns:a16="http://schemas.microsoft.com/office/drawing/2014/main" id="{1135843E-1455-DF05-89A5-388958040F2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E48B71E-B9F5-67B0-1307-4D8FAA52C4D3}"/>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21E2304A-D8B2-C518-5A68-FDE3D8F9BC2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8" name="CuadroTexto 7">
            <a:extLst>
              <a:ext uri="{FF2B5EF4-FFF2-40B4-BE49-F238E27FC236}">
                <a16:creationId xmlns:a16="http://schemas.microsoft.com/office/drawing/2014/main" id="{9A8F0443-F878-E4CB-7E4C-58B83D20B4D5}"/>
              </a:ext>
            </a:extLst>
          </p:cNvPr>
          <p:cNvSpPr txBox="1"/>
          <p:nvPr/>
        </p:nvSpPr>
        <p:spPr>
          <a:xfrm>
            <a:off x="1079403" y="2528813"/>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neff_TE0 vs </a:t>
            </a:r>
            <a:r>
              <a:rPr lang="en-US" dirty="0" err="1"/>
              <a:t>grid_resolution</a:t>
            </a:r>
            <a:r>
              <a:rPr lang="en-US" dirty="0"/>
              <a:t> plot here</a:t>
            </a:r>
          </a:p>
        </p:txBody>
      </p:sp>
      <p:sp>
        <p:nvSpPr>
          <p:cNvPr id="10" name="CuadroTexto 9">
            <a:extLst>
              <a:ext uri="{FF2B5EF4-FFF2-40B4-BE49-F238E27FC236}">
                <a16:creationId xmlns:a16="http://schemas.microsoft.com/office/drawing/2014/main" id="{631DE65C-6ADA-3F08-4180-4FE9CA3737D9}"/>
              </a:ext>
            </a:extLst>
          </p:cNvPr>
          <p:cNvSpPr txBox="1"/>
          <p:nvPr/>
        </p:nvSpPr>
        <p:spPr>
          <a:xfrm>
            <a:off x="593693" y="5015552"/>
            <a:ext cx="11199971" cy="46166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t>The results show that increasing the waveguide width allows additional modes to propagate within the core. As previously observed for </a:t>
            </a:r>
            <a:r>
              <a:rPr lang="en-US" sz="1200" dirty="0" err="1"/>
              <a:t>Si₃N</a:t>
            </a:r>
            <a:r>
              <a:rPr lang="en-US" sz="1200" dirty="0"/>
              <a:t>₄ core waveguides, a thickness of 1.2 µm is sufficient to ensure single-mode operation. In contrast, for a silicon core waveguide with a width of 500 nm, the structure is close to the multimode regime</a:t>
            </a:r>
            <a:endParaRPr lang="es-CO" sz="1200" dirty="0"/>
          </a:p>
        </p:txBody>
      </p:sp>
      <p:sp>
        <p:nvSpPr>
          <p:cNvPr id="4" name="CuadroTexto 3">
            <a:extLst>
              <a:ext uri="{FF2B5EF4-FFF2-40B4-BE49-F238E27FC236}">
                <a16:creationId xmlns:a16="http://schemas.microsoft.com/office/drawing/2014/main" id="{51C49BC6-A573-8600-007C-34B54CD68F97}"/>
              </a:ext>
            </a:extLst>
          </p:cNvPr>
          <p:cNvSpPr txBox="1"/>
          <p:nvPr/>
        </p:nvSpPr>
        <p:spPr>
          <a:xfrm>
            <a:off x="6792815" y="2518668"/>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neff_TE0 vs </a:t>
            </a:r>
            <a:r>
              <a:rPr lang="en-US" dirty="0" err="1"/>
              <a:t>max_grid_scaling</a:t>
            </a:r>
            <a:r>
              <a:rPr lang="en-US" dirty="0"/>
              <a:t> plot here</a:t>
            </a:r>
          </a:p>
        </p:txBody>
      </p:sp>
      <p:sp>
        <p:nvSpPr>
          <p:cNvPr id="14" name="object 16">
            <a:extLst>
              <a:ext uri="{FF2B5EF4-FFF2-40B4-BE49-F238E27FC236}">
                <a16:creationId xmlns:a16="http://schemas.microsoft.com/office/drawing/2014/main" id="{5D5A02B1-B86F-BC07-895D-EC8A019DB1DA}"/>
              </a:ext>
            </a:extLst>
          </p:cNvPr>
          <p:cNvSpPr txBox="1">
            <a:spLocks/>
          </p:cNvSpPr>
          <p:nvPr/>
        </p:nvSpPr>
        <p:spPr>
          <a:xfrm>
            <a:off x="128832" y="30387"/>
            <a:ext cx="10994410" cy="705321"/>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#2 – Width dependence</a:t>
            </a:r>
            <a:br>
              <a:rPr lang="en-US" sz="2500" kern="0" spc="-5" dirty="0">
                <a:latin typeface="+mj-lt"/>
                <a:cs typeface="Lucida Sans"/>
              </a:rPr>
            </a:br>
            <a:r>
              <a:rPr lang="en-US" b="0" kern="0" dirty="0"/>
              <a:t>Width 0.6 - 1.6 µm (step 0.1 µm) Si core, Width 0.3 - 1.0 µm (step 0.1 µm) Si core – Wavelength 1.55 µm </a:t>
            </a:r>
            <a:endParaRPr lang="en-US" sz="2500" b="0" kern="0" dirty="0">
              <a:latin typeface="+mj-lt"/>
              <a:cs typeface="Lucida Sans"/>
            </a:endParaRPr>
          </a:p>
        </p:txBody>
      </p:sp>
      <p:pic>
        <p:nvPicPr>
          <p:cNvPr id="17" name="Picture 16">
            <a:extLst>
              <a:ext uri="{FF2B5EF4-FFF2-40B4-BE49-F238E27FC236}">
                <a16:creationId xmlns:a16="http://schemas.microsoft.com/office/drawing/2014/main" id="{1374FAC2-458E-C07A-077A-395769864C9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78094" y="949187"/>
            <a:ext cx="5349251" cy="4023368"/>
          </a:xfrm>
          <a:prstGeom prst="rect">
            <a:avLst/>
          </a:prstGeom>
        </p:spPr>
      </p:pic>
      <p:pic>
        <p:nvPicPr>
          <p:cNvPr id="19" name="Picture 18">
            <a:extLst>
              <a:ext uri="{FF2B5EF4-FFF2-40B4-BE49-F238E27FC236}">
                <a16:creationId xmlns:a16="http://schemas.microsoft.com/office/drawing/2014/main" id="{CCA9FA3A-CB99-DBAE-0518-860524C2F7D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384968" y="930437"/>
            <a:ext cx="5349251" cy="4023368"/>
          </a:xfrm>
          <a:prstGeom prst="rect">
            <a:avLst/>
          </a:prstGeom>
        </p:spPr>
      </p:pic>
      <p:sp>
        <p:nvSpPr>
          <p:cNvPr id="6" name="Rectángulo 5">
            <a:extLst>
              <a:ext uri="{FF2B5EF4-FFF2-40B4-BE49-F238E27FC236}">
                <a16:creationId xmlns:a16="http://schemas.microsoft.com/office/drawing/2014/main" id="{8FB56EBD-DF06-6E15-1F95-422244521D22}"/>
              </a:ext>
            </a:extLst>
          </p:cNvPr>
          <p:cNvSpPr/>
          <p:nvPr/>
        </p:nvSpPr>
        <p:spPr>
          <a:xfrm>
            <a:off x="601313" y="914400"/>
            <a:ext cx="5486559" cy="402336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ángulo 5">
            <a:extLst>
              <a:ext uri="{FF2B5EF4-FFF2-40B4-BE49-F238E27FC236}">
                <a16:creationId xmlns:a16="http://schemas.microsoft.com/office/drawing/2014/main" id="{B653B700-A7E8-5846-680D-2BD02352F046}"/>
              </a:ext>
            </a:extLst>
          </p:cNvPr>
          <p:cNvSpPr/>
          <p:nvPr/>
        </p:nvSpPr>
        <p:spPr>
          <a:xfrm>
            <a:off x="6307105" y="914400"/>
            <a:ext cx="5486559" cy="402336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DFBD88E-CE16-94A9-86A9-BE1BCC5C812B}"/>
              </a:ext>
            </a:extLst>
          </p:cNvPr>
          <p:cNvPicPr>
            <a:picLocks noChangeAspect="1"/>
          </p:cNvPicPr>
          <p:nvPr/>
        </p:nvPicPr>
        <p:blipFill>
          <a:blip r:embed="rId7"/>
          <a:stretch>
            <a:fillRect/>
          </a:stretch>
        </p:blipFill>
        <p:spPr>
          <a:xfrm>
            <a:off x="5768589" y="4082475"/>
            <a:ext cx="857800" cy="749732"/>
          </a:xfrm>
          <a:prstGeom prst="rect">
            <a:avLst/>
          </a:prstGeom>
        </p:spPr>
      </p:pic>
    </p:spTree>
    <p:extLst>
      <p:ext uri="{BB962C8B-B14F-4D97-AF65-F5344CB8AC3E}">
        <p14:creationId xmlns:p14="http://schemas.microsoft.com/office/powerpoint/2010/main" val="13791521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12</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1377</TotalTime>
  <Words>1089</Words>
  <Application>Microsoft Office PowerPoint</Application>
  <PresentationFormat>Widescreen</PresentationFormat>
  <Paragraphs>124</Paragraphs>
  <Slides>12</Slides>
  <Notes>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12</vt:i4>
      </vt:variant>
    </vt:vector>
  </HeadingPairs>
  <TitlesOfParts>
    <vt:vector size="20" baseType="lpstr">
      <vt:lpstr>Aptos</vt:lpstr>
      <vt:lpstr>Arial</vt:lpstr>
      <vt:lpstr>Calibri</vt:lpstr>
      <vt:lpstr>Cambria Math</vt:lpstr>
      <vt:lpstr>Lucida Sans</vt:lpstr>
      <vt:lpstr>Times New Roman</vt:lpstr>
      <vt:lpstr>Wingdings</vt:lpstr>
      <vt:lpstr>Office Theme</vt:lpstr>
      <vt:lpstr>PowerPoint Presentation</vt:lpstr>
      <vt:lpstr>Instructions General</vt:lpstr>
      <vt:lpstr>Learning outcome #1 – Convergence tests DE waveguide, w = 1.2 µm, neff_TE0, wvl 1.55 µm. </vt:lpstr>
      <vt:lpstr>Learning outcome #2 – Width dependence Width 0.6 - 1.6 µm (step 0.1 µm) – Wavelength 1.55 µm </vt:lpstr>
      <vt:lpstr>Learning outcome #3 – Waveguide compact model Let’s model the waveguide using a second order polynomial:  n_eff (λ)=n_1+n_2 (λ-λ_0 )+n_3 (λ-λ_0 )^2 </vt:lpstr>
      <vt:lpstr>Learning outcome #3 – Waveguide compact model Let’s model the waveguide using a second order polynomial:  n_eff (λ)=n_1+n_2 (λ-λ_0 )+n_3 (λ-λ_0 )^2 </vt:lpstr>
      <vt:lpstr>Learning outcome #3 – Waveguide compact model Let’s model the waveguide using a second order polynomial:  n_eff (λ)=n_1+n_2 (λ-λ_0 )+n_3 (λ-λ_0 )^2 </vt:lpstr>
      <vt:lpstr>Learning outcome #4 – Bend waveguide radius vs. loss – deep Find  neff_TE0 for wvl 1.55 µm, width 1.0 µm for R=25,50,75,100, 125,150 µm </vt:lpstr>
      <vt:lpstr>PowerPoint Presentation</vt:lpstr>
      <vt:lpstr>Learning outcome #1 – Convergence tests DE waveguide, w = 0.5 µm, neff_TE0, wvl 1.55 µm. </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Nicolas Ospina</cp:lastModifiedBy>
  <cp:revision>21</cp:revision>
  <dcterms:created xsi:type="dcterms:W3CDTF">2025-01-27T02:46:57Z</dcterms:created>
  <dcterms:modified xsi:type="dcterms:W3CDTF">2026-03-08T16:14:18Z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